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9E2C2"/>
          </a:solidFill>
          <a:ln w="12700">
            <a:solidFill>
              <a:srgbClr val="49E2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05  • 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computers to learn patterns from data — without programming every rule.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29800" y="65288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BA2"/>
                </a:solidFill>
              </a:rPr>
              <a:t>ML  /  INTRODUCTION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2176272"/>
            <a:ext cx="6473952" cy="3429000"/>
          </a:xfrm>
          <a:prstGeom prst="roundRect">
            <a:avLst>
              <a:gd name="adj" fmla="val 3200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560320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4144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200400" y="2560320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C9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6752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971032" y="2560320"/>
            <a:ext cx="868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3246120"/>
            <a:ext cx="5440680" cy="0"/>
          </a:xfrm>
          <a:prstGeom prst="line">
            <a:avLst/>
          </a:prstGeom>
          <a:noFill/>
          <a:ln w="25400">
            <a:solidFill>
              <a:srgbClr val="3447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5295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of patterns a model can learn: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995928"/>
            <a:ext cx="543153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Which emails look like spam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What a handwritten digit represents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How a house price relates to its features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33488" y="2176272"/>
            <a:ext cx="4169664" cy="3429000"/>
          </a:xfrm>
          <a:prstGeom prst="roundRect">
            <a:avLst>
              <a:gd name="adj" fmla="val 3200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2542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680960" y="3108960"/>
            <a:ext cx="33284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examples.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useful relationships.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predictions on new data.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9E2C2"/>
          </a:solidFill>
          <a:ln w="12700">
            <a:solidFill>
              <a:srgbClr val="49E2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05  • 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MAIN TYPES OF ML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difference is how much feedback the model receives while learning.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29800" y="65288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BA2"/>
                </a:solidFill>
              </a:rPr>
              <a:t>ML  /  INTRODUCTION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2267712"/>
            <a:ext cx="3602736" cy="3273552"/>
          </a:xfrm>
          <a:prstGeom prst="roundRect">
            <a:avLst>
              <a:gd name="adj" fmla="val 3352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5694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6968" y="30906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86968" y="370332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Labeled data: inputs with known answers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86968" y="4581144"/>
            <a:ext cx="2980944" cy="0"/>
          </a:xfrm>
          <a:prstGeom prst="line">
            <a:avLst/>
          </a:prstGeom>
          <a:noFill/>
          <a:ln w="12700">
            <a:solidFill>
              <a:srgbClr val="3646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477316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Spam detection · Price prediction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267712"/>
            <a:ext cx="3602736" cy="3273552"/>
          </a:xfrm>
          <a:prstGeom prst="roundRect">
            <a:avLst>
              <a:gd name="adj" fmla="val 3352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25694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C9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64024" y="30906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Unsupervised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764024" y="370332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Unlabeled data: discover hidden structure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64024" y="4581144"/>
            <a:ext cx="2980944" cy="0"/>
          </a:xfrm>
          <a:prstGeom prst="line">
            <a:avLst/>
          </a:prstGeom>
          <a:noFill/>
          <a:ln w="12700">
            <a:solidFill>
              <a:srgbClr val="3646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477316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C9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segments · Anomaly detection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57616" y="2267712"/>
            <a:ext cx="3602736" cy="3273552"/>
          </a:xfrm>
          <a:prstGeom prst="roundRect">
            <a:avLst>
              <a:gd name="adj" fmla="val 3352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25694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41080" y="30906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641080" y="370332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learns via actions and rewards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641080" y="4581144"/>
            <a:ext cx="2980944" cy="0"/>
          </a:xfrm>
          <a:prstGeom prst="line">
            <a:avLst/>
          </a:prstGeom>
          <a:noFill/>
          <a:ln w="12700">
            <a:solidFill>
              <a:srgbClr val="3646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77316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playing · Robotics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9E2C2"/>
          </a:solidFill>
          <a:ln w="12700">
            <a:solidFill>
              <a:srgbClr val="49E2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05  • 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MACHINE LEARNING PROJECT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workflow turns raw data into useful predictions.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29800" y="65288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BA2"/>
                </a:solidFill>
              </a:rPr>
              <a:t>ML  /  INTRODUCTION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532888"/>
            <a:ext cx="2103120" cy="2286000"/>
          </a:xfrm>
          <a:prstGeom prst="roundRect">
            <a:avLst>
              <a:gd name="adj" fmla="val 5217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2779776"/>
            <a:ext cx="758952" cy="758952"/>
          </a:xfrm>
          <a:prstGeom prst="ellipse">
            <a:avLst/>
          </a:prstGeom>
          <a:solidFill>
            <a:srgbClr val="1B2C41"/>
          </a:solidFill>
          <a:ln w="25400">
            <a:solidFill>
              <a:srgbClr val="49E2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9032" y="295351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3694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relevant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88336" y="33558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98648" y="2532888"/>
            <a:ext cx="2103120" cy="2286000"/>
          </a:xfrm>
          <a:prstGeom prst="roundRect">
            <a:avLst>
              <a:gd name="adj" fmla="val 5217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7872" y="2779776"/>
            <a:ext cx="758952" cy="758952"/>
          </a:xfrm>
          <a:prstGeom prst="ellipse">
            <a:avLst/>
          </a:prstGeom>
          <a:solidFill>
            <a:srgbClr val="1B2C41"/>
          </a:solidFill>
          <a:ln w="25400">
            <a:solidFill>
              <a:srgbClr val="AC9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295351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81528" y="3694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63240" y="416052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and transform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0056" y="33558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230368" y="2532888"/>
            <a:ext cx="2103120" cy="2286000"/>
          </a:xfrm>
          <a:prstGeom prst="roundRect">
            <a:avLst>
              <a:gd name="adj" fmla="val 5217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9592" y="2779776"/>
            <a:ext cx="758952" cy="758952"/>
          </a:xfrm>
          <a:prstGeom prst="ellipse">
            <a:avLst/>
          </a:prstGeom>
          <a:solidFill>
            <a:srgbClr val="1B2C41"/>
          </a:solidFill>
          <a:ln w="25400">
            <a:solidFill>
              <a:srgbClr val="49E2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62472" y="295351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13248" y="3694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416052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the algorithm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51776" y="33558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562088" y="2532888"/>
            <a:ext cx="2103120" cy="2286000"/>
          </a:xfrm>
          <a:prstGeom prst="roundRect">
            <a:avLst>
              <a:gd name="adj" fmla="val 5217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2779776"/>
            <a:ext cx="758952" cy="758952"/>
          </a:xfrm>
          <a:prstGeom prst="ellipse">
            <a:avLst/>
          </a:prstGeom>
          <a:solidFill>
            <a:srgbClr val="1B2C41"/>
          </a:solidFill>
          <a:ln w="25400">
            <a:solidFill>
              <a:srgbClr val="AC9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295351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44968" y="3694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26680" y="416052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on unseen data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83496" y="33558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893808" y="2532888"/>
            <a:ext cx="2103120" cy="2286000"/>
          </a:xfrm>
          <a:prstGeom prst="roundRect">
            <a:avLst>
              <a:gd name="adj" fmla="val 5217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43032" y="2779776"/>
            <a:ext cx="758952" cy="758952"/>
          </a:xfrm>
          <a:prstGeom prst="ellipse">
            <a:avLst/>
          </a:prstGeom>
          <a:solidFill>
            <a:srgbClr val="1B2C41"/>
          </a:solidFill>
          <a:ln w="25400">
            <a:solidFill>
              <a:srgbClr val="49E2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25912" y="295351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076688" y="3694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0" y="416052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and monitor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0120" y="5157216"/>
            <a:ext cx="10259568" cy="630936"/>
          </a:xfrm>
          <a:prstGeom prst="roundRect">
            <a:avLst>
              <a:gd name="adj" fmla="val 17391"/>
            </a:avLst>
          </a:prstGeom>
          <a:solidFill>
            <a:srgbClr val="14283A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61872" y="5321808"/>
            <a:ext cx="9674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separate training and test data to measure generalization.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9E2C2"/>
          </a:solidFill>
          <a:ln w="12700">
            <a:solidFill>
              <a:srgbClr val="49E2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05  • 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POPULAR ALGORITHMS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tools fit different kinds of problems.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29800" y="65288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BA2"/>
                </a:solidFill>
              </a:rPr>
              <a:t>ML  /  INTRODUCTION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2221992"/>
            <a:ext cx="10936224" cy="777240"/>
          </a:xfrm>
          <a:prstGeom prst="roundRect">
            <a:avLst>
              <a:gd name="adj" fmla="val 14118"/>
            </a:avLst>
          </a:prstGeom>
          <a:solidFill>
            <a:srgbClr val="172439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39572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28032" y="2395728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a number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39328" y="2395728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 prices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3172968"/>
            <a:ext cx="10936224" cy="777240"/>
          </a:xfrm>
          <a:prstGeom prst="roundRect">
            <a:avLst>
              <a:gd name="adj" fmla="val 14118"/>
            </a:avLst>
          </a:prstGeom>
          <a:solidFill>
            <a:srgbClr val="142033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46704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C9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/ Random Forest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28032" y="3346704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or predict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39328" y="3346704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detection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" y="4123944"/>
            <a:ext cx="10936224" cy="777240"/>
          </a:xfrm>
          <a:prstGeom prst="roundRect">
            <a:avLst>
              <a:gd name="adj" fmla="val 14118"/>
            </a:avLst>
          </a:prstGeom>
          <a:solidFill>
            <a:srgbClr val="172439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29768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28032" y="4297680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groups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429768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" y="5074920"/>
            <a:ext cx="10936224" cy="777240"/>
          </a:xfrm>
          <a:prstGeom prst="roundRect">
            <a:avLst>
              <a:gd name="adj" fmla="val 14118"/>
            </a:avLst>
          </a:prstGeom>
          <a:solidFill>
            <a:srgbClr val="142033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524865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C9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28032" y="5248656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complex patterns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39328" y="5248656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and language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6236208"/>
            <a:ext cx="10808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selection depends on the task, dataset size, interpretability and evaluation results.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9E2C2"/>
          </a:solidFill>
          <a:ln w="12700">
            <a:solidFill>
              <a:srgbClr val="49E2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05  • 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MACHINE LEARNING IS USED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powers products and decisions across industries.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29800" y="65288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BA2"/>
                </a:solidFill>
              </a:rPr>
              <a:t>ML  /  INTRODUCTION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9224" y="2157984"/>
            <a:ext cx="5468112" cy="1307592"/>
          </a:xfrm>
          <a:prstGeom prst="roundRect">
            <a:avLst>
              <a:gd name="adj" fmla="val 8392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2157984"/>
            <a:ext cx="82296" cy="1307592"/>
          </a:xfrm>
          <a:prstGeom prst="rect">
            <a:avLst/>
          </a:prstGeom>
          <a:solidFill>
            <a:srgbClr val="49E2C2"/>
          </a:solidFill>
          <a:ln w="12700">
            <a:solidFill>
              <a:srgbClr val="49E2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86584"/>
            <a:ext cx="4828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880360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Assisting diagnosis and risk prediction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9944" y="2157984"/>
            <a:ext cx="5468112" cy="1307592"/>
          </a:xfrm>
          <a:prstGeom prst="roundRect">
            <a:avLst>
              <a:gd name="adj" fmla="val 8392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9944" y="2157984"/>
            <a:ext cx="82296" cy="1307592"/>
          </a:xfrm>
          <a:prstGeom prst="rect">
            <a:avLst/>
          </a:prstGeom>
          <a:solidFill>
            <a:srgbClr val="AC9AFF"/>
          </a:solidFill>
          <a:ln w="12700">
            <a:solidFill>
              <a:srgbClr val="AC9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386584"/>
            <a:ext cx="4828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C9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20840" y="2880360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Detecting suspicious transactions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" y="3721608"/>
            <a:ext cx="5468112" cy="1307592"/>
          </a:xfrm>
          <a:prstGeom prst="roundRect">
            <a:avLst>
              <a:gd name="adj" fmla="val 8392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" y="3721608"/>
            <a:ext cx="82296" cy="13075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50208"/>
            <a:ext cx="4828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443984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recommendations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9944" y="3721608"/>
            <a:ext cx="5468112" cy="1307592"/>
          </a:xfrm>
          <a:prstGeom prst="roundRect">
            <a:avLst>
              <a:gd name="adj" fmla="val 8392"/>
            </a:avLst>
          </a:prstGeom>
          <a:solidFill>
            <a:srgbClr val="162236"/>
          </a:solidFill>
          <a:ln w="12700">
            <a:solidFill>
              <a:srgbClr val="273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9944" y="3721608"/>
            <a:ext cx="82296" cy="1307592"/>
          </a:xfrm>
          <a:prstGeom prst="rect">
            <a:avLst/>
          </a:prstGeom>
          <a:solidFill>
            <a:srgbClr val="FFBE79"/>
          </a:solidFill>
          <a:ln w="12700">
            <a:solidFill>
              <a:srgbClr val="FFB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50208"/>
            <a:ext cx="4828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B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20840" y="4443984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B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Predicting traffic and optimizing routes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760720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9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40280" y="5742432"/>
            <a:ext cx="9262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ML = quality data + suitable models + careful evaluation + responsible use.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— Quick Introduction</dc:title>
  <dc:subject>Introduction to Machine Learning</dc:subject>
  <dc:creator>OpenAI</dc:creator>
  <cp:lastModifiedBy>OpenAI</cp:lastModifiedBy>
  <cp:revision>1</cp:revision>
  <dcterms:created xsi:type="dcterms:W3CDTF">2026-10-10T15:37:14Z</dcterms:created>
  <dcterms:modified xsi:type="dcterms:W3CDTF">2026-10-10T15:37:14Z</dcterms:modified>
</cp:coreProperties>
</file>