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59" r:id="rId45"/>
    <p:sldId id="360" r:id="rId46"/>
    <p:sldId id="361" r:id="rId47"/>
    <p:sldId id="362" r:id="rId48"/>
    <p:sldId id="355" r:id="rId49"/>
    <p:sldId id="356" r:id="rId50"/>
    <p:sldId id="300" r:id="rId51"/>
    <p:sldId id="301" r:id="rId52"/>
    <p:sldId id="302" r:id="rId53"/>
    <p:sldId id="303" r:id="rId54"/>
    <p:sldId id="304" r:id="rId55"/>
    <p:sldId id="305" r:id="rId56"/>
    <p:sldId id="306" r:id="rId57"/>
    <p:sldId id="307" r:id="rId58"/>
    <p:sldId id="357" r:id="rId59"/>
    <p:sldId id="358"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63" r:id="rId105"/>
    <p:sldId id="364" r:id="rId106"/>
    <p:sldId id="365" r:id="rId107"/>
    <p:sldId id="352" r:id="rId108"/>
    <p:sldId id="366" r:id="rId109"/>
    <p:sldId id="367" r:id="rId110"/>
    <p:sldId id="368" r:id="rId111"/>
    <p:sldId id="353" r:id="rId112"/>
    <p:sldId id="369" r:id="rId113"/>
    <p:sldId id="354" r:id="rId114"/>
    <p:sldId id="370" r:id="rId115"/>
    <p:sldId id="371" r:id="rId1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773"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viewProps" Target="view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C5A74E-B190-42ED-9048-3445E74E4362}" type="datetimeFigureOut">
              <a:rPr lang="en-US" smtClean="0"/>
              <a:t>04-Aug-26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7AEC01-CEB4-4415-8E8A-B013C9631905}" type="slidenum">
              <a:rPr lang="en-US" smtClean="0"/>
              <a:t>‹#›</a:t>
            </a:fld>
            <a:endParaRPr lang="en-US"/>
          </a:p>
        </p:txBody>
      </p:sp>
    </p:spTree>
    <p:extLst>
      <p:ext uri="{BB962C8B-B14F-4D97-AF65-F5344CB8AC3E}">
        <p14:creationId xmlns:p14="http://schemas.microsoft.com/office/powerpoint/2010/main" val="40020362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p56: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35" name="Google Shape;535;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1648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57: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41" name="Google Shape;541;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65501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58: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47" name="Google Shape;547;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34491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58: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47" name="Google Shape;547;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2183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58: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47" name="Google Shape;547;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58113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61: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66" name="Google Shape;566;p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405068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59: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53" name="Google Shape;553;p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5089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62: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73" name="Google Shape;573;p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532414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63: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81" name="Google Shape;581;p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353296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64: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89" name="Google Shape;589;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9138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65: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97" name="Google Shape;597;p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9256426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3"/>
        <p:cNvGrpSpPr/>
        <p:nvPr/>
      </p:nvGrpSpPr>
      <p:grpSpPr>
        <a:xfrm>
          <a:off x="0" y="0"/>
          <a:ext cx="0" cy="0"/>
          <a:chOff x="0" y="0"/>
          <a:chExt cx="0" cy="0"/>
        </a:xfrm>
      </p:grpSpPr>
      <p:sp>
        <p:nvSpPr>
          <p:cNvPr id="604" name="Google Shape;604;p66: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05" name="Google Shape;605;p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77741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67: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13" name="Google Shape;613;p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562253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68: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21" name="Google Shape;621;p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889608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69: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29" name="Google Shape;629;p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3127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60: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559" name="Google Shape;559;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421188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p70: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37" name="Google Shape;637;p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6129936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p71: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44" name="Google Shape;644;p7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717407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72: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63" name="Google Shape;663;p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899831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73:notes"/>
          <p:cNvSpPr>
            <a:spLocks noGrp="1" noRot="1" noChangeAspect="1"/>
          </p:cNvSpPr>
          <p:nvPr>
            <p:ph type="sldImg" idx="2"/>
          </p:nvPr>
        </p:nvSpPr>
        <p:spPr>
          <a:xfrm>
            <a:off x="381000" y="695325"/>
            <a:ext cx="6096000" cy="34290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96" name="Google Shape;696;p7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00614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791BA172-6284-4057-934D-34ED8B8056C8}" type="slidenum">
              <a:rPr kumimoji="0" lang="en-US" alt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21</a:t>
            </a:fld>
            <a:endParaRPr kumimoji="0" lang="en-US"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64514" name="Rectangle 2"/>
          <p:cNvSpPr txBox="1">
            <a:spLocks noGrp="1" noRot="1" noChangeAspect="1" noChangeArrowheads="1" noTextEdit="1"/>
          </p:cNvSpPr>
          <p:nvPr>
            <p:ph type="sldImg"/>
          </p:nvPr>
        </p:nvSpPr>
        <p:spPr>
          <a:xfrm>
            <a:off x="615950" y="877888"/>
            <a:ext cx="5626100" cy="3165475"/>
          </a:xfrm>
          <a:ln/>
        </p:spPr>
      </p:sp>
      <p:sp>
        <p:nvSpPr>
          <p:cNvPr id="64515" name="Rectangle 3"/>
          <p:cNvSpPr txBox="1">
            <a:spLocks noGrp="1" noChangeArrowheads="1"/>
          </p:cNvSpPr>
          <p:nvPr>
            <p:ph type="body" idx="1"/>
          </p:nvPr>
        </p:nvSpPr>
        <p:spPr>
          <a:xfrm>
            <a:off x="1062038" y="4349750"/>
            <a:ext cx="4740275" cy="3514725"/>
          </a:xfrm>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a:p>
        </p:txBody>
      </p:sp>
    </p:spTree>
    <p:extLst>
      <p:ext uri="{BB962C8B-B14F-4D97-AF65-F5344CB8AC3E}">
        <p14:creationId xmlns:p14="http://schemas.microsoft.com/office/powerpoint/2010/main" val="25497511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728FFF76-EA92-47E3-BBDE-454D745A8EEC}" type="slidenum">
              <a:rPr kumimoji="0" lang="en-US" alt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22</a:t>
            </a:fld>
            <a:endParaRPr kumimoji="0" lang="en-US"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62466" name="Rectangle 2"/>
          <p:cNvSpPr>
            <a:spLocks noGrp="1" noRot="1" noChangeAspect="1" noChangeArrowheads="1" noTextEdit="1"/>
          </p:cNvSpPr>
          <p:nvPr>
            <p:ph type="sldImg"/>
          </p:nvPr>
        </p:nvSpPr>
        <p:spPr>
          <a:xfrm>
            <a:off x="381000" y="685800"/>
            <a:ext cx="6096000" cy="3429000"/>
          </a:xfrm>
          <a:ln/>
        </p:spPr>
      </p:sp>
      <p:sp>
        <p:nvSpPr>
          <p:cNvPr id="62467" name="Rectangle 3"/>
          <p:cNvSpPr>
            <a:spLocks noGrp="1" noChangeArrowheads="1"/>
          </p:cNvSpPr>
          <p:nvPr>
            <p:ph type="body" idx="1"/>
          </p:nvPr>
        </p:nvSpPr>
        <p:spPr>
          <a:xfrm>
            <a:off x="914400" y="4343400"/>
            <a:ext cx="5029200" cy="4114800"/>
          </a:xfrm>
        </p:spPr>
        <p:txBody>
          <a:bodyPr/>
          <a:lstStyle/>
          <a:p>
            <a:endParaRPr lang="en-US" altLang="en-US"/>
          </a:p>
        </p:txBody>
      </p:sp>
    </p:spTree>
    <p:extLst>
      <p:ext uri="{BB962C8B-B14F-4D97-AF65-F5344CB8AC3E}">
        <p14:creationId xmlns:p14="http://schemas.microsoft.com/office/powerpoint/2010/main" val="28411470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728FFF76-EA92-47E3-BBDE-454D745A8EEC}" type="slidenum">
              <a:rPr kumimoji="0" lang="en-US" alt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23</a:t>
            </a:fld>
            <a:endParaRPr kumimoji="0" lang="en-US"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62466" name="Rectangle 2"/>
          <p:cNvSpPr>
            <a:spLocks noGrp="1" noRot="1" noChangeAspect="1" noChangeArrowheads="1" noTextEdit="1"/>
          </p:cNvSpPr>
          <p:nvPr>
            <p:ph type="sldImg"/>
          </p:nvPr>
        </p:nvSpPr>
        <p:spPr>
          <a:xfrm>
            <a:off x="381000" y="685800"/>
            <a:ext cx="6096000" cy="3429000"/>
          </a:xfrm>
          <a:ln/>
        </p:spPr>
      </p:sp>
      <p:sp>
        <p:nvSpPr>
          <p:cNvPr id="62467" name="Rectangle 3"/>
          <p:cNvSpPr>
            <a:spLocks noGrp="1" noChangeArrowheads="1"/>
          </p:cNvSpPr>
          <p:nvPr>
            <p:ph type="body" idx="1"/>
          </p:nvPr>
        </p:nvSpPr>
        <p:spPr>
          <a:xfrm>
            <a:off x="914400" y="4343400"/>
            <a:ext cx="5029200" cy="4114800"/>
          </a:xfrm>
        </p:spPr>
        <p:txBody>
          <a:bodyPr/>
          <a:lstStyle/>
          <a:p>
            <a:endParaRPr lang="en-US" altLang="en-US"/>
          </a:p>
        </p:txBody>
      </p:sp>
    </p:spTree>
    <p:extLst>
      <p:ext uri="{BB962C8B-B14F-4D97-AF65-F5344CB8AC3E}">
        <p14:creationId xmlns:p14="http://schemas.microsoft.com/office/powerpoint/2010/main" val="20878223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728FFF76-EA92-47E3-BBDE-454D745A8EEC}" type="slidenum">
              <a:rPr kumimoji="0" lang="en-US" alt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24</a:t>
            </a:fld>
            <a:endParaRPr kumimoji="0" lang="en-US"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62466" name="Rectangle 2"/>
          <p:cNvSpPr>
            <a:spLocks noGrp="1" noRot="1" noChangeAspect="1" noChangeArrowheads="1" noTextEdit="1"/>
          </p:cNvSpPr>
          <p:nvPr>
            <p:ph type="sldImg"/>
          </p:nvPr>
        </p:nvSpPr>
        <p:spPr>
          <a:xfrm>
            <a:off x="381000" y="685800"/>
            <a:ext cx="6096000" cy="3429000"/>
          </a:xfrm>
          <a:ln/>
        </p:spPr>
      </p:sp>
      <p:sp>
        <p:nvSpPr>
          <p:cNvPr id="62467" name="Rectangle 3"/>
          <p:cNvSpPr>
            <a:spLocks noGrp="1" noChangeArrowheads="1"/>
          </p:cNvSpPr>
          <p:nvPr>
            <p:ph type="body" idx="1"/>
          </p:nvPr>
        </p:nvSpPr>
        <p:spPr>
          <a:xfrm>
            <a:off x="914400" y="4343400"/>
            <a:ext cx="5029200" cy="4114800"/>
          </a:xfrm>
        </p:spPr>
        <p:txBody>
          <a:bodyPr/>
          <a:lstStyle/>
          <a:p>
            <a:endParaRPr lang="en-US" altLang="en-US"/>
          </a:p>
        </p:txBody>
      </p:sp>
    </p:spTree>
    <p:extLst>
      <p:ext uri="{BB962C8B-B14F-4D97-AF65-F5344CB8AC3E}">
        <p14:creationId xmlns:p14="http://schemas.microsoft.com/office/powerpoint/2010/main" val="27606798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fld id="{A7816063-3040-416F-B419-C258226875E7}" type="slidenum">
              <a:rPr kumimoji="0" lang="en-US" altLang="en-US" sz="1400" b="0" i="0" u="none" strike="noStrike" kern="0" cap="none" spc="0" normalizeH="0" baseline="0" noProof="0">
                <a:ln>
                  <a:noFill/>
                </a:ln>
                <a:solidFill>
                  <a:srgbClr val="000000"/>
                </a:solidFill>
                <a:effectLst/>
                <a:uLnTx/>
                <a:uFillTx/>
                <a:latin typeface="Arial"/>
                <a:cs typeface="Arial"/>
                <a:sym typeface="Arial"/>
              </a:rPr>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t>25</a:t>
            </a:fld>
            <a:endParaRPr kumimoji="0" lang="en-US" altLang="en-US" sz="1400" b="0" i="0" u="none" strike="noStrike" kern="0" cap="none" spc="0" normalizeH="0" baseline="0" noProof="0">
              <a:ln>
                <a:noFill/>
              </a:ln>
              <a:solidFill>
                <a:srgbClr val="000000"/>
              </a:solidFill>
              <a:effectLst/>
              <a:uLnTx/>
              <a:uFillTx/>
              <a:latin typeface="Arial"/>
              <a:cs typeface="Arial"/>
              <a:sym typeface="Arial"/>
            </a:endParaRPr>
          </a:p>
        </p:txBody>
      </p:sp>
      <p:sp>
        <p:nvSpPr>
          <p:cNvPr id="66562" name="Rectangle 2"/>
          <p:cNvSpPr txBox="1">
            <a:spLocks noGrp="1" noRot="1" noChangeAspect="1" noChangeArrowheads="1" noTextEdit="1"/>
          </p:cNvSpPr>
          <p:nvPr>
            <p:ph type="sldImg"/>
          </p:nvPr>
        </p:nvSpPr>
        <p:spPr>
          <a:xfrm>
            <a:off x="615950" y="877888"/>
            <a:ext cx="5626100" cy="3165475"/>
          </a:xfrm>
          <a:ln/>
        </p:spPr>
      </p:sp>
      <p:sp>
        <p:nvSpPr>
          <p:cNvPr id="66563" name="Rectangle 3"/>
          <p:cNvSpPr txBox="1">
            <a:spLocks noGrp="1" noChangeArrowheads="1"/>
          </p:cNvSpPr>
          <p:nvPr>
            <p:ph type="body" idx="1"/>
          </p:nvPr>
        </p:nvSpPr>
        <p:spPr>
          <a:xfrm>
            <a:off x="1062038" y="4349750"/>
            <a:ext cx="4740275" cy="3514725"/>
          </a:xfrm>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a:p>
        </p:txBody>
      </p:sp>
    </p:spTree>
    <p:extLst>
      <p:ext uri="{BB962C8B-B14F-4D97-AF65-F5344CB8AC3E}">
        <p14:creationId xmlns:p14="http://schemas.microsoft.com/office/powerpoint/2010/main" val="25664960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1"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189" indent="0" algn="ctr">
              <a:buNone/>
              <a:defRPr sz="2400"/>
            </a:lvl2pPr>
            <a:lvl3pPr marL="914377" indent="0" algn="ctr">
              <a:buNone/>
              <a:defRPr sz="2400"/>
            </a:lvl3pPr>
            <a:lvl4pPr marL="1371566" indent="0" algn="ctr">
              <a:buNone/>
              <a:defRPr sz="2000"/>
            </a:lvl4pPr>
            <a:lvl5pPr marL="1828754" indent="0" algn="ctr">
              <a:buNone/>
              <a:defRPr sz="2000"/>
            </a:lvl5pPr>
            <a:lvl6pPr marL="2285943" indent="0" algn="ctr">
              <a:buNone/>
              <a:defRPr sz="2000"/>
            </a:lvl6pPr>
            <a:lvl7pPr marL="2743131" indent="0" algn="ctr">
              <a:buNone/>
              <a:defRPr sz="2000"/>
            </a:lvl7pPr>
            <a:lvl8pPr marL="3200320" indent="0" algn="ctr">
              <a:buNone/>
              <a:defRPr sz="2000"/>
            </a:lvl8pPr>
            <a:lvl9pPr marL="3657509"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defTabSz="1219170">
              <a:buClr>
                <a:srgbClr val="000000"/>
              </a:buClr>
            </a:pPr>
            <a:fld id="{8179F6B2-416A-47E9-9560-0560A7F6461F}" type="datetime1">
              <a:rPr lang="en-US" kern="0" smtClean="0">
                <a:latin typeface="Arial"/>
                <a:cs typeface="Arial"/>
                <a:sym typeface="Arial"/>
              </a:rPr>
              <a:t>04-Aug-26</a:t>
            </a:fld>
            <a:endParaRPr lang="en-US" kern="0" dirty="0">
              <a:latin typeface="Arial"/>
              <a:cs typeface="Arial"/>
              <a:sym typeface="Arial"/>
            </a:endParaRPr>
          </a:p>
        </p:txBody>
      </p:sp>
      <p:sp>
        <p:nvSpPr>
          <p:cNvPr id="5" name="Footer Placeholder 4"/>
          <p:cNvSpPr>
            <a:spLocks noGrp="1"/>
          </p:cNvSpPr>
          <p:nvPr>
            <p:ph type="ftr" sz="quarter" idx="11"/>
          </p:nvPr>
        </p:nvSpPr>
        <p:spPr/>
        <p:txBody>
          <a:bodyPr/>
          <a:lstStyle/>
          <a:p>
            <a:pPr defTabSz="1219170">
              <a:buClr>
                <a:srgbClr val="000000"/>
              </a:buClr>
            </a:pPr>
            <a:r>
              <a:rPr lang="en-US" kern="0">
                <a:latin typeface="Arial"/>
                <a:cs typeface="Arial"/>
                <a:sym typeface="Arial"/>
              </a:rPr>
              <a:t>Dr KP Sharma, NIT Jalandhar</a:t>
            </a:r>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a:t>
            </a:fld>
            <a:endParaRPr lang="en-US" kern="0" dirty="0">
              <a:latin typeface="Arial"/>
              <a:cs typeface="Arial"/>
              <a:sym typeface="Arial"/>
            </a:endParaRPr>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61876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794773"/>
          </a:xfrm>
        </p:spPr>
        <p:txBody>
          <a:bodyPr/>
          <a:lstStyle/>
          <a:p>
            <a:r>
              <a:rPr lang="en-US" dirty="0"/>
              <a:t>Click to edit Master title style</a:t>
            </a:r>
          </a:p>
        </p:txBody>
      </p:sp>
      <p:sp>
        <p:nvSpPr>
          <p:cNvPr id="3" name="Content Placeholder 2"/>
          <p:cNvSpPr>
            <a:spLocks noGrp="1"/>
          </p:cNvSpPr>
          <p:nvPr>
            <p:ph idx="1"/>
          </p:nvPr>
        </p:nvSpPr>
        <p:spPr>
          <a:xfrm>
            <a:off x="1001865" y="2047168"/>
            <a:ext cx="1005840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defTabSz="1219170">
              <a:buClr>
                <a:srgbClr val="000000"/>
              </a:buClr>
            </a:pPr>
            <a:fld id="{ED2BA43E-C2D3-45F6-8EA4-498DC871DBD1}" type="datetime1">
              <a:rPr lang="en-US" kern="0" smtClean="0">
                <a:latin typeface="Arial"/>
                <a:cs typeface="Arial"/>
                <a:sym typeface="Arial"/>
              </a:rPr>
              <a:t>04-Aug-26</a:t>
            </a:fld>
            <a:endParaRPr lang="en-US" kern="0" dirty="0">
              <a:latin typeface="Arial"/>
              <a:cs typeface="Arial"/>
              <a:sym typeface="Arial"/>
            </a:endParaRPr>
          </a:p>
        </p:txBody>
      </p:sp>
      <p:sp>
        <p:nvSpPr>
          <p:cNvPr id="5" name="Footer Placeholder 4"/>
          <p:cNvSpPr>
            <a:spLocks noGrp="1"/>
          </p:cNvSpPr>
          <p:nvPr>
            <p:ph type="ftr" sz="quarter" idx="11"/>
          </p:nvPr>
        </p:nvSpPr>
        <p:spPr/>
        <p:txBody>
          <a:bodyPr/>
          <a:lstStyle/>
          <a:p>
            <a:pPr defTabSz="1219170">
              <a:buClr>
                <a:srgbClr val="000000"/>
              </a:buClr>
            </a:pPr>
            <a:r>
              <a:rPr lang="en-US" kern="0">
                <a:latin typeface="Arial"/>
                <a:cs typeface="Arial"/>
                <a:sym typeface="Arial"/>
              </a:rPr>
              <a:t>Dr KP Sharma, NIT Jalandhar</a:t>
            </a:r>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a:t>
            </a:fld>
            <a:endParaRPr lang="en-US" kern="0" dirty="0">
              <a:latin typeface="Arial"/>
              <a:cs typeface="Arial"/>
              <a:sym typeface="Arial"/>
            </a:endParaRPr>
          </a:p>
        </p:txBody>
      </p:sp>
    </p:spTree>
    <p:extLst>
      <p:ext uri="{BB962C8B-B14F-4D97-AF65-F5344CB8AC3E}">
        <p14:creationId xmlns:p14="http://schemas.microsoft.com/office/powerpoint/2010/main" val="3537418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defTabSz="1219170">
              <a:buClr>
                <a:srgbClr val="000000"/>
              </a:buClr>
            </a:pPr>
            <a:fld id="{CCB93396-DAB8-43BF-B781-5620C29FA59F}" type="datetime1">
              <a:rPr lang="en-US" kern="0" smtClean="0">
                <a:latin typeface="Arial"/>
                <a:cs typeface="Arial"/>
                <a:sym typeface="Arial"/>
              </a:rPr>
              <a:t>04-Aug-26</a:t>
            </a:fld>
            <a:endParaRPr lang="en-US" kern="0" dirty="0">
              <a:latin typeface="Arial"/>
              <a:cs typeface="Arial"/>
              <a:sym typeface="Arial"/>
            </a:endParaRPr>
          </a:p>
        </p:txBody>
      </p:sp>
      <p:sp>
        <p:nvSpPr>
          <p:cNvPr id="5" name="Footer Placeholder 4"/>
          <p:cNvSpPr>
            <a:spLocks noGrp="1"/>
          </p:cNvSpPr>
          <p:nvPr>
            <p:ph type="ftr" sz="quarter" idx="11"/>
          </p:nvPr>
        </p:nvSpPr>
        <p:spPr/>
        <p:txBody>
          <a:bodyPr/>
          <a:lstStyle/>
          <a:p>
            <a:pPr defTabSz="1219170">
              <a:buClr>
                <a:srgbClr val="000000"/>
              </a:buClr>
            </a:pPr>
            <a:r>
              <a:rPr lang="en-US" kern="0">
                <a:latin typeface="Arial"/>
                <a:cs typeface="Arial"/>
                <a:sym typeface="Arial"/>
              </a:rPr>
              <a:t>Dr KP Sharma, NIT Jalandhar</a:t>
            </a:r>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a:t>
            </a:fld>
            <a:endParaRPr lang="en-US" kern="0" dirty="0">
              <a:latin typeface="Arial"/>
              <a:cs typeface="Arial"/>
              <a:sym typeface="Arial"/>
            </a:endParaRPr>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0818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4"/>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defTabSz="1219170">
              <a:buClr>
                <a:srgbClr val="000000"/>
              </a:buClr>
            </a:pPr>
            <a:fld id="{BF26D091-FA41-4E53-93DE-453F35776011}" type="datetime1">
              <a:rPr lang="en-US" kern="0" smtClean="0">
                <a:latin typeface="Arial"/>
                <a:cs typeface="Arial"/>
                <a:sym typeface="Arial"/>
              </a:rPr>
              <a:t>04-Aug-26</a:t>
            </a:fld>
            <a:endParaRPr lang="en-US" kern="0" dirty="0">
              <a:latin typeface="Arial"/>
              <a:cs typeface="Arial"/>
              <a:sym typeface="Arial"/>
            </a:endParaRPr>
          </a:p>
        </p:txBody>
      </p:sp>
      <p:sp>
        <p:nvSpPr>
          <p:cNvPr id="6" name="Footer Placeholder 5"/>
          <p:cNvSpPr>
            <a:spLocks noGrp="1"/>
          </p:cNvSpPr>
          <p:nvPr>
            <p:ph type="ftr" sz="quarter" idx="11"/>
          </p:nvPr>
        </p:nvSpPr>
        <p:spPr/>
        <p:txBody>
          <a:bodyPr/>
          <a:lstStyle/>
          <a:p>
            <a:pPr defTabSz="1219170">
              <a:buClr>
                <a:srgbClr val="000000"/>
              </a:buClr>
            </a:pPr>
            <a:r>
              <a:rPr lang="en-US" kern="0">
                <a:latin typeface="Arial"/>
                <a:cs typeface="Arial"/>
                <a:sym typeface="Arial"/>
              </a:rPr>
              <a:t>Dr KP Sharma, NIT Jalandhar</a:t>
            </a:r>
            <a:endParaRPr lang="en-US" kern="0" dirty="0">
              <a:latin typeface="Arial"/>
              <a:cs typeface="Arial"/>
              <a:sym typeface="Arial"/>
            </a:endParaRPr>
          </a:p>
        </p:txBody>
      </p:sp>
      <p:sp>
        <p:nvSpPr>
          <p:cNvPr id="7" name="Slide Number Placeholder 6"/>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a:t>
            </a:fld>
            <a:endParaRPr lang="en-US" kern="0" dirty="0">
              <a:latin typeface="Arial"/>
              <a:cs typeface="Arial"/>
              <a:sym typeface="Arial"/>
            </a:endParaRPr>
          </a:p>
        </p:txBody>
      </p:sp>
    </p:spTree>
    <p:extLst>
      <p:ext uri="{BB962C8B-B14F-4D97-AF65-F5344CB8AC3E}">
        <p14:creationId xmlns:p14="http://schemas.microsoft.com/office/powerpoint/2010/main" val="41072218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65401"/>
            <a:ext cx="10058400" cy="879588"/>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3"/>
          </a:xfrm>
        </p:spPr>
        <p:txBody>
          <a:bodyPr lIns="91440" rIns="91440" anchor="ctr">
            <a:normAutofit/>
          </a:bodyPr>
          <a:lstStyle>
            <a:lvl1pPr marL="0" indent="0">
              <a:buNone/>
              <a:defRPr sz="2000" b="0" cap="all" baseline="0">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5"/>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3"/>
          </a:xfrm>
        </p:spPr>
        <p:txBody>
          <a:bodyPr lIns="91440" rIns="91440" anchor="ctr">
            <a:normAutofit/>
          </a:bodyPr>
          <a:lstStyle>
            <a:lvl1pPr marL="0" indent="0">
              <a:buNone/>
              <a:defRPr sz="2000" b="0" cap="all" baseline="0">
                <a:solidFill>
                  <a:schemeClr val="tx2"/>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5"/>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defTabSz="1219170">
              <a:buClr>
                <a:srgbClr val="000000"/>
              </a:buClr>
            </a:pPr>
            <a:fld id="{F6C7F2FA-BDD9-4A17-A22F-2F7773ACDC43}" type="datetime1">
              <a:rPr lang="en-US" kern="0" smtClean="0">
                <a:latin typeface="Arial"/>
                <a:cs typeface="Arial"/>
                <a:sym typeface="Arial"/>
              </a:rPr>
              <a:t>04-Aug-26</a:t>
            </a:fld>
            <a:endParaRPr lang="en-US" kern="0" dirty="0">
              <a:latin typeface="Arial"/>
              <a:cs typeface="Arial"/>
              <a:sym typeface="Arial"/>
            </a:endParaRPr>
          </a:p>
        </p:txBody>
      </p:sp>
      <p:sp>
        <p:nvSpPr>
          <p:cNvPr id="8" name="Footer Placeholder 7"/>
          <p:cNvSpPr>
            <a:spLocks noGrp="1"/>
          </p:cNvSpPr>
          <p:nvPr>
            <p:ph type="ftr" sz="quarter" idx="11"/>
          </p:nvPr>
        </p:nvSpPr>
        <p:spPr/>
        <p:txBody>
          <a:bodyPr/>
          <a:lstStyle/>
          <a:p>
            <a:pPr defTabSz="1219170">
              <a:buClr>
                <a:srgbClr val="000000"/>
              </a:buClr>
            </a:pPr>
            <a:r>
              <a:rPr lang="en-US" kern="0">
                <a:latin typeface="Arial"/>
                <a:cs typeface="Arial"/>
                <a:sym typeface="Arial"/>
              </a:rPr>
              <a:t>Dr KP Sharma, NIT Jalandhar</a:t>
            </a:r>
            <a:endParaRPr lang="en-US" kern="0" dirty="0">
              <a:latin typeface="Arial"/>
              <a:cs typeface="Arial"/>
              <a:sym typeface="Arial"/>
            </a:endParaRPr>
          </a:p>
        </p:txBody>
      </p:sp>
      <p:sp>
        <p:nvSpPr>
          <p:cNvPr id="9" name="Slide Number Placeholder 8"/>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a:t>
            </a:fld>
            <a:endParaRPr lang="en-US" kern="0" dirty="0">
              <a:latin typeface="Arial"/>
              <a:cs typeface="Arial"/>
              <a:sym typeface="Arial"/>
            </a:endParaRPr>
          </a:p>
        </p:txBody>
      </p:sp>
    </p:spTree>
    <p:extLst>
      <p:ext uri="{BB962C8B-B14F-4D97-AF65-F5344CB8AC3E}">
        <p14:creationId xmlns:p14="http://schemas.microsoft.com/office/powerpoint/2010/main" val="190121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5"/>
            <a:ext cx="10058400" cy="1028012"/>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pPr defTabSz="1219170">
              <a:buClr>
                <a:srgbClr val="000000"/>
              </a:buClr>
            </a:pPr>
            <a:fld id="{65AA1DFD-CEA9-4AFA-AD8B-8C0B8BB731C0}" type="datetime1">
              <a:rPr lang="en-US" kern="0" smtClean="0">
                <a:latin typeface="Arial"/>
                <a:cs typeface="Arial"/>
                <a:sym typeface="Arial"/>
              </a:rPr>
              <a:t>04-Aug-26</a:t>
            </a:fld>
            <a:endParaRPr lang="en-US" kern="0" dirty="0">
              <a:latin typeface="Arial"/>
              <a:cs typeface="Arial"/>
              <a:sym typeface="Arial"/>
            </a:endParaRPr>
          </a:p>
        </p:txBody>
      </p:sp>
      <p:sp>
        <p:nvSpPr>
          <p:cNvPr id="4" name="Footer Placeholder 3"/>
          <p:cNvSpPr>
            <a:spLocks noGrp="1"/>
          </p:cNvSpPr>
          <p:nvPr>
            <p:ph type="ftr" sz="quarter" idx="11"/>
          </p:nvPr>
        </p:nvSpPr>
        <p:spPr/>
        <p:txBody>
          <a:bodyPr/>
          <a:lstStyle/>
          <a:p>
            <a:pPr defTabSz="1219170">
              <a:buClr>
                <a:srgbClr val="000000"/>
              </a:buClr>
            </a:pPr>
            <a:r>
              <a:rPr lang="en-US" kern="0">
                <a:latin typeface="Arial"/>
                <a:cs typeface="Arial"/>
                <a:sym typeface="Arial"/>
              </a:rPr>
              <a:t>Dr KP Sharma, NIT Jalandhar</a:t>
            </a:r>
            <a:endParaRPr lang="en-US" kern="0" dirty="0">
              <a:latin typeface="Arial"/>
              <a:cs typeface="Arial"/>
              <a:sym typeface="Arial"/>
            </a:endParaRPr>
          </a:p>
        </p:txBody>
      </p:sp>
      <p:sp>
        <p:nvSpPr>
          <p:cNvPr id="5" name="Slide Number Placeholder 4"/>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a:t>
            </a:fld>
            <a:endParaRPr lang="en-US" kern="0" dirty="0">
              <a:latin typeface="Arial"/>
              <a:cs typeface="Arial"/>
              <a:sym typeface="Arial"/>
            </a:endParaRPr>
          </a:p>
        </p:txBody>
      </p:sp>
    </p:spTree>
    <p:extLst>
      <p:ext uri="{BB962C8B-B14F-4D97-AF65-F5344CB8AC3E}">
        <p14:creationId xmlns:p14="http://schemas.microsoft.com/office/powerpoint/2010/main" val="274307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defTabSz="1219170">
              <a:buClr>
                <a:srgbClr val="000000"/>
              </a:buClr>
            </a:pPr>
            <a:fld id="{A4659FB4-89D5-4F4F-B6A7-236BB63256FF}" type="datetime1">
              <a:rPr lang="en-US" kern="0" smtClean="0">
                <a:latin typeface="Arial"/>
                <a:cs typeface="Arial"/>
                <a:sym typeface="Arial"/>
              </a:rPr>
              <a:t>04-Aug-26</a:t>
            </a:fld>
            <a:endParaRPr lang="en-US" kern="0" dirty="0">
              <a:latin typeface="Arial"/>
              <a:cs typeface="Arial"/>
              <a:sym typeface="Aria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pPr defTabSz="1219170">
              <a:buClr>
                <a:srgbClr val="000000"/>
              </a:buClr>
            </a:pPr>
            <a:r>
              <a:rPr lang="en-US" kern="0">
                <a:latin typeface="Arial"/>
                <a:cs typeface="Arial"/>
                <a:sym typeface="Arial"/>
              </a:rPr>
              <a:t>Dr KP Sharma, NIT Jalandhar</a:t>
            </a:r>
            <a:endParaRPr lang="en-US" kern="0" dirty="0">
              <a:latin typeface="Arial"/>
              <a:cs typeface="Arial"/>
              <a:sym typeface="Arial"/>
            </a:endParaRPr>
          </a:p>
        </p:txBody>
      </p:sp>
      <p:sp>
        <p:nvSpPr>
          <p:cNvPr id="9" name="Slide Number Placeholder 8"/>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a:t>
            </a:fld>
            <a:endParaRPr lang="en-US" kern="0" dirty="0">
              <a:latin typeface="Arial"/>
              <a:cs typeface="Arial"/>
              <a:sym typeface="Arial"/>
            </a:endParaRPr>
          </a:p>
        </p:txBody>
      </p:sp>
    </p:spTree>
    <p:extLst>
      <p:ext uri="{BB962C8B-B14F-4D97-AF65-F5344CB8AC3E}">
        <p14:creationId xmlns:p14="http://schemas.microsoft.com/office/powerpoint/2010/main" val="3978878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8"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1"/>
            <a:ext cx="3200400" cy="3379124"/>
          </a:xfrm>
        </p:spPr>
        <p:txBody>
          <a:bodyPr lIns="91440" rIns="91440">
            <a:normAutofit/>
          </a:bodyPr>
          <a:lstStyle>
            <a:lvl1pPr marL="0" indent="0">
              <a:buNone/>
              <a:defRPr sz="1500">
                <a:solidFill>
                  <a:srgbClr val="FFFFFF"/>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Edit Master text styles</a:t>
            </a:r>
          </a:p>
        </p:txBody>
      </p:sp>
      <p:sp>
        <p:nvSpPr>
          <p:cNvPr id="5" name="Date Placeholder 4"/>
          <p:cNvSpPr>
            <a:spLocks noGrp="1"/>
          </p:cNvSpPr>
          <p:nvPr>
            <p:ph type="dt" sz="half" idx="10"/>
          </p:nvPr>
        </p:nvSpPr>
        <p:spPr>
          <a:xfrm>
            <a:off x="465513" y="6459786"/>
            <a:ext cx="2618511" cy="365125"/>
          </a:xfrm>
        </p:spPr>
        <p:txBody>
          <a:bodyPr/>
          <a:lstStyle>
            <a:lvl1pPr algn="l">
              <a:defRPr/>
            </a:lvl1pPr>
          </a:lstStyle>
          <a:p>
            <a:pPr defTabSz="1219170">
              <a:buClr>
                <a:srgbClr val="000000"/>
              </a:buClr>
            </a:pPr>
            <a:fld id="{329D95CA-FAEF-4123-9C5F-403E83BC1EC5}" type="datetime1">
              <a:rPr lang="en-US" kern="0" smtClean="0">
                <a:latin typeface="Arial"/>
                <a:cs typeface="Arial"/>
                <a:sym typeface="Arial"/>
              </a:rPr>
              <a:t>04-Aug-26</a:t>
            </a:fld>
            <a:endParaRPr lang="en-US" kern="0" dirty="0">
              <a:latin typeface="Arial"/>
              <a:cs typeface="Arial"/>
              <a:sym typeface="Arial"/>
            </a:endParaRPr>
          </a:p>
        </p:txBody>
      </p:sp>
      <p:sp>
        <p:nvSpPr>
          <p:cNvPr id="6" name="Footer Placeholder 5"/>
          <p:cNvSpPr>
            <a:spLocks noGrp="1"/>
          </p:cNvSpPr>
          <p:nvPr>
            <p:ph type="ftr" sz="quarter" idx="11"/>
          </p:nvPr>
        </p:nvSpPr>
        <p:spPr>
          <a:xfrm>
            <a:off x="4800600" y="6459786"/>
            <a:ext cx="4648200" cy="365125"/>
          </a:xfrm>
        </p:spPr>
        <p:txBody>
          <a:bodyPr/>
          <a:lstStyle>
            <a:lvl1pPr algn="l">
              <a:defRPr>
                <a:solidFill>
                  <a:schemeClr val="tx2"/>
                </a:solidFill>
              </a:defRPr>
            </a:lvl1pPr>
          </a:lstStyle>
          <a:p>
            <a:pPr defTabSz="1219170">
              <a:buClr>
                <a:srgbClr val="000000"/>
              </a:buClr>
            </a:pPr>
            <a:r>
              <a:rPr lang="en-US" kern="0">
                <a:solidFill>
                  <a:srgbClr val="455F51"/>
                </a:solidFill>
                <a:latin typeface="Arial"/>
                <a:cs typeface="Arial"/>
                <a:sym typeface="Arial"/>
              </a:rPr>
              <a:t>Dr KP Sharma, NIT Jalandhar</a:t>
            </a:r>
            <a:endParaRPr lang="en-US" kern="0" dirty="0">
              <a:solidFill>
                <a:srgbClr val="455F51"/>
              </a:solidFill>
              <a:latin typeface="Arial"/>
              <a:cs typeface="Arial"/>
              <a:sym typeface="Arial"/>
            </a:endParaRPr>
          </a:p>
        </p:txBody>
      </p:sp>
      <p:sp>
        <p:nvSpPr>
          <p:cNvPr id="7" name="Slide Number Placeholder 6"/>
          <p:cNvSpPr>
            <a:spLocks noGrp="1"/>
          </p:cNvSpPr>
          <p:nvPr>
            <p:ph type="sldNum" sz="quarter" idx="12"/>
          </p:nvPr>
        </p:nvSpPr>
        <p:spPr/>
        <p:txBody>
          <a:bodyPr/>
          <a:lstStyle>
            <a:lvl1pPr>
              <a:defRPr>
                <a:solidFill>
                  <a:schemeClr val="tx2"/>
                </a:solidFill>
              </a:defRPr>
            </a:lvl1pPr>
          </a:lstStyle>
          <a:p>
            <a:pPr defTabSz="1219170">
              <a:buClr>
                <a:srgbClr val="000000"/>
              </a:buClr>
            </a:pPr>
            <a:fld id="{4FAB73BC-B049-4115-A692-8D63A059BFB8}" type="slidenum">
              <a:rPr lang="en-US" kern="0" smtClean="0">
                <a:solidFill>
                  <a:srgbClr val="455F51"/>
                </a:solidFill>
                <a:latin typeface="Arial"/>
                <a:cs typeface="Arial"/>
                <a:sym typeface="Arial"/>
              </a:rPr>
              <a:pPr defTabSz="1219170">
                <a:buClr>
                  <a:srgbClr val="000000"/>
                </a:buClr>
              </a:pPr>
              <a:t>‹#›</a:t>
            </a:fld>
            <a:endParaRPr lang="en-US" kern="0" dirty="0">
              <a:solidFill>
                <a:srgbClr val="455F51"/>
              </a:solidFill>
              <a:latin typeface="Arial"/>
              <a:cs typeface="Arial"/>
              <a:sym typeface="Arial"/>
            </a:endParaRPr>
          </a:p>
        </p:txBody>
      </p:sp>
    </p:spTree>
    <p:extLst>
      <p:ext uri="{BB962C8B-B14F-4D97-AF65-F5344CB8AC3E}">
        <p14:creationId xmlns:p14="http://schemas.microsoft.com/office/powerpoint/2010/main" val="24016283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 y="1"/>
            <a:ext cx="12191985" cy="4915076"/>
          </a:xfrm>
          <a:solidFill>
            <a:schemeClr val="bg2">
              <a:lumMod val="90000"/>
            </a:schemeClr>
          </a:solidFill>
        </p:spPr>
        <p:txBody>
          <a:bodyPr lIns="457200" tIns="457200"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defTabSz="1219170">
              <a:buClr>
                <a:srgbClr val="000000"/>
              </a:buClr>
            </a:pPr>
            <a:fld id="{2789187C-6736-4E01-B7C8-00F60889C0F4}" type="datetime1">
              <a:rPr lang="en-US" kern="0" smtClean="0">
                <a:latin typeface="Arial"/>
                <a:cs typeface="Arial"/>
                <a:sym typeface="Arial"/>
              </a:rPr>
              <a:t>04-Aug-26</a:t>
            </a:fld>
            <a:endParaRPr lang="en-US" kern="0" dirty="0">
              <a:latin typeface="Arial"/>
              <a:cs typeface="Arial"/>
              <a:sym typeface="Arial"/>
            </a:endParaRPr>
          </a:p>
        </p:txBody>
      </p:sp>
      <p:sp>
        <p:nvSpPr>
          <p:cNvPr id="6" name="Footer Placeholder 5"/>
          <p:cNvSpPr>
            <a:spLocks noGrp="1"/>
          </p:cNvSpPr>
          <p:nvPr>
            <p:ph type="ftr" sz="quarter" idx="11"/>
          </p:nvPr>
        </p:nvSpPr>
        <p:spPr/>
        <p:txBody>
          <a:bodyPr/>
          <a:lstStyle/>
          <a:p>
            <a:pPr defTabSz="1219170">
              <a:buClr>
                <a:srgbClr val="000000"/>
              </a:buClr>
            </a:pPr>
            <a:r>
              <a:rPr lang="en-US" kern="0">
                <a:latin typeface="Arial"/>
                <a:cs typeface="Arial"/>
                <a:sym typeface="Arial"/>
              </a:rPr>
              <a:t>Dr KP Sharma, NIT Jalandhar</a:t>
            </a:r>
            <a:endParaRPr lang="en-US" kern="0" dirty="0">
              <a:latin typeface="Arial"/>
              <a:cs typeface="Arial"/>
              <a:sym typeface="Arial"/>
            </a:endParaRPr>
          </a:p>
        </p:txBody>
      </p:sp>
      <p:sp>
        <p:nvSpPr>
          <p:cNvPr id="7" name="Slide Number Placeholder 6"/>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a:t>
            </a:fld>
            <a:endParaRPr lang="en-US" kern="0" dirty="0">
              <a:latin typeface="Arial"/>
              <a:cs typeface="Arial"/>
              <a:sym typeface="Arial"/>
            </a:endParaRPr>
          </a:p>
        </p:txBody>
      </p:sp>
    </p:spTree>
    <p:extLst>
      <p:ext uri="{BB962C8B-B14F-4D97-AF65-F5344CB8AC3E}">
        <p14:creationId xmlns:p14="http://schemas.microsoft.com/office/powerpoint/2010/main" val="26877516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defTabSz="1219170">
              <a:buClr>
                <a:srgbClr val="000000"/>
              </a:buClr>
            </a:pPr>
            <a:fld id="{5DB63FFC-04ED-42C1-BF70-678B9ADF3166}" type="datetime1">
              <a:rPr lang="en-US" kern="0" smtClean="0">
                <a:latin typeface="Arial"/>
                <a:cs typeface="Arial"/>
                <a:sym typeface="Arial"/>
              </a:rPr>
              <a:t>04-Aug-26</a:t>
            </a:fld>
            <a:endParaRPr lang="en-US" kern="0" dirty="0">
              <a:latin typeface="Arial"/>
              <a:cs typeface="Arial"/>
              <a:sym typeface="Arial"/>
            </a:endParaRPr>
          </a:p>
        </p:txBody>
      </p:sp>
      <p:sp>
        <p:nvSpPr>
          <p:cNvPr id="5" name="Footer Placeholder 4"/>
          <p:cNvSpPr>
            <a:spLocks noGrp="1"/>
          </p:cNvSpPr>
          <p:nvPr>
            <p:ph type="ftr" sz="quarter" idx="11"/>
          </p:nvPr>
        </p:nvSpPr>
        <p:spPr/>
        <p:txBody>
          <a:bodyPr/>
          <a:lstStyle/>
          <a:p>
            <a:pPr defTabSz="1219170">
              <a:buClr>
                <a:srgbClr val="000000"/>
              </a:buClr>
            </a:pPr>
            <a:r>
              <a:rPr lang="en-US" kern="0">
                <a:latin typeface="Arial"/>
                <a:cs typeface="Arial"/>
                <a:sym typeface="Arial"/>
              </a:rPr>
              <a:t>Dr KP Sharma, NIT Jalandhar</a:t>
            </a:r>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a:t>
            </a:fld>
            <a:endParaRPr lang="en-US" kern="0" dirty="0">
              <a:latin typeface="Arial"/>
              <a:cs typeface="Arial"/>
              <a:sym typeface="Arial"/>
            </a:endParaRPr>
          </a:p>
        </p:txBody>
      </p:sp>
    </p:spTree>
    <p:extLst>
      <p:ext uri="{BB962C8B-B14F-4D97-AF65-F5344CB8AC3E}">
        <p14:creationId xmlns:p14="http://schemas.microsoft.com/office/powerpoint/2010/main" val="31180736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1" y="412301"/>
            <a:ext cx="2628900" cy="575989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12301"/>
            <a:ext cx="7734300" cy="5759899"/>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defTabSz="1219170">
              <a:buClr>
                <a:srgbClr val="000000"/>
              </a:buClr>
            </a:pPr>
            <a:fld id="{E205D7AB-33E9-4053-8FFA-877784F380F9}" type="datetime1">
              <a:rPr lang="en-US" kern="0" smtClean="0">
                <a:latin typeface="Arial"/>
                <a:cs typeface="Arial"/>
                <a:sym typeface="Arial"/>
              </a:rPr>
              <a:t>04-Aug-26</a:t>
            </a:fld>
            <a:endParaRPr lang="en-US" kern="0" dirty="0">
              <a:latin typeface="Arial"/>
              <a:cs typeface="Arial"/>
              <a:sym typeface="Arial"/>
            </a:endParaRPr>
          </a:p>
        </p:txBody>
      </p:sp>
      <p:sp>
        <p:nvSpPr>
          <p:cNvPr id="5" name="Footer Placeholder 4"/>
          <p:cNvSpPr>
            <a:spLocks noGrp="1"/>
          </p:cNvSpPr>
          <p:nvPr>
            <p:ph type="ftr" sz="quarter" idx="11"/>
          </p:nvPr>
        </p:nvSpPr>
        <p:spPr/>
        <p:txBody>
          <a:bodyPr/>
          <a:lstStyle/>
          <a:p>
            <a:pPr defTabSz="1219170">
              <a:buClr>
                <a:srgbClr val="000000"/>
              </a:buClr>
            </a:pPr>
            <a:r>
              <a:rPr lang="en-US" kern="0">
                <a:latin typeface="Arial"/>
                <a:cs typeface="Arial"/>
                <a:sym typeface="Arial"/>
              </a:rPr>
              <a:t>Dr KP Sharma, NIT Jalandhar</a:t>
            </a:r>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a:t>
            </a:fld>
            <a:endParaRPr lang="en-US" kern="0" dirty="0">
              <a:latin typeface="Arial"/>
              <a:cs typeface="Arial"/>
              <a:sym typeface="Arial"/>
            </a:endParaRPr>
          </a:p>
        </p:txBody>
      </p:sp>
    </p:spTree>
    <p:extLst>
      <p:ext uri="{BB962C8B-B14F-4D97-AF65-F5344CB8AC3E}">
        <p14:creationId xmlns:p14="http://schemas.microsoft.com/office/powerpoint/2010/main" val="1735832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6334317"/>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65400"/>
            <a:ext cx="10058400" cy="826579"/>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5"/>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2" y="6459786"/>
            <a:ext cx="2472271" cy="365125"/>
          </a:xfrm>
          <a:prstGeom prst="rect">
            <a:avLst/>
          </a:prstGeom>
        </p:spPr>
        <p:txBody>
          <a:bodyPr vert="horz" lIns="91440" tIns="45720" rIns="91440" bIns="45720" rtlCol="0" anchor="ctr"/>
          <a:lstStyle>
            <a:lvl1pPr algn="l">
              <a:defRPr sz="900">
                <a:solidFill>
                  <a:srgbClr val="FFFFFF"/>
                </a:solidFill>
              </a:defRPr>
            </a:lvl1pPr>
          </a:lstStyle>
          <a:p>
            <a:pPr defTabSz="1219170">
              <a:buClr>
                <a:srgbClr val="000000"/>
              </a:buClr>
            </a:pPr>
            <a:fld id="{20750A96-65A1-4DB4-8BC8-31D33E968514}" type="datetime1">
              <a:rPr lang="en-US" kern="0" smtClean="0">
                <a:latin typeface="Arial"/>
                <a:cs typeface="Arial"/>
                <a:sym typeface="Arial"/>
              </a:rPr>
              <a:t>04-Aug-26</a:t>
            </a:fld>
            <a:endParaRPr lang="en-US" kern="0" dirty="0">
              <a:latin typeface="Arial"/>
              <a:cs typeface="Arial"/>
              <a:sym typeface="Arial"/>
            </a:endParaRPr>
          </a:p>
        </p:txBody>
      </p:sp>
      <p:sp>
        <p:nvSpPr>
          <p:cNvPr id="5" name="Footer Placeholder 4"/>
          <p:cNvSpPr>
            <a:spLocks noGrp="1"/>
          </p:cNvSpPr>
          <p:nvPr>
            <p:ph type="ftr" sz="quarter" idx="3"/>
          </p:nvPr>
        </p:nvSpPr>
        <p:spPr>
          <a:xfrm>
            <a:off x="3686186" y="6459786"/>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pPr defTabSz="1219170">
              <a:buClr>
                <a:srgbClr val="000000"/>
              </a:buClr>
            </a:pPr>
            <a:r>
              <a:rPr lang="en-US" kern="0">
                <a:latin typeface="Arial"/>
                <a:cs typeface="Arial"/>
                <a:sym typeface="Arial"/>
              </a:rPr>
              <a:t>Dr KP Sharma, NIT Jalandhar</a:t>
            </a:r>
            <a:endParaRPr lang="en-US" kern="0" dirty="0">
              <a:latin typeface="Arial"/>
              <a:cs typeface="Arial"/>
              <a:sym typeface="Arial"/>
            </a:endParaRPr>
          </a:p>
        </p:txBody>
      </p:sp>
      <p:sp>
        <p:nvSpPr>
          <p:cNvPr id="6" name="Slide Number Placeholder 5"/>
          <p:cNvSpPr>
            <a:spLocks noGrp="1"/>
          </p:cNvSpPr>
          <p:nvPr>
            <p:ph type="sldNum" sz="quarter" idx="4"/>
          </p:nvPr>
        </p:nvSpPr>
        <p:spPr>
          <a:xfrm>
            <a:off x="9900460" y="6459786"/>
            <a:ext cx="1312025" cy="365125"/>
          </a:xfrm>
          <a:prstGeom prst="rect">
            <a:avLst/>
          </a:prstGeom>
        </p:spPr>
        <p:txBody>
          <a:bodyPr vert="horz" lIns="91440" tIns="45720" rIns="91440" bIns="45720" rtlCol="0" anchor="ctr"/>
          <a:lstStyle>
            <a:lvl1pPr algn="r">
              <a:defRPr sz="1051">
                <a:solidFill>
                  <a:srgbClr val="FFFFFF"/>
                </a:solidFill>
              </a:defRPr>
            </a:lvl1p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a:t>
            </a:fld>
            <a:endParaRPr lang="en-US" kern="0" dirty="0">
              <a:latin typeface="Arial"/>
              <a:cs typeface="Arial"/>
              <a:sym typeface="Arial"/>
            </a:endParaRPr>
          </a:p>
        </p:txBody>
      </p:sp>
      <p:cxnSp>
        <p:nvCxnSpPr>
          <p:cNvPr id="10" name="Straight Connector 9"/>
          <p:cNvCxnSpPr/>
          <p:nvPr/>
        </p:nvCxnSpPr>
        <p:spPr>
          <a:xfrm>
            <a:off x="1097280" y="133365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52864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l" defTabSz="914377" rtl="0" eaLnBrk="1" latinLnBrk="0" hangingPunct="1">
        <a:lnSpc>
          <a:spcPct val="85000"/>
        </a:lnSpc>
        <a:spcBef>
          <a:spcPct val="0"/>
        </a:spcBef>
        <a:buNone/>
        <a:defRPr sz="4800" kern="1200" spc="-51" baseline="0">
          <a:solidFill>
            <a:schemeClr val="tx1">
              <a:lumMod val="75000"/>
              <a:lumOff val="25000"/>
            </a:schemeClr>
          </a:solidFill>
          <a:latin typeface="+mj-lt"/>
          <a:ea typeface="+mj-ea"/>
          <a:cs typeface="+mj-cs"/>
        </a:defRPr>
      </a:lvl1pPr>
    </p:titleStyle>
    <p:bodyStyle>
      <a:lvl1pPr marL="91438" indent="-91438" algn="l" defTabSz="914377"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38" indent="-182875" algn="l" defTabSz="914377"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14" indent="-182875"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789" indent="-182875"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65" indent="-182875"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55.xml.rels><?xml version="1.0" encoding="UTF-8" standalone="yes"?>
<Relationships xmlns="http://schemas.openxmlformats.org/package/2006/relationships"><Relationship Id="rId8" Type="http://schemas.openxmlformats.org/officeDocument/2006/relationships/image" Target="../media/image39.jpe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_rels/slide5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73.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74.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image" Target="../media/image69.png"/><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7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7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7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80.xml.rels><?xml version="1.0" encoding="UTF-8" standalone="yes"?>
<Relationships xmlns="http://schemas.openxmlformats.org/package/2006/relationships"><Relationship Id="rId8" Type="http://schemas.openxmlformats.org/officeDocument/2006/relationships/image" Target="../media/image98.png"/><Relationship Id="rId3" Type="http://schemas.openxmlformats.org/officeDocument/2006/relationships/image" Target="../media/image93.png"/><Relationship Id="rId7" Type="http://schemas.openxmlformats.org/officeDocument/2006/relationships/image" Target="../media/image97.png"/><Relationship Id="rId2" Type="http://schemas.openxmlformats.org/officeDocument/2006/relationships/image" Target="../media/image92.png"/><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8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 Id="rId4" Type="http://schemas.openxmlformats.org/officeDocument/2006/relationships/image" Target="../media/image101.png"/></Relationships>
</file>

<file path=ppt/slides/_rels/slide82.xml.rels><?xml version="1.0" encoding="UTF-8" standalone="yes"?>
<Relationships xmlns="http://schemas.openxmlformats.org/package/2006/relationships"><Relationship Id="rId3" Type="http://schemas.openxmlformats.org/officeDocument/2006/relationships/image" Target="../media/image103.png"/><Relationship Id="rId7" Type="http://schemas.openxmlformats.org/officeDocument/2006/relationships/image" Target="../media/image106.png"/><Relationship Id="rId2" Type="http://schemas.openxmlformats.org/officeDocument/2006/relationships/image" Target="../media/image102.png"/><Relationship Id="rId1" Type="http://schemas.openxmlformats.org/officeDocument/2006/relationships/slideLayout" Target="../slideLayouts/slideLayout2.xml"/><Relationship Id="rId6" Type="http://schemas.openxmlformats.org/officeDocument/2006/relationships/image" Target="../media/image105.png"/><Relationship Id="rId5" Type="http://schemas.openxmlformats.org/officeDocument/2006/relationships/image" Target="../media/image101.png"/><Relationship Id="rId4" Type="http://schemas.openxmlformats.org/officeDocument/2006/relationships/image" Target="../media/image104.png"/></Relationships>
</file>

<file path=ppt/slides/_rels/slide83.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 Id="rId6" Type="http://schemas.openxmlformats.org/officeDocument/2006/relationships/image" Target="../media/image111.png"/><Relationship Id="rId5" Type="http://schemas.openxmlformats.org/officeDocument/2006/relationships/image" Target="../media/image110.png"/><Relationship Id="rId4" Type="http://schemas.openxmlformats.org/officeDocument/2006/relationships/image" Target="../media/image109.png"/></Relationships>
</file>

<file path=ppt/slides/_rels/slide84.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85.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2.xml"/><Relationship Id="rId5" Type="http://schemas.openxmlformats.org/officeDocument/2006/relationships/image" Target="../media/image122.png"/><Relationship Id="rId4" Type="http://schemas.openxmlformats.org/officeDocument/2006/relationships/image" Target="../media/image121.png"/></Relationships>
</file>

<file path=ppt/slides/_rels/slide88.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23.png"/><Relationship Id="rId1" Type="http://schemas.openxmlformats.org/officeDocument/2006/relationships/slideLayout" Target="../slideLayouts/slideLayout2.xml"/><Relationship Id="rId4" Type="http://schemas.openxmlformats.org/officeDocument/2006/relationships/image" Target="../media/image125.png"/></Relationships>
</file>

<file path=ppt/slides/_rels/slide89.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2.xml"/><Relationship Id="rId4" Type="http://schemas.openxmlformats.org/officeDocument/2006/relationships/image" Target="../media/image128.png"/></Relationships>
</file>

<file path=ppt/slides/_rels/slide9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2.xml"/><Relationship Id="rId4" Type="http://schemas.openxmlformats.org/officeDocument/2006/relationships/image" Target="../media/image133.png"/></Relationships>
</file>

<file path=ppt/slides/_rels/slide92.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xml"/><Relationship Id="rId4" Type="http://schemas.openxmlformats.org/officeDocument/2006/relationships/image" Target="../media/image139.png"/></Relationships>
</file>

<file path=ppt/slides/_rels/slide95.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slideLayout" Target="../slideLayouts/slideLayout2.xml"/><Relationship Id="rId4" Type="http://schemas.openxmlformats.org/officeDocument/2006/relationships/image" Target="../media/image142.png"/></Relationships>
</file>

<file path=ppt/slides/_rels/slide96.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2.xml"/><Relationship Id="rId4" Type="http://schemas.openxmlformats.org/officeDocument/2006/relationships/image" Target="../media/image147.png"/></Relationships>
</file>

<file path=ppt/slides/_rels/slide98.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154.png"/><Relationship Id="rId5" Type="http://schemas.openxmlformats.org/officeDocument/2006/relationships/image" Target="../media/image153.png"/><Relationship Id="rId4" Type="http://schemas.openxmlformats.org/officeDocument/2006/relationships/image" Target="../media/image152.png"/></Relationships>
</file>

<file path=ppt/slides/_rels/slide100.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png"/><Relationship Id="rId1" Type="http://schemas.openxmlformats.org/officeDocument/2006/relationships/slideLayout" Target="../slideLayouts/slideLayout2.xml"/><Relationship Id="rId5" Type="http://schemas.openxmlformats.org/officeDocument/2006/relationships/image" Target="../media/image158.png"/><Relationship Id="rId4" Type="http://schemas.openxmlformats.org/officeDocument/2006/relationships/image" Target="../media/image157.png"/></Relationships>
</file>

<file path=ppt/slides/_rels/slide10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610.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image" Target="../media/image161.png"/><Relationship Id="rId1" Type="http://schemas.openxmlformats.org/officeDocument/2006/relationships/slideLayout" Target="../slideLayouts/slideLayout2.xml"/><Relationship Id="rId5" Type="http://schemas.openxmlformats.org/officeDocument/2006/relationships/image" Target="../media/image164.png"/><Relationship Id="rId4" Type="http://schemas.openxmlformats.org/officeDocument/2006/relationships/image" Target="../media/image163.png"/></Relationships>
</file>

<file path=ppt/slides/_rels/slide104.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66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7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74.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76.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77.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image" Target="../media/image167.png"/><Relationship Id="rId1" Type="http://schemas.openxmlformats.org/officeDocument/2006/relationships/slideLayout" Target="../slideLayouts/slideLayout2.xml"/><Relationship Id="rId6" Type="http://schemas.openxmlformats.org/officeDocument/2006/relationships/image" Target="../media/image173.png"/><Relationship Id="rId5" Type="http://schemas.openxmlformats.org/officeDocument/2006/relationships/image" Target="../media/image171.png"/><Relationship Id="rId4" Type="http://schemas.openxmlformats.org/officeDocument/2006/relationships/image" Target="../media/image169.png"/></Relationships>
</file>

<file path=ppt/slides/_rels/slide112.xml.rels><?xml version="1.0" encoding="UTF-8" standalone="yes"?>
<Relationships xmlns="http://schemas.openxmlformats.org/package/2006/relationships"><Relationship Id="rId2" Type="http://schemas.openxmlformats.org/officeDocument/2006/relationships/image" Target="../media/image181.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175.png"/><Relationship Id="rId1" Type="http://schemas.openxmlformats.org/officeDocument/2006/relationships/slideLayout" Target="../slideLayouts/slideLayout2.xml"/><Relationship Id="rId4" Type="http://schemas.openxmlformats.org/officeDocument/2006/relationships/image" Target="../media/image179.png"/></Relationships>
</file>

<file path=ppt/slides/_rels/slide114.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6"/>
        <p:cNvGrpSpPr/>
        <p:nvPr/>
      </p:nvGrpSpPr>
      <p:grpSpPr>
        <a:xfrm>
          <a:off x="0" y="0"/>
          <a:ext cx="0" cy="0"/>
          <a:chOff x="0" y="0"/>
          <a:chExt cx="0" cy="0"/>
        </a:xfrm>
      </p:grpSpPr>
      <p:sp>
        <p:nvSpPr>
          <p:cNvPr id="537" name="Google Shape;537;p80"/>
          <p:cNvSpPr txBox="1"/>
          <p:nvPr/>
        </p:nvSpPr>
        <p:spPr>
          <a:xfrm>
            <a:off x="1769919" y="947072"/>
            <a:ext cx="8652164" cy="970572"/>
          </a:xfrm>
          <a:prstGeom prst="rect">
            <a:avLst/>
          </a:prstGeom>
          <a:noFill/>
          <a:ln>
            <a:noFill/>
          </a:ln>
        </p:spPr>
        <p:txBody>
          <a:bodyPr spcFirstLastPara="1" wrap="square" lIns="90000" tIns="46800" rIns="90000" bIns="91425" anchor="ctr" anchorCtr="0">
            <a:spAutoFit/>
          </a:bodyPr>
          <a:lstStyle/>
          <a:p>
            <a:pPr algn="ctr" defTabSz="1219170">
              <a:buClr>
                <a:srgbClr val="0D0D0D"/>
              </a:buClr>
              <a:buSzPts val="5400"/>
            </a:pPr>
            <a:r>
              <a:rPr lang="en-GB" sz="5400" kern="0" dirty="0">
                <a:solidFill>
                  <a:srgbClr val="0D0D0D"/>
                </a:solidFill>
                <a:latin typeface="Libre Franklin"/>
                <a:ea typeface="Libre Franklin"/>
                <a:cs typeface="Libre Franklin"/>
                <a:sym typeface="Libre Franklin"/>
              </a:rPr>
              <a:t>Artificial Neural Networks</a:t>
            </a:r>
            <a:endParaRPr sz="1400" kern="0" dirty="0">
              <a:solidFill>
                <a:srgbClr val="000000"/>
              </a:solidFill>
              <a:latin typeface="Arial"/>
              <a:cs typeface="Arial"/>
              <a:sym typeface="Arial"/>
            </a:endParaRPr>
          </a:p>
        </p:txBody>
      </p:sp>
      <p:pic>
        <p:nvPicPr>
          <p:cNvPr id="538" name="Google Shape;538;p80"/>
          <p:cNvPicPr preferRelativeResize="0"/>
          <p:nvPr/>
        </p:nvPicPr>
        <p:blipFill rotWithShape="1">
          <a:blip r:embed="rId3">
            <a:alphaModFix/>
          </a:blip>
          <a:srcRect/>
          <a:stretch/>
        </p:blipFill>
        <p:spPr>
          <a:xfrm>
            <a:off x="3288146" y="2613891"/>
            <a:ext cx="4941455" cy="3263035"/>
          </a:xfrm>
          <a:prstGeom prst="rect">
            <a:avLst/>
          </a:prstGeom>
          <a:noFill/>
          <a:ln>
            <a:noFill/>
          </a:ln>
        </p:spPr>
      </p:pic>
      <p:sp>
        <p:nvSpPr>
          <p:cNvPr id="2" name="Date Placeholder 1">
            <a:extLst>
              <a:ext uri="{FF2B5EF4-FFF2-40B4-BE49-F238E27FC236}">
                <a16:creationId xmlns:a16="http://schemas.microsoft.com/office/drawing/2014/main" id="{F572A437-8B0B-7EB9-D3A9-0CFB0667577E}"/>
              </a:ext>
            </a:extLst>
          </p:cNvPr>
          <p:cNvSpPr>
            <a:spLocks noGrp="1"/>
          </p:cNvSpPr>
          <p:nvPr>
            <p:ph type="dt" sz="half" idx="10"/>
          </p:nvPr>
        </p:nvSpPr>
        <p:spPr/>
        <p:txBody>
          <a:bodyPr/>
          <a:lstStyle/>
          <a:p>
            <a:pPr defTabSz="1219170">
              <a:buClr>
                <a:srgbClr val="000000"/>
              </a:buClr>
            </a:pPr>
            <a:fld id="{AFFA6427-4953-40BE-B191-CA80A7F54FF6}"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16047816-0C70-5202-759F-AF191AEE5813}"/>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1</a:t>
            </a:fld>
            <a:endParaRPr lang="en-US" kern="0" dirty="0">
              <a:latin typeface="Arial"/>
              <a:cs typeface="Arial"/>
              <a:sym typeface="Arial"/>
            </a:endParaRPr>
          </a:p>
        </p:txBody>
      </p:sp>
    </p:spTree>
    <p:extLst>
      <p:ext uri="{BB962C8B-B14F-4D97-AF65-F5344CB8AC3E}">
        <p14:creationId xmlns:p14="http://schemas.microsoft.com/office/powerpoint/2010/main" val="2953875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81"/>
          <p:cNvSpPr txBox="1"/>
          <p:nvPr/>
        </p:nvSpPr>
        <p:spPr>
          <a:xfrm>
            <a:off x="618837" y="348475"/>
            <a:ext cx="77724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dirty="0">
                <a:solidFill>
                  <a:srgbClr val="696464"/>
                </a:solidFill>
                <a:latin typeface="Times New Roman"/>
                <a:ea typeface="Times New Roman"/>
                <a:cs typeface="Times New Roman"/>
                <a:sym typeface="Times New Roman"/>
              </a:rPr>
              <a:t>Artificial Neural Network</a:t>
            </a:r>
            <a:endParaRPr sz="1400" kern="0" dirty="0">
              <a:solidFill>
                <a:srgbClr val="000000"/>
              </a:solidFill>
              <a:latin typeface="Arial"/>
              <a:cs typeface="Arial"/>
              <a:sym typeface="Arial"/>
            </a:endParaRPr>
          </a:p>
        </p:txBody>
      </p:sp>
      <p:sp>
        <p:nvSpPr>
          <p:cNvPr id="4" name="Rectangle 3"/>
          <p:cNvSpPr txBox="1">
            <a:spLocks noChangeArrowheads="1"/>
          </p:cNvSpPr>
          <p:nvPr/>
        </p:nvSpPr>
        <p:spPr>
          <a:xfrm>
            <a:off x="738911" y="1323110"/>
            <a:ext cx="11000508" cy="517366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189" indent="-457189" algn="just" defTabSz="1219170">
              <a:lnSpc>
                <a:spcPct val="90000"/>
              </a:lnSpc>
              <a:buFont typeface="Wingdings" panose="05000000000000000000" pitchFamily="2" charset="2"/>
              <a:buChar char="Ø"/>
            </a:pPr>
            <a:r>
              <a:rPr lang="tr-TR" altLang="en-US" sz="2800" kern="0" dirty="0"/>
              <a:t>Computational models </a:t>
            </a:r>
            <a:r>
              <a:rPr lang="tr-TR" altLang="en-US" sz="2800" kern="0" dirty="0">
                <a:solidFill>
                  <a:srgbClr val="CC3300"/>
                </a:solidFill>
              </a:rPr>
              <a:t>inspired by the human brain</a:t>
            </a:r>
            <a:r>
              <a:rPr lang="tr-TR" altLang="en-US" sz="2800" kern="0" dirty="0"/>
              <a:t>:</a:t>
            </a:r>
            <a:r>
              <a:rPr lang="en-GB" altLang="en-US" sz="2800" kern="0" dirty="0"/>
              <a:t> </a:t>
            </a:r>
            <a:r>
              <a:rPr lang="en-US" altLang="en-US" sz="2800" kern="0" dirty="0"/>
              <a:t>Algorithms that try to mimic the brain.</a:t>
            </a:r>
          </a:p>
          <a:p>
            <a:pPr marL="457189" lvl="1" indent="-457189" algn="just" defTabSz="1219170">
              <a:lnSpc>
                <a:spcPct val="90000"/>
              </a:lnSpc>
              <a:buFont typeface="Wingdings" panose="05000000000000000000" pitchFamily="2" charset="2"/>
              <a:buChar char="Ø"/>
            </a:pPr>
            <a:endParaRPr lang="tr-TR" altLang="en-US" sz="2800" kern="0" dirty="0"/>
          </a:p>
          <a:p>
            <a:pPr marL="457189" lvl="1" indent="-457189" algn="just" defTabSz="1219170">
              <a:lnSpc>
                <a:spcPct val="90000"/>
              </a:lnSpc>
              <a:buFont typeface="Wingdings" panose="05000000000000000000" pitchFamily="2" charset="2"/>
              <a:buChar char="Ø"/>
            </a:pPr>
            <a:r>
              <a:rPr lang="tr-TR" altLang="en-US" sz="2800" kern="0" dirty="0"/>
              <a:t>M</a:t>
            </a:r>
            <a:r>
              <a:rPr lang="en-AU" altLang="en-US" sz="2800" kern="0" dirty="0" err="1"/>
              <a:t>assively</a:t>
            </a:r>
            <a:r>
              <a:rPr lang="en-AU" altLang="en-US" sz="2800" kern="0" dirty="0"/>
              <a:t> parallel</a:t>
            </a:r>
            <a:r>
              <a:rPr lang="tr-TR" altLang="en-US" sz="2800" kern="0" dirty="0"/>
              <a:t>, d</a:t>
            </a:r>
            <a:r>
              <a:rPr lang="en-AU" altLang="en-US" sz="2800" kern="0" dirty="0" err="1"/>
              <a:t>istributed</a:t>
            </a:r>
            <a:r>
              <a:rPr lang="tr-TR" altLang="en-US" sz="2800" kern="0" dirty="0"/>
              <a:t> system, made up of </a:t>
            </a:r>
            <a:r>
              <a:rPr lang="en-AU" altLang="en-US" sz="2800" kern="0" dirty="0"/>
              <a:t>simple processing units </a:t>
            </a:r>
            <a:r>
              <a:rPr lang="en-AU" altLang="en-US" sz="4000" kern="0" dirty="0"/>
              <a:t>(neurons / perceptron )</a:t>
            </a:r>
            <a:endParaRPr lang="tr-TR" altLang="en-US" sz="4000" kern="0" dirty="0"/>
          </a:p>
          <a:p>
            <a:pPr marL="571486" lvl="1" indent="-571486" algn="just" defTabSz="1219170">
              <a:lnSpc>
                <a:spcPct val="90000"/>
              </a:lnSpc>
              <a:buFont typeface="Wingdings" panose="05000000000000000000" pitchFamily="2" charset="2"/>
              <a:buChar char="Ø"/>
            </a:pPr>
            <a:endParaRPr lang="tr-TR" altLang="en-US" sz="4000" kern="0" dirty="0"/>
          </a:p>
          <a:p>
            <a:pPr marL="457189" lvl="1" indent="-457189" algn="just" defTabSz="1219170">
              <a:lnSpc>
                <a:spcPct val="90000"/>
              </a:lnSpc>
              <a:buFont typeface="Wingdings" panose="05000000000000000000" pitchFamily="2" charset="2"/>
              <a:buChar char="Ø"/>
            </a:pPr>
            <a:r>
              <a:rPr lang="en-AU" altLang="en-US" sz="2800" kern="0" dirty="0"/>
              <a:t>Synaptic connection strengths among neurons are used to store the acquired knowledge.</a:t>
            </a:r>
            <a:endParaRPr lang="tr-TR" altLang="en-US" sz="2800" kern="0" dirty="0"/>
          </a:p>
          <a:p>
            <a:pPr marL="457189" lvl="1" indent="-457189" algn="just" defTabSz="1219170">
              <a:lnSpc>
                <a:spcPct val="90000"/>
              </a:lnSpc>
              <a:buFont typeface="Wingdings" panose="05000000000000000000" pitchFamily="2" charset="2"/>
              <a:buChar char="Ø"/>
            </a:pPr>
            <a:endParaRPr lang="tr-TR" altLang="en-US" sz="2800" kern="0" dirty="0"/>
          </a:p>
          <a:p>
            <a:pPr marL="457189" lvl="1" indent="-457189" algn="just" defTabSz="1219170">
              <a:lnSpc>
                <a:spcPct val="90000"/>
              </a:lnSpc>
              <a:buFont typeface="Wingdings" panose="05000000000000000000" pitchFamily="2" charset="2"/>
              <a:buChar char="Ø"/>
            </a:pPr>
            <a:r>
              <a:rPr lang="en-AU" altLang="en-US" sz="2800" kern="0" dirty="0"/>
              <a:t>Knowledge is acquired by the network from its environment through a learning process</a:t>
            </a:r>
            <a:endParaRPr lang="tr-TR" altLang="en-US" sz="2800" kern="0" dirty="0"/>
          </a:p>
          <a:p>
            <a:pPr marL="0" lvl="1" defTabSz="1219170">
              <a:lnSpc>
                <a:spcPct val="90000"/>
              </a:lnSpc>
            </a:pPr>
            <a:endParaRPr lang="en-AU" altLang="en-US" kern="0" dirty="0"/>
          </a:p>
        </p:txBody>
      </p:sp>
      <p:sp>
        <p:nvSpPr>
          <p:cNvPr id="2" name="Date Placeholder 1">
            <a:extLst>
              <a:ext uri="{FF2B5EF4-FFF2-40B4-BE49-F238E27FC236}">
                <a16:creationId xmlns:a16="http://schemas.microsoft.com/office/drawing/2014/main" id="{0BABAF1C-5918-0007-D980-2BF99E6D4F5B}"/>
              </a:ext>
            </a:extLst>
          </p:cNvPr>
          <p:cNvSpPr>
            <a:spLocks noGrp="1"/>
          </p:cNvSpPr>
          <p:nvPr>
            <p:ph type="dt" sz="half" idx="10"/>
          </p:nvPr>
        </p:nvSpPr>
        <p:spPr/>
        <p:txBody>
          <a:bodyPr/>
          <a:lstStyle/>
          <a:p>
            <a:pPr defTabSz="1219170">
              <a:buClr>
                <a:srgbClr val="000000"/>
              </a:buClr>
            </a:pPr>
            <a:fld id="{89E4BCE6-193B-4DFA-8A1A-A6B87988D248}"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A0531810-118B-4CAA-8078-0B8987DD14F2}"/>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2</a:t>
            </a:fld>
            <a:endParaRPr lang="en-US" kern="0" dirty="0">
              <a:latin typeface="Arial"/>
              <a:cs typeface="Arial"/>
              <a:sym typeface="Arial"/>
            </a:endParaRPr>
          </a:p>
        </p:txBody>
      </p:sp>
    </p:spTree>
    <p:extLst>
      <p:ext uri="{BB962C8B-B14F-4D97-AF65-F5344CB8AC3E}">
        <p14:creationId xmlns:p14="http://schemas.microsoft.com/office/powerpoint/2010/main" val="2550978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82"/>
          <p:cNvSpPr txBox="1"/>
          <p:nvPr/>
        </p:nvSpPr>
        <p:spPr>
          <a:xfrm>
            <a:off x="1099128" y="159272"/>
            <a:ext cx="91440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dirty="0">
                <a:solidFill>
                  <a:srgbClr val="696464"/>
                </a:solidFill>
                <a:latin typeface="Times New Roman"/>
                <a:ea typeface="Times New Roman"/>
                <a:cs typeface="Times New Roman"/>
                <a:sym typeface="Times New Roman"/>
              </a:rPr>
              <a:t>Why Artificial Neural Networks?</a:t>
            </a:r>
            <a:endParaRPr sz="1400" kern="0" dirty="0">
              <a:solidFill>
                <a:srgbClr val="000000"/>
              </a:solidFill>
              <a:latin typeface="Arial"/>
              <a:cs typeface="Arial"/>
              <a:sym typeface="Arial"/>
            </a:endParaRPr>
          </a:p>
        </p:txBody>
      </p:sp>
      <p:sp>
        <p:nvSpPr>
          <p:cNvPr id="550" name="Google Shape;550;p82"/>
          <p:cNvSpPr txBox="1"/>
          <p:nvPr/>
        </p:nvSpPr>
        <p:spPr>
          <a:xfrm>
            <a:off x="1016001" y="914401"/>
            <a:ext cx="10307783" cy="2464394"/>
          </a:xfrm>
          <a:prstGeom prst="rect">
            <a:avLst/>
          </a:prstGeom>
          <a:noFill/>
          <a:ln>
            <a:noFill/>
          </a:ln>
        </p:spPr>
        <p:txBody>
          <a:bodyPr spcFirstLastPara="1" wrap="square" lIns="90000" tIns="46800" rIns="90000" bIns="46800" anchor="t" anchorCtr="0">
            <a:spAutoFit/>
          </a:bodyPr>
          <a:lstStyle/>
          <a:p>
            <a:pPr indent="-151127" algn="just" defTabSz="1219170">
              <a:buClr>
                <a:srgbClr val="D34817"/>
              </a:buClr>
              <a:buSzPts val="2380"/>
              <a:buFont typeface="Noto Sans Symbols"/>
              <a:buChar char="⚫"/>
            </a:pPr>
            <a:r>
              <a:rPr lang="en-GB" sz="2800" kern="0" dirty="0">
                <a:solidFill>
                  <a:srgbClr val="000000"/>
                </a:solidFill>
                <a:latin typeface="Times New Roman"/>
                <a:ea typeface="Times New Roman"/>
                <a:cs typeface="Times New Roman"/>
                <a:sym typeface="Times New Roman"/>
              </a:rPr>
              <a:t>There are two basic reasons why we are interested in building artificial neural networks (ANNs):</a:t>
            </a:r>
            <a:endParaRPr sz="1400" kern="0" dirty="0">
              <a:solidFill>
                <a:srgbClr val="000000"/>
              </a:solidFill>
              <a:latin typeface="Arial"/>
              <a:cs typeface="Arial"/>
              <a:sym typeface="Arial"/>
            </a:endParaRPr>
          </a:p>
          <a:p>
            <a:pPr algn="just" defTabSz="1219170">
              <a:buClr>
                <a:srgbClr val="D34817"/>
              </a:buClr>
              <a:buSzPts val="2380"/>
            </a:pPr>
            <a:endParaRPr sz="2800" kern="0" dirty="0">
              <a:solidFill>
                <a:srgbClr val="000000"/>
              </a:solidFill>
              <a:latin typeface="Times New Roman"/>
              <a:ea typeface="Times New Roman"/>
              <a:cs typeface="Times New Roman"/>
              <a:sym typeface="Times New Roman"/>
            </a:endParaRPr>
          </a:p>
          <a:p>
            <a:pPr marL="457189" indent="-457189" algn="just" defTabSz="1219170">
              <a:buClr>
                <a:srgbClr val="D34817"/>
              </a:buClr>
              <a:buSzPts val="2380"/>
              <a:buFont typeface="Wingdings" panose="05000000000000000000" pitchFamily="2" charset="2"/>
              <a:buChar char="Ø"/>
            </a:pPr>
            <a:r>
              <a:rPr lang="en-GB" sz="2800" b="1" kern="0" dirty="0">
                <a:solidFill>
                  <a:srgbClr val="0070C0"/>
                </a:solidFill>
                <a:latin typeface="Times New Roman"/>
                <a:ea typeface="Times New Roman"/>
                <a:cs typeface="Times New Roman"/>
                <a:sym typeface="Times New Roman"/>
              </a:rPr>
              <a:t>Technical viewpoint</a:t>
            </a:r>
            <a:endParaRPr sz="2800" kern="0" dirty="0">
              <a:solidFill>
                <a:srgbClr val="000000"/>
              </a:solidFill>
              <a:latin typeface="Times New Roman"/>
              <a:ea typeface="Times New Roman"/>
              <a:cs typeface="Times New Roman"/>
              <a:sym typeface="Times New Roman"/>
            </a:endParaRPr>
          </a:p>
          <a:p>
            <a:pPr marL="457189" indent="-457189" algn="just" defTabSz="1219170">
              <a:buClr>
                <a:srgbClr val="D34817"/>
              </a:buClr>
              <a:buSzPts val="2380"/>
              <a:buFont typeface="Wingdings" panose="05000000000000000000" pitchFamily="2" charset="2"/>
              <a:buChar char="Ø"/>
            </a:pPr>
            <a:r>
              <a:rPr lang="en-GB" sz="2800" b="1" kern="0" dirty="0">
                <a:solidFill>
                  <a:srgbClr val="0070C0"/>
                </a:solidFill>
                <a:latin typeface="Times New Roman"/>
                <a:ea typeface="Times New Roman"/>
                <a:cs typeface="Times New Roman"/>
                <a:sym typeface="Times New Roman"/>
              </a:rPr>
              <a:t>Biological viewpoint</a:t>
            </a:r>
          </a:p>
          <a:p>
            <a:pPr indent="-151127" algn="just" defTabSz="1219170">
              <a:buClr>
                <a:srgbClr val="D34817"/>
              </a:buClr>
              <a:buSzPts val="2380"/>
              <a:buFont typeface="Times New Roman"/>
              <a:buChar char="•"/>
            </a:pPr>
            <a:endParaRPr sz="1400" kern="0" dirty="0">
              <a:solidFill>
                <a:srgbClr val="000000"/>
              </a:solidFill>
              <a:latin typeface="Arial"/>
              <a:cs typeface="Arial"/>
              <a:sym typeface="Arial"/>
            </a:endParaRPr>
          </a:p>
        </p:txBody>
      </p:sp>
      <p:sp>
        <p:nvSpPr>
          <p:cNvPr id="2" name="Date Placeholder 1">
            <a:extLst>
              <a:ext uri="{FF2B5EF4-FFF2-40B4-BE49-F238E27FC236}">
                <a16:creationId xmlns:a16="http://schemas.microsoft.com/office/drawing/2014/main" id="{0804A61F-9F8D-ED26-3CFF-526D5DDBB79C}"/>
              </a:ext>
            </a:extLst>
          </p:cNvPr>
          <p:cNvSpPr>
            <a:spLocks noGrp="1"/>
          </p:cNvSpPr>
          <p:nvPr>
            <p:ph type="dt" sz="half" idx="10"/>
          </p:nvPr>
        </p:nvSpPr>
        <p:spPr/>
        <p:txBody>
          <a:bodyPr/>
          <a:lstStyle/>
          <a:p>
            <a:pPr defTabSz="1219170">
              <a:buClr>
                <a:srgbClr val="000000"/>
              </a:buClr>
            </a:pPr>
            <a:fld id="{A74D1911-A54F-4AB5-BB0E-E2399E8719F9}"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8BC792E7-E69D-36C7-A2E9-46FBBFBFCF16}"/>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3</a:t>
            </a:fld>
            <a:endParaRPr lang="en-US" kern="0" dirty="0">
              <a:latin typeface="Arial"/>
              <a:cs typeface="Arial"/>
              <a:sym typeface="Arial"/>
            </a:endParaRPr>
          </a:p>
        </p:txBody>
      </p:sp>
    </p:spTree>
    <p:extLst>
      <p:ext uri="{BB962C8B-B14F-4D97-AF65-F5344CB8AC3E}">
        <p14:creationId xmlns:p14="http://schemas.microsoft.com/office/powerpoint/2010/main" val="3977850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82"/>
          <p:cNvSpPr txBox="1"/>
          <p:nvPr/>
        </p:nvSpPr>
        <p:spPr>
          <a:xfrm>
            <a:off x="1099128" y="159272"/>
            <a:ext cx="91440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dirty="0">
                <a:solidFill>
                  <a:srgbClr val="696464"/>
                </a:solidFill>
                <a:latin typeface="Times New Roman"/>
                <a:ea typeface="Times New Roman"/>
                <a:cs typeface="Times New Roman"/>
                <a:sym typeface="Times New Roman"/>
              </a:rPr>
              <a:t>Why Artificial Neural Networks?</a:t>
            </a:r>
            <a:endParaRPr sz="1400" kern="0" dirty="0">
              <a:solidFill>
                <a:srgbClr val="000000"/>
              </a:solidFill>
              <a:latin typeface="Arial"/>
              <a:cs typeface="Arial"/>
              <a:sym typeface="Arial"/>
            </a:endParaRPr>
          </a:p>
        </p:txBody>
      </p:sp>
      <p:sp>
        <p:nvSpPr>
          <p:cNvPr id="550" name="Google Shape;550;p82"/>
          <p:cNvSpPr txBox="1"/>
          <p:nvPr/>
        </p:nvSpPr>
        <p:spPr>
          <a:xfrm>
            <a:off x="671033" y="914401"/>
            <a:ext cx="10661987" cy="5142050"/>
          </a:xfrm>
          <a:prstGeom prst="rect">
            <a:avLst/>
          </a:prstGeom>
          <a:noFill/>
          <a:ln>
            <a:noFill/>
          </a:ln>
        </p:spPr>
        <p:txBody>
          <a:bodyPr spcFirstLastPara="1" wrap="square" lIns="90000" tIns="46800" rIns="90000" bIns="46800" anchor="t" anchorCtr="0">
            <a:spAutoFit/>
          </a:bodyPr>
          <a:lstStyle/>
          <a:p>
            <a:pPr marL="457189" indent="-457189" algn="just" defTabSz="1219170">
              <a:buClr>
                <a:srgbClr val="D34817"/>
              </a:buClr>
              <a:buSzPts val="2380"/>
              <a:buFont typeface="Wingdings" panose="05000000000000000000" pitchFamily="2" charset="2"/>
              <a:buChar char="Ø"/>
            </a:pPr>
            <a:r>
              <a:rPr lang="en-GB" sz="2800" b="1" kern="0" dirty="0">
                <a:solidFill>
                  <a:srgbClr val="0070C0"/>
                </a:solidFill>
                <a:latin typeface="Times New Roman"/>
                <a:ea typeface="Times New Roman"/>
                <a:cs typeface="Times New Roman"/>
                <a:sym typeface="Times New Roman"/>
              </a:rPr>
              <a:t>Technical viewpoint</a:t>
            </a:r>
          </a:p>
          <a:p>
            <a:pPr algn="just" defTabSz="1219170">
              <a:buClr>
                <a:srgbClr val="000000"/>
              </a:buClr>
            </a:pPr>
            <a:r>
              <a:rPr lang="en-GB" sz="2000" kern="0" dirty="0">
                <a:solidFill>
                  <a:srgbClr val="000000"/>
                </a:solidFill>
                <a:latin typeface="Arial"/>
                <a:cs typeface="Arial"/>
                <a:sym typeface="Arial"/>
              </a:rPr>
              <a:t>ANNs are useful for solving complex computational problems that require </a:t>
            </a:r>
            <a:r>
              <a:rPr lang="en-GB" sz="2000" b="1" kern="0" dirty="0">
                <a:solidFill>
                  <a:srgbClr val="000000"/>
                </a:solidFill>
                <a:latin typeface="Arial"/>
                <a:cs typeface="Arial"/>
                <a:sym typeface="Arial"/>
              </a:rPr>
              <a:t>massively parallel and adaptive processing</a:t>
            </a:r>
            <a:r>
              <a:rPr lang="en-GB" sz="2000" kern="0" dirty="0">
                <a:solidFill>
                  <a:srgbClr val="000000"/>
                </a:solidFill>
                <a:latin typeface="Arial"/>
                <a:cs typeface="Arial"/>
                <a:sym typeface="Arial"/>
              </a:rPr>
              <a:t>. This includes:</a:t>
            </a:r>
          </a:p>
          <a:p>
            <a:pPr marL="342891" indent="-342891" algn="just" defTabSz="1219170">
              <a:buClr>
                <a:srgbClr val="000000"/>
              </a:buClr>
              <a:buFont typeface="Arial" panose="020B0604020202020204" pitchFamily="34" charset="0"/>
              <a:buChar char="•"/>
            </a:pPr>
            <a:endParaRPr lang="en-GB" sz="2000" kern="0" dirty="0">
              <a:solidFill>
                <a:srgbClr val="000000"/>
              </a:solidFill>
              <a:latin typeface="Arial"/>
              <a:cs typeface="Arial"/>
              <a:sym typeface="Arial"/>
            </a:endParaRPr>
          </a:p>
          <a:p>
            <a:pPr marL="342891" indent="-342891" algn="just" defTabSz="1219170">
              <a:buClr>
                <a:srgbClr val="000000"/>
              </a:buClr>
              <a:buFont typeface="Arial" panose="020B0604020202020204" pitchFamily="34" charset="0"/>
              <a:buChar char="•"/>
            </a:pPr>
            <a:r>
              <a:rPr lang="en-GB" sz="2000" b="1" kern="0" dirty="0">
                <a:solidFill>
                  <a:srgbClr val="000000"/>
                </a:solidFill>
                <a:latin typeface="Arial"/>
                <a:cs typeface="Arial"/>
                <a:sym typeface="Arial"/>
              </a:rPr>
              <a:t>Pattern Recognition &amp; Classification:</a:t>
            </a:r>
            <a:r>
              <a:rPr lang="en-GB" sz="2000" kern="0" dirty="0">
                <a:solidFill>
                  <a:srgbClr val="000000"/>
                </a:solidFill>
                <a:latin typeface="Arial"/>
                <a:cs typeface="Arial"/>
                <a:sym typeface="Arial"/>
              </a:rPr>
              <a:t> ANNs excel at recognizing patterns in data, making them ideal for </a:t>
            </a:r>
            <a:r>
              <a:rPr lang="en-GB" sz="2000" b="1" kern="0" dirty="0">
                <a:solidFill>
                  <a:srgbClr val="000000"/>
                </a:solidFill>
                <a:latin typeface="Arial"/>
                <a:cs typeface="Arial"/>
                <a:sym typeface="Arial"/>
              </a:rPr>
              <a:t>character recognition</a:t>
            </a:r>
            <a:r>
              <a:rPr lang="en-GB" sz="2000" kern="0" dirty="0">
                <a:solidFill>
                  <a:srgbClr val="000000"/>
                </a:solidFill>
                <a:latin typeface="Arial"/>
                <a:cs typeface="Arial"/>
                <a:sym typeface="Arial"/>
              </a:rPr>
              <a:t> (e.g., handwriting recognition, Optical Character Recognition (OCR)).</a:t>
            </a:r>
          </a:p>
          <a:p>
            <a:pPr marL="342891" indent="-342891" algn="just" defTabSz="1219170">
              <a:buClr>
                <a:srgbClr val="000000"/>
              </a:buClr>
              <a:buFont typeface="Arial" panose="020B0604020202020204" pitchFamily="34" charset="0"/>
              <a:buChar char="•"/>
            </a:pPr>
            <a:endParaRPr lang="en-GB" sz="2000" kern="0" dirty="0">
              <a:solidFill>
                <a:srgbClr val="000000"/>
              </a:solidFill>
              <a:latin typeface="Arial"/>
              <a:cs typeface="Arial"/>
              <a:sym typeface="Arial"/>
            </a:endParaRPr>
          </a:p>
          <a:p>
            <a:pPr marL="342891" indent="-342891" algn="just" defTabSz="1219170">
              <a:buClr>
                <a:srgbClr val="000000"/>
              </a:buClr>
              <a:buFont typeface="Arial" panose="020B0604020202020204" pitchFamily="34" charset="0"/>
              <a:buChar char="•"/>
            </a:pPr>
            <a:r>
              <a:rPr lang="en-GB" sz="2000" b="1" kern="0" dirty="0">
                <a:solidFill>
                  <a:srgbClr val="000000"/>
                </a:solidFill>
                <a:latin typeface="Arial"/>
                <a:cs typeface="Arial"/>
                <a:sym typeface="Arial"/>
              </a:rPr>
              <a:t>Prediction &amp; Forecasting:</a:t>
            </a:r>
            <a:r>
              <a:rPr lang="en-GB" sz="2000" kern="0" dirty="0">
                <a:solidFill>
                  <a:srgbClr val="000000"/>
                </a:solidFill>
                <a:latin typeface="Arial"/>
                <a:cs typeface="Arial"/>
                <a:sym typeface="Arial"/>
              </a:rPr>
              <a:t> ANNs can be used to predict future states of a system, such as </a:t>
            </a:r>
            <a:r>
              <a:rPr lang="en-GB" sz="2000" b="1" kern="0" dirty="0">
                <a:solidFill>
                  <a:srgbClr val="000000"/>
                </a:solidFill>
                <a:latin typeface="Arial"/>
                <a:cs typeface="Arial"/>
                <a:sym typeface="Arial"/>
              </a:rPr>
              <a:t>stock market trends, weather forecasting, or equipment failure predictions</a:t>
            </a:r>
            <a:r>
              <a:rPr lang="en-GB" sz="2000" kern="0" dirty="0">
                <a:solidFill>
                  <a:srgbClr val="000000"/>
                </a:solidFill>
                <a:latin typeface="Arial"/>
                <a:cs typeface="Arial"/>
                <a:sym typeface="Arial"/>
              </a:rPr>
              <a:t>.</a:t>
            </a:r>
          </a:p>
          <a:p>
            <a:pPr marL="342891" indent="-342891" algn="just" defTabSz="1219170">
              <a:buClr>
                <a:srgbClr val="000000"/>
              </a:buClr>
              <a:buFont typeface="Arial" panose="020B0604020202020204" pitchFamily="34" charset="0"/>
              <a:buChar char="•"/>
            </a:pPr>
            <a:endParaRPr lang="en-GB" sz="2000" kern="0" dirty="0">
              <a:solidFill>
                <a:srgbClr val="000000"/>
              </a:solidFill>
              <a:latin typeface="Arial"/>
              <a:cs typeface="Arial"/>
              <a:sym typeface="Arial"/>
            </a:endParaRPr>
          </a:p>
          <a:p>
            <a:pPr marL="342891" indent="-342891" algn="just" defTabSz="1219170">
              <a:buClr>
                <a:srgbClr val="000000"/>
              </a:buClr>
              <a:buFont typeface="Arial" panose="020B0604020202020204" pitchFamily="34" charset="0"/>
              <a:buChar char="•"/>
            </a:pPr>
            <a:r>
              <a:rPr lang="en-GB" sz="2000" b="1" kern="0" dirty="0">
                <a:solidFill>
                  <a:srgbClr val="000000"/>
                </a:solidFill>
                <a:latin typeface="Arial"/>
                <a:cs typeface="Arial"/>
                <a:sym typeface="Arial"/>
              </a:rPr>
              <a:t>High-Dimensional Data Processing:</a:t>
            </a:r>
            <a:r>
              <a:rPr lang="en-GB" sz="2000" kern="0" dirty="0">
                <a:solidFill>
                  <a:srgbClr val="000000"/>
                </a:solidFill>
                <a:latin typeface="Arial"/>
                <a:cs typeface="Arial"/>
                <a:sym typeface="Arial"/>
              </a:rPr>
              <a:t> Unlike traditional algorithms, ANNs can handle large amounts of unstructured data (images, speech, text) in </a:t>
            </a:r>
            <a:r>
              <a:rPr lang="en-GB" sz="2000" b="1" kern="0" dirty="0">
                <a:solidFill>
                  <a:srgbClr val="000000"/>
                </a:solidFill>
                <a:latin typeface="Arial"/>
                <a:cs typeface="Arial"/>
                <a:sym typeface="Arial"/>
              </a:rPr>
              <a:t>real-time applications</a:t>
            </a:r>
            <a:r>
              <a:rPr lang="en-GB" sz="2000" kern="0" dirty="0">
                <a:solidFill>
                  <a:srgbClr val="000000"/>
                </a:solidFill>
                <a:latin typeface="Arial"/>
                <a:cs typeface="Arial"/>
                <a:sym typeface="Arial"/>
              </a:rPr>
              <a:t>.</a:t>
            </a:r>
          </a:p>
          <a:p>
            <a:pPr marL="342891" indent="-342891" algn="just" defTabSz="1219170">
              <a:buClr>
                <a:srgbClr val="000000"/>
              </a:buClr>
              <a:buFont typeface="Arial" panose="020B0604020202020204" pitchFamily="34" charset="0"/>
              <a:buChar char="•"/>
            </a:pPr>
            <a:endParaRPr lang="en-GB" sz="2000" kern="0" dirty="0">
              <a:solidFill>
                <a:srgbClr val="000000"/>
              </a:solidFill>
              <a:latin typeface="Arial"/>
              <a:cs typeface="Arial"/>
              <a:sym typeface="Arial"/>
            </a:endParaRPr>
          </a:p>
          <a:p>
            <a:pPr marL="342891" indent="-342891" algn="just" defTabSz="1219170">
              <a:buClr>
                <a:srgbClr val="000000"/>
              </a:buClr>
              <a:buFont typeface="Arial" panose="020B0604020202020204" pitchFamily="34" charset="0"/>
              <a:buChar char="•"/>
            </a:pPr>
            <a:r>
              <a:rPr lang="en-GB" sz="2000" b="1" kern="0" dirty="0">
                <a:solidFill>
                  <a:srgbClr val="000000"/>
                </a:solidFill>
                <a:latin typeface="Arial"/>
                <a:cs typeface="Arial"/>
                <a:sym typeface="Arial"/>
              </a:rPr>
              <a:t>Parallel Processing Efficiency:</a:t>
            </a:r>
            <a:r>
              <a:rPr lang="en-GB" sz="2000" kern="0" dirty="0">
                <a:solidFill>
                  <a:srgbClr val="000000"/>
                </a:solidFill>
                <a:latin typeface="Arial"/>
                <a:cs typeface="Arial"/>
                <a:sym typeface="Arial"/>
              </a:rPr>
              <a:t> Unlike traditional serial computing, ANNs use multiple interconnected neurons, enabling </a:t>
            </a:r>
            <a:r>
              <a:rPr lang="en-GB" sz="2000" b="1" kern="0" dirty="0">
                <a:solidFill>
                  <a:srgbClr val="000000"/>
                </a:solidFill>
                <a:latin typeface="Arial"/>
                <a:cs typeface="Arial"/>
                <a:sym typeface="Arial"/>
              </a:rPr>
              <a:t>fast and simultaneous processing</a:t>
            </a:r>
            <a:r>
              <a:rPr lang="en-GB" sz="2000" kern="0" dirty="0">
                <a:solidFill>
                  <a:srgbClr val="000000"/>
                </a:solidFill>
                <a:latin typeface="Arial"/>
                <a:cs typeface="Arial"/>
                <a:sym typeface="Arial"/>
              </a:rPr>
              <a:t> of large datasets.</a:t>
            </a:r>
          </a:p>
        </p:txBody>
      </p:sp>
      <p:sp>
        <p:nvSpPr>
          <p:cNvPr id="2" name="Date Placeholder 1">
            <a:extLst>
              <a:ext uri="{FF2B5EF4-FFF2-40B4-BE49-F238E27FC236}">
                <a16:creationId xmlns:a16="http://schemas.microsoft.com/office/drawing/2014/main" id="{606EE795-520E-965C-A9F5-5A452D6B9EFE}"/>
              </a:ext>
            </a:extLst>
          </p:cNvPr>
          <p:cNvSpPr>
            <a:spLocks noGrp="1"/>
          </p:cNvSpPr>
          <p:nvPr>
            <p:ph type="dt" sz="half" idx="10"/>
          </p:nvPr>
        </p:nvSpPr>
        <p:spPr/>
        <p:txBody>
          <a:bodyPr/>
          <a:lstStyle/>
          <a:p>
            <a:pPr defTabSz="1219170">
              <a:buClr>
                <a:srgbClr val="000000"/>
              </a:buClr>
            </a:pPr>
            <a:fld id="{7293E0A6-94FB-4F8A-BFA9-FCAA712DFE43}"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4EDC5496-4E8D-1F4E-EF86-B28D3BE62E9C}"/>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4</a:t>
            </a:fld>
            <a:endParaRPr lang="en-US" kern="0" dirty="0">
              <a:latin typeface="Arial"/>
              <a:cs typeface="Arial"/>
              <a:sym typeface="Arial"/>
            </a:endParaRPr>
          </a:p>
        </p:txBody>
      </p:sp>
    </p:spTree>
    <p:extLst>
      <p:ext uri="{BB962C8B-B14F-4D97-AF65-F5344CB8AC3E}">
        <p14:creationId xmlns:p14="http://schemas.microsoft.com/office/powerpoint/2010/main" val="39806034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82"/>
          <p:cNvSpPr txBox="1"/>
          <p:nvPr/>
        </p:nvSpPr>
        <p:spPr>
          <a:xfrm>
            <a:off x="1099128" y="159272"/>
            <a:ext cx="91440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dirty="0">
                <a:solidFill>
                  <a:srgbClr val="696464"/>
                </a:solidFill>
                <a:latin typeface="Times New Roman"/>
                <a:ea typeface="Times New Roman"/>
                <a:cs typeface="Times New Roman"/>
                <a:sym typeface="Times New Roman"/>
              </a:rPr>
              <a:t>Why Artificial Neural Networks?</a:t>
            </a:r>
            <a:endParaRPr sz="1400" kern="0" dirty="0">
              <a:solidFill>
                <a:srgbClr val="000000"/>
              </a:solidFill>
              <a:latin typeface="Arial"/>
              <a:cs typeface="Arial"/>
              <a:sym typeface="Arial"/>
            </a:endParaRPr>
          </a:p>
        </p:txBody>
      </p:sp>
      <p:sp>
        <p:nvSpPr>
          <p:cNvPr id="550" name="Google Shape;550;p82"/>
          <p:cNvSpPr txBox="1"/>
          <p:nvPr/>
        </p:nvSpPr>
        <p:spPr>
          <a:xfrm>
            <a:off x="860057" y="914400"/>
            <a:ext cx="10860889" cy="5973046"/>
          </a:xfrm>
          <a:prstGeom prst="rect">
            <a:avLst/>
          </a:prstGeom>
          <a:noFill/>
          <a:ln>
            <a:noFill/>
          </a:ln>
        </p:spPr>
        <p:txBody>
          <a:bodyPr spcFirstLastPara="1" wrap="square" lIns="90000" tIns="46800" rIns="90000" bIns="46800" anchor="t" anchorCtr="0">
            <a:spAutoFit/>
          </a:bodyPr>
          <a:lstStyle/>
          <a:p>
            <a:pPr marL="457189" indent="-457189" algn="just" defTabSz="1219170">
              <a:buClr>
                <a:srgbClr val="D34817"/>
              </a:buClr>
              <a:buSzPts val="2380"/>
              <a:buFont typeface="Wingdings" panose="05000000000000000000" pitchFamily="2" charset="2"/>
              <a:buChar char="Ø"/>
            </a:pPr>
            <a:r>
              <a:rPr lang="en-GB" sz="2800" b="1" kern="0" dirty="0">
                <a:solidFill>
                  <a:srgbClr val="0070C0"/>
                </a:solidFill>
                <a:latin typeface="Times New Roman"/>
                <a:ea typeface="Times New Roman"/>
                <a:cs typeface="Times New Roman"/>
                <a:sym typeface="Times New Roman"/>
              </a:rPr>
              <a:t>Biological viewpoint</a:t>
            </a:r>
          </a:p>
          <a:p>
            <a:pPr algn="just" defTabSz="1219170">
              <a:buClr>
                <a:srgbClr val="000000"/>
              </a:buClr>
            </a:pPr>
            <a:r>
              <a:rPr lang="en-GB" sz="2400" kern="0" dirty="0">
                <a:solidFill>
                  <a:srgbClr val="000000"/>
                </a:solidFill>
                <a:latin typeface="Arial"/>
                <a:cs typeface="Arial"/>
                <a:sym typeface="Arial"/>
              </a:rPr>
              <a:t>ANNs are inspired by the functioning of the human brain. The goal is to </a:t>
            </a:r>
            <a:r>
              <a:rPr lang="en-GB" sz="2400" b="1" kern="0" dirty="0">
                <a:solidFill>
                  <a:srgbClr val="000000"/>
                </a:solidFill>
                <a:latin typeface="Arial"/>
                <a:cs typeface="Arial"/>
                <a:sym typeface="Arial"/>
              </a:rPr>
              <a:t>replicate or simulate components of biological neural networks</a:t>
            </a:r>
            <a:r>
              <a:rPr lang="en-GB" sz="2400" kern="0" dirty="0">
                <a:solidFill>
                  <a:srgbClr val="000000"/>
                </a:solidFill>
                <a:latin typeface="Arial"/>
                <a:cs typeface="Arial"/>
                <a:sym typeface="Arial"/>
              </a:rPr>
              <a:t>, leading to:</a:t>
            </a:r>
          </a:p>
          <a:p>
            <a:pPr marL="342891" indent="-342891" algn="just" defTabSz="1219170">
              <a:buClr>
                <a:srgbClr val="000000"/>
              </a:buClr>
              <a:buFont typeface="Arial" panose="020B0604020202020204" pitchFamily="34" charset="0"/>
              <a:buChar char="•"/>
            </a:pPr>
            <a:r>
              <a:rPr lang="en-GB" sz="2400" b="1" kern="0" dirty="0">
                <a:solidFill>
                  <a:srgbClr val="000000"/>
                </a:solidFill>
                <a:latin typeface="Arial"/>
                <a:cs typeface="Arial"/>
                <a:sym typeface="Arial"/>
              </a:rPr>
              <a:t>Understanding Brain Functions:</a:t>
            </a:r>
            <a:r>
              <a:rPr lang="en-GB" sz="2400" kern="0" dirty="0">
                <a:solidFill>
                  <a:srgbClr val="000000"/>
                </a:solidFill>
                <a:latin typeface="Arial"/>
                <a:cs typeface="Arial"/>
                <a:sym typeface="Arial"/>
              </a:rPr>
              <a:t> By </a:t>
            </a:r>
            <a:r>
              <a:rPr lang="en-GB" sz="2400" kern="0" dirty="0" err="1">
                <a:solidFill>
                  <a:srgbClr val="000000"/>
                </a:solidFill>
                <a:latin typeface="Arial"/>
                <a:cs typeface="Arial"/>
                <a:sym typeface="Arial"/>
              </a:rPr>
              <a:t>modeling</a:t>
            </a:r>
            <a:r>
              <a:rPr lang="en-GB" sz="2400" kern="0" dirty="0">
                <a:solidFill>
                  <a:srgbClr val="000000"/>
                </a:solidFill>
                <a:latin typeface="Arial"/>
                <a:cs typeface="Arial"/>
                <a:sym typeface="Arial"/>
              </a:rPr>
              <a:t> artificial neurons, researchers can gain insights into how real neurons in the human (or animal) brain </a:t>
            </a:r>
            <a:r>
              <a:rPr lang="en-GB" sz="2400" b="1" kern="0" dirty="0">
                <a:solidFill>
                  <a:srgbClr val="000000"/>
                </a:solidFill>
                <a:latin typeface="Arial"/>
                <a:cs typeface="Arial"/>
                <a:sym typeface="Arial"/>
              </a:rPr>
              <a:t>process information and learn</a:t>
            </a:r>
            <a:r>
              <a:rPr lang="en-GB" sz="2400" kern="0" dirty="0">
                <a:solidFill>
                  <a:srgbClr val="000000"/>
                </a:solidFill>
                <a:latin typeface="Arial"/>
                <a:cs typeface="Arial"/>
                <a:sym typeface="Arial"/>
              </a:rPr>
              <a:t>.</a:t>
            </a:r>
          </a:p>
          <a:p>
            <a:pPr marL="342891" indent="-342891" algn="just" defTabSz="1219170">
              <a:buClr>
                <a:srgbClr val="000000"/>
              </a:buClr>
              <a:buFont typeface="Arial" panose="020B0604020202020204" pitchFamily="34" charset="0"/>
              <a:buChar char="•"/>
            </a:pPr>
            <a:r>
              <a:rPr lang="en-GB" sz="2400" b="1" kern="0" dirty="0">
                <a:solidFill>
                  <a:srgbClr val="000000"/>
                </a:solidFill>
                <a:latin typeface="Arial"/>
                <a:cs typeface="Arial"/>
                <a:sym typeface="Arial"/>
              </a:rPr>
              <a:t>Cognitive &amp; Neuroscientific Research:</a:t>
            </a:r>
            <a:r>
              <a:rPr lang="en-GB" sz="2400" kern="0" dirty="0">
                <a:solidFill>
                  <a:srgbClr val="000000"/>
                </a:solidFill>
                <a:latin typeface="Arial"/>
                <a:cs typeface="Arial"/>
                <a:sym typeface="Arial"/>
              </a:rPr>
              <a:t> ANNs help neuroscientists understand cognitive processes like </a:t>
            </a:r>
            <a:r>
              <a:rPr lang="en-GB" sz="2400" b="1" kern="0" dirty="0">
                <a:solidFill>
                  <a:srgbClr val="000000"/>
                </a:solidFill>
                <a:latin typeface="Arial"/>
                <a:cs typeface="Arial"/>
                <a:sym typeface="Arial"/>
              </a:rPr>
              <a:t>learning, memory, and decision-making</a:t>
            </a:r>
            <a:r>
              <a:rPr lang="en-GB" sz="2400" kern="0" dirty="0">
                <a:solidFill>
                  <a:srgbClr val="000000"/>
                </a:solidFill>
                <a:latin typeface="Arial"/>
                <a:cs typeface="Arial"/>
                <a:sym typeface="Arial"/>
              </a:rPr>
              <a:t>.</a:t>
            </a:r>
          </a:p>
          <a:p>
            <a:pPr marL="342891" indent="-342891" algn="just" defTabSz="1219170">
              <a:buClr>
                <a:srgbClr val="000000"/>
              </a:buClr>
              <a:buFont typeface="Arial" panose="020B0604020202020204" pitchFamily="34" charset="0"/>
              <a:buChar char="•"/>
            </a:pPr>
            <a:r>
              <a:rPr lang="en-GB" sz="2400" b="1" kern="0" dirty="0">
                <a:solidFill>
                  <a:srgbClr val="000000"/>
                </a:solidFill>
                <a:latin typeface="Arial"/>
                <a:cs typeface="Arial"/>
                <a:sym typeface="Arial"/>
              </a:rPr>
              <a:t>Brain-Computer Interfaces (BCIs):</a:t>
            </a:r>
            <a:r>
              <a:rPr lang="en-GB" sz="2400" kern="0" dirty="0">
                <a:solidFill>
                  <a:srgbClr val="000000"/>
                </a:solidFill>
                <a:latin typeface="Arial"/>
                <a:cs typeface="Arial"/>
                <a:sym typeface="Arial"/>
              </a:rPr>
              <a:t> ANN-based models play a role in </a:t>
            </a:r>
            <a:r>
              <a:rPr lang="en-GB" sz="2400" b="1" kern="0" dirty="0">
                <a:solidFill>
                  <a:srgbClr val="000000"/>
                </a:solidFill>
                <a:latin typeface="Arial"/>
                <a:cs typeface="Arial"/>
                <a:sym typeface="Arial"/>
              </a:rPr>
              <a:t>prosthetics, neural signal decoding, and mind-controlled devices</a:t>
            </a:r>
            <a:r>
              <a:rPr lang="en-GB" sz="2400" kern="0" dirty="0">
                <a:solidFill>
                  <a:srgbClr val="000000"/>
                </a:solidFill>
                <a:latin typeface="Arial"/>
                <a:cs typeface="Arial"/>
                <a:sym typeface="Arial"/>
              </a:rPr>
              <a:t>.</a:t>
            </a:r>
          </a:p>
          <a:p>
            <a:pPr marL="342891" indent="-342891" algn="just" defTabSz="1219170">
              <a:buClr>
                <a:srgbClr val="000000"/>
              </a:buClr>
              <a:buFont typeface="Arial" panose="020B0604020202020204" pitchFamily="34" charset="0"/>
              <a:buChar char="•"/>
            </a:pPr>
            <a:r>
              <a:rPr lang="en-GB" sz="2400" b="1" kern="0" dirty="0">
                <a:solidFill>
                  <a:srgbClr val="000000"/>
                </a:solidFill>
                <a:latin typeface="Arial"/>
                <a:cs typeface="Arial"/>
                <a:sym typeface="Arial"/>
              </a:rPr>
              <a:t>Simulation of Learning Mechanisms:</a:t>
            </a:r>
            <a:r>
              <a:rPr lang="en-GB" sz="2400" kern="0" dirty="0">
                <a:solidFill>
                  <a:srgbClr val="000000"/>
                </a:solidFill>
                <a:latin typeface="Arial"/>
                <a:cs typeface="Arial"/>
                <a:sym typeface="Arial"/>
              </a:rPr>
              <a:t> ANNs mimic </a:t>
            </a:r>
            <a:r>
              <a:rPr lang="en-GB" sz="2400" b="1" kern="0" dirty="0">
                <a:solidFill>
                  <a:srgbClr val="000000"/>
                </a:solidFill>
                <a:latin typeface="Arial"/>
                <a:cs typeface="Arial"/>
                <a:sym typeface="Arial"/>
              </a:rPr>
              <a:t>human learning and adaptability</a:t>
            </a:r>
            <a:r>
              <a:rPr lang="en-GB" sz="2400" kern="0" dirty="0">
                <a:solidFill>
                  <a:srgbClr val="000000"/>
                </a:solidFill>
                <a:latin typeface="Arial"/>
                <a:cs typeface="Arial"/>
                <a:sym typeface="Arial"/>
              </a:rPr>
              <a:t>, helping in the development of intelligent systems.</a:t>
            </a:r>
          </a:p>
          <a:p>
            <a:pPr algn="just" defTabSz="1219170">
              <a:buClr>
                <a:srgbClr val="D34817"/>
              </a:buClr>
              <a:buSzPts val="2380"/>
            </a:pPr>
            <a:endParaRPr lang="en-GB" sz="2800" b="1" kern="0" dirty="0">
              <a:solidFill>
                <a:srgbClr val="0070C0"/>
              </a:solidFill>
              <a:latin typeface="Times New Roman"/>
              <a:ea typeface="Times New Roman"/>
              <a:cs typeface="Times New Roman"/>
              <a:sym typeface="Times New Roman"/>
            </a:endParaRPr>
          </a:p>
          <a:p>
            <a:pPr indent="-151127" algn="just" defTabSz="1219170">
              <a:buClr>
                <a:srgbClr val="D34817"/>
              </a:buClr>
              <a:buSzPts val="2380"/>
              <a:buFont typeface="Times New Roman"/>
              <a:buChar char="•"/>
            </a:pPr>
            <a:endParaRPr sz="1400" kern="0" dirty="0">
              <a:solidFill>
                <a:srgbClr val="000000"/>
              </a:solidFill>
              <a:latin typeface="Arial"/>
              <a:cs typeface="Arial"/>
              <a:sym typeface="Arial"/>
            </a:endParaRPr>
          </a:p>
        </p:txBody>
      </p:sp>
      <p:sp>
        <p:nvSpPr>
          <p:cNvPr id="2" name="Date Placeholder 1">
            <a:extLst>
              <a:ext uri="{FF2B5EF4-FFF2-40B4-BE49-F238E27FC236}">
                <a16:creationId xmlns:a16="http://schemas.microsoft.com/office/drawing/2014/main" id="{D82B553E-B17E-E95F-7976-1E5A9373EE8C}"/>
              </a:ext>
            </a:extLst>
          </p:cNvPr>
          <p:cNvSpPr>
            <a:spLocks noGrp="1"/>
          </p:cNvSpPr>
          <p:nvPr>
            <p:ph type="dt" sz="half" idx="10"/>
          </p:nvPr>
        </p:nvSpPr>
        <p:spPr/>
        <p:txBody>
          <a:bodyPr/>
          <a:lstStyle/>
          <a:p>
            <a:pPr defTabSz="1219170">
              <a:buClr>
                <a:srgbClr val="000000"/>
              </a:buClr>
            </a:pPr>
            <a:fld id="{558F79F4-8917-4B48-AF30-7A51BFA2710C}"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D2B52A25-6E91-2D2A-CFC0-59FC9A43D250}"/>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5</a:t>
            </a:fld>
            <a:endParaRPr lang="en-US" kern="0" dirty="0">
              <a:latin typeface="Arial"/>
              <a:cs typeface="Arial"/>
              <a:sym typeface="Arial"/>
            </a:endParaRPr>
          </a:p>
        </p:txBody>
      </p:sp>
    </p:spTree>
    <p:extLst>
      <p:ext uri="{BB962C8B-B14F-4D97-AF65-F5344CB8AC3E}">
        <p14:creationId xmlns:p14="http://schemas.microsoft.com/office/powerpoint/2010/main" val="2376411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85"/>
          <p:cNvSpPr txBox="1"/>
          <p:nvPr/>
        </p:nvSpPr>
        <p:spPr>
          <a:xfrm>
            <a:off x="1267692" y="235474"/>
            <a:ext cx="77724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dirty="0">
                <a:solidFill>
                  <a:srgbClr val="696464"/>
                </a:solidFill>
                <a:latin typeface="Times New Roman"/>
                <a:ea typeface="Times New Roman"/>
                <a:cs typeface="Times New Roman"/>
                <a:sym typeface="Times New Roman"/>
              </a:rPr>
              <a:t>How do our brains work?</a:t>
            </a:r>
            <a:endParaRPr sz="1400" kern="0" dirty="0">
              <a:solidFill>
                <a:srgbClr val="000000"/>
              </a:solidFill>
              <a:latin typeface="Arial"/>
              <a:cs typeface="Arial"/>
              <a:sym typeface="Arial"/>
            </a:endParaRPr>
          </a:p>
        </p:txBody>
      </p:sp>
      <p:sp>
        <p:nvSpPr>
          <p:cNvPr id="569" name="Google Shape;569;p85"/>
          <p:cNvSpPr txBox="1"/>
          <p:nvPr/>
        </p:nvSpPr>
        <p:spPr>
          <a:xfrm>
            <a:off x="461820" y="990602"/>
            <a:ext cx="11499273" cy="1903727"/>
          </a:xfrm>
          <a:prstGeom prst="rect">
            <a:avLst/>
          </a:prstGeom>
          <a:noFill/>
          <a:ln>
            <a:noFill/>
          </a:ln>
        </p:spPr>
        <p:txBody>
          <a:bodyPr spcFirstLastPara="1" wrap="square" lIns="90000" tIns="46800" rIns="90000" bIns="46800" anchor="t" anchorCtr="0">
            <a:spAutoFit/>
          </a:bodyPr>
          <a:lstStyle/>
          <a:p>
            <a:pPr marL="820718" lvl="2" indent="-228594" defTabSz="1219170">
              <a:lnSpc>
                <a:spcPct val="102000"/>
              </a:lnSpc>
              <a:buClr>
                <a:srgbClr val="E6B1AB"/>
              </a:buClr>
              <a:buSzPts val="2380"/>
              <a:buFont typeface="Noto Sans Symbols"/>
              <a:buChar char="▪"/>
            </a:pPr>
            <a:r>
              <a:rPr lang="en-GB" sz="2800" kern="0" dirty="0">
                <a:solidFill>
                  <a:srgbClr val="000000"/>
                </a:solidFill>
                <a:latin typeface="Libre Baskerville"/>
                <a:ea typeface="Libre Baskerville"/>
                <a:cs typeface="Libre Baskerville"/>
                <a:sym typeface="Libre Baskerville"/>
              </a:rPr>
              <a:t>The Brain is A massively parallel information processing system.</a:t>
            </a:r>
            <a:endParaRPr sz="1400" kern="0" dirty="0">
              <a:solidFill>
                <a:srgbClr val="000000"/>
              </a:solidFill>
              <a:latin typeface="Arial"/>
              <a:cs typeface="Arial"/>
              <a:sym typeface="Arial"/>
            </a:endParaRPr>
          </a:p>
          <a:p>
            <a:pPr marL="820718" lvl="2" indent="-228594" defTabSz="1219170">
              <a:lnSpc>
                <a:spcPct val="102000"/>
              </a:lnSpc>
              <a:spcBef>
                <a:spcPts val="375"/>
              </a:spcBef>
              <a:buClr>
                <a:srgbClr val="E6B1AB"/>
              </a:buClr>
              <a:buSzPts val="2380"/>
              <a:buFont typeface="Noto Sans Symbols"/>
              <a:buChar char="▪"/>
            </a:pPr>
            <a:r>
              <a:rPr lang="en-GB" sz="2800" kern="0" dirty="0">
                <a:solidFill>
                  <a:srgbClr val="000000"/>
                </a:solidFill>
                <a:latin typeface="Libre Baskerville"/>
                <a:ea typeface="Libre Baskerville"/>
                <a:cs typeface="Libre Baskerville"/>
                <a:sym typeface="Libre Baskerville"/>
              </a:rPr>
              <a:t>Our brains are a huge network of processing elements. A typical brain contains a network of 10</a:t>
            </a:r>
            <a:r>
              <a:rPr lang="en-GB" sz="2800" kern="0" baseline="30000" dirty="0">
                <a:solidFill>
                  <a:srgbClr val="000000"/>
                </a:solidFill>
                <a:latin typeface="Libre Baskerville"/>
                <a:ea typeface="Libre Baskerville"/>
                <a:cs typeface="Libre Baskerville"/>
                <a:sym typeface="Libre Baskerville"/>
              </a:rPr>
              <a:t>11 </a:t>
            </a:r>
            <a:r>
              <a:rPr lang="en-GB" sz="2800" kern="0" dirty="0">
                <a:solidFill>
                  <a:srgbClr val="000000"/>
                </a:solidFill>
                <a:latin typeface="Libre Baskerville"/>
                <a:ea typeface="Libre Baskerville"/>
                <a:cs typeface="Libre Baskerville"/>
                <a:sym typeface="Libre Baskerville"/>
              </a:rPr>
              <a:t>neurons</a:t>
            </a:r>
            <a:r>
              <a:rPr lang="en-GB" sz="2000" kern="0" dirty="0">
                <a:solidFill>
                  <a:srgbClr val="000000"/>
                </a:solidFill>
                <a:latin typeface="Libre Baskerville"/>
                <a:ea typeface="Libre Baskerville"/>
                <a:cs typeface="Libre Baskerville"/>
                <a:sym typeface="Libre Baskerville"/>
              </a:rPr>
              <a:t> </a:t>
            </a:r>
            <a:r>
              <a:rPr lang="en-GB" sz="2800" kern="0" dirty="0">
                <a:solidFill>
                  <a:srgbClr val="000000"/>
                </a:solidFill>
                <a:latin typeface="Libre Baskerville"/>
                <a:ea typeface="Libre Baskerville"/>
                <a:cs typeface="Libre Baskerville"/>
                <a:sym typeface="Libre Baskerville"/>
              </a:rPr>
              <a:t>where  each connected, on average, to 10</a:t>
            </a:r>
            <a:r>
              <a:rPr lang="en-GB" sz="2800" kern="0" baseline="30000" dirty="0">
                <a:solidFill>
                  <a:srgbClr val="000000"/>
                </a:solidFill>
                <a:latin typeface="Libre Baskerville"/>
                <a:ea typeface="Libre Baskerville"/>
                <a:cs typeface="Libre Baskerville"/>
                <a:sym typeface="Libre Baskerville"/>
              </a:rPr>
              <a:t>4</a:t>
            </a:r>
            <a:r>
              <a:rPr lang="en-GB" sz="2800" kern="0" dirty="0">
                <a:solidFill>
                  <a:srgbClr val="000000"/>
                </a:solidFill>
                <a:latin typeface="Libre Baskerville"/>
                <a:ea typeface="Libre Baskerville"/>
                <a:cs typeface="Libre Baskerville"/>
                <a:sym typeface="Libre Baskerville"/>
              </a:rPr>
              <a:t> others.</a:t>
            </a:r>
            <a:endParaRPr sz="2800" kern="0" dirty="0">
              <a:solidFill>
                <a:srgbClr val="000000"/>
              </a:solidFill>
              <a:latin typeface="Libre Baskerville"/>
              <a:ea typeface="Libre Baskerville"/>
              <a:cs typeface="Libre Baskerville"/>
              <a:sym typeface="Arial"/>
            </a:endParaRPr>
          </a:p>
        </p:txBody>
      </p:sp>
      <p:pic>
        <p:nvPicPr>
          <p:cNvPr id="570" name="Google Shape;570;p85"/>
          <p:cNvPicPr preferRelativeResize="0"/>
          <p:nvPr/>
        </p:nvPicPr>
        <p:blipFill rotWithShape="1">
          <a:blip r:embed="rId3">
            <a:alphaModFix/>
          </a:blip>
          <a:srcRect/>
          <a:stretch/>
        </p:blipFill>
        <p:spPr>
          <a:xfrm>
            <a:off x="2229318" y="3429000"/>
            <a:ext cx="8156353" cy="2918122"/>
          </a:xfrm>
          <a:prstGeom prst="rect">
            <a:avLst/>
          </a:prstGeom>
          <a:noFill/>
          <a:ln>
            <a:noFill/>
          </a:ln>
        </p:spPr>
      </p:pic>
      <p:sp>
        <p:nvSpPr>
          <p:cNvPr id="2" name="Date Placeholder 1">
            <a:extLst>
              <a:ext uri="{FF2B5EF4-FFF2-40B4-BE49-F238E27FC236}">
                <a16:creationId xmlns:a16="http://schemas.microsoft.com/office/drawing/2014/main" id="{429F55D9-612B-3E17-F1BC-874F3E077D68}"/>
              </a:ext>
            </a:extLst>
          </p:cNvPr>
          <p:cNvSpPr>
            <a:spLocks noGrp="1"/>
          </p:cNvSpPr>
          <p:nvPr>
            <p:ph type="dt" sz="half" idx="10"/>
          </p:nvPr>
        </p:nvSpPr>
        <p:spPr/>
        <p:txBody>
          <a:bodyPr/>
          <a:lstStyle/>
          <a:p>
            <a:pPr defTabSz="1219170">
              <a:buClr>
                <a:srgbClr val="000000"/>
              </a:buClr>
            </a:pPr>
            <a:fld id="{1AD8B00A-1D87-4677-9FED-53C89E58C857}"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510B48A8-95A1-CB00-2B80-99065E65176E}"/>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6</a:t>
            </a:fld>
            <a:endParaRPr lang="en-US" kern="0" dirty="0">
              <a:latin typeface="Arial"/>
              <a:cs typeface="Arial"/>
              <a:sym typeface="Arial"/>
            </a:endParaRPr>
          </a:p>
        </p:txBody>
      </p:sp>
    </p:spTree>
    <p:extLst>
      <p:ext uri="{BB962C8B-B14F-4D97-AF65-F5344CB8AC3E}">
        <p14:creationId xmlns:p14="http://schemas.microsoft.com/office/powerpoint/2010/main" val="2663823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6" name="Google Shape;556;p83"/>
          <p:cNvSpPr txBox="1"/>
          <p:nvPr/>
        </p:nvSpPr>
        <p:spPr>
          <a:xfrm>
            <a:off x="1367246" y="990602"/>
            <a:ext cx="10252100" cy="3972499"/>
          </a:xfrm>
          <a:prstGeom prst="rect">
            <a:avLst/>
          </a:prstGeom>
          <a:noFill/>
          <a:ln>
            <a:noFill/>
          </a:ln>
        </p:spPr>
        <p:txBody>
          <a:bodyPr spcFirstLastPara="1" wrap="square" lIns="90000" tIns="46800" rIns="90000" bIns="46800" anchor="t" anchorCtr="0">
            <a:spAutoFit/>
          </a:bodyPr>
          <a:lstStyle/>
          <a:p>
            <a:pPr marL="336542" indent="-336542" defTabSz="1219170">
              <a:lnSpc>
                <a:spcPct val="90000"/>
              </a:lnSpc>
              <a:buClr>
                <a:srgbClr val="D34817"/>
              </a:buClr>
              <a:buSzPts val="2380"/>
              <a:buFont typeface="Times New Roman"/>
              <a:buChar char="•"/>
            </a:pPr>
            <a:r>
              <a:rPr lang="en-GB" sz="2800" kern="0" dirty="0">
                <a:solidFill>
                  <a:srgbClr val="000000"/>
                </a:solidFill>
                <a:latin typeface="Times New Roman"/>
                <a:ea typeface="Times New Roman"/>
                <a:cs typeface="Times New Roman"/>
                <a:sym typeface="Times New Roman"/>
              </a:rPr>
              <a:t>Information is transmitted as a series of electric impulses, so-called </a:t>
            </a:r>
            <a:r>
              <a:rPr lang="en-GB" sz="2800" b="1" kern="0" dirty="0">
                <a:solidFill>
                  <a:srgbClr val="0070C0"/>
                </a:solidFill>
                <a:latin typeface="Times New Roman"/>
                <a:ea typeface="Times New Roman"/>
                <a:cs typeface="Times New Roman"/>
                <a:sym typeface="Times New Roman"/>
              </a:rPr>
              <a:t>spikes</a:t>
            </a:r>
            <a:r>
              <a:rPr lang="en-GB" sz="2800" kern="0" dirty="0">
                <a:solidFill>
                  <a:srgbClr val="000000"/>
                </a:solidFill>
                <a:latin typeface="Times New Roman"/>
                <a:ea typeface="Times New Roman"/>
                <a:cs typeface="Times New Roman"/>
                <a:sym typeface="Times New Roman"/>
              </a:rPr>
              <a:t>.</a:t>
            </a:r>
            <a:endParaRPr sz="1400" kern="0" dirty="0">
              <a:solidFill>
                <a:srgbClr val="000000"/>
              </a:solidFill>
              <a:latin typeface="Arial"/>
              <a:cs typeface="Arial"/>
              <a:sym typeface="Arial"/>
            </a:endParaRPr>
          </a:p>
          <a:p>
            <a:pPr marL="336542" indent="-336542" defTabSz="1219170">
              <a:lnSpc>
                <a:spcPct val="90000"/>
              </a:lnSpc>
              <a:buClr>
                <a:srgbClr val="D34817"/>
              </a:buClr>
              <a:buSzPts val="2380"/>
            </a:pPr>
            <a:endParaRPr sz="2800" kern="0" dirty="0">
              <a:solidFill>
                <a:srgbClr val="000000"/>
              </a:solidFill>
              <a:latin typeface="Times New Roman"/>
              <a:ea typeface="Times New Roman"/>
              <a:cs typeface="Times New Roman"/>
              <a:sym typeface="Times New Roman"/>
            </a:endParaRPr>
          </a:p>
          <a:p>
            <a:pPr marL="336542" indent="-336542" defTabSz="1219170">
              <a:lnSpc>
                <a:spcPct val="90000"/>
              </a:lnSpc>
              <a:buClr>
                <a:srgbClr val="D34817"/>
              </a:buClr>
              <a:buSzPts val="2380"/>
              <a:buFont typeface="Times New Roman"/>
              <a:buChar char="•"/>
            </a:pPr>
            <a:r>
              <a:rPr lang="en-GB" sz="2800" kern="0" dirty="0">
                <a:solidFill>
                  <a:srgbClr val="000000"/>
                </a:solidFill>
                <a:latin typeface="Times New Roman"/>
                <a:ea typeface="Times New Roman"/>
                <a:cs typeface="Times New Roman"/>
                <a:sym typeface="Times New Roman"/>
              </a:rPr>
              <a:t>The </a:t>
            </a:r>
            <a:r>
              <a:rPr lang="en-GB" sz="2800" b="1" kern="0" dirty="0">
                <a:solidFill>
                  <a:srgbClr val="0070C0"/>
                </a:solidFill>
                <a:latin typeface="Times New Roman"/>
                <a:ea typeface="Times New Roman"/>
                <a:cs typeface="Times New Roman"/>
                <a:sym typeface="Times New Roman"/>
              </a:rPr>
              <a:t>frequency</a:t>
            </a:r>
            <a:r>
              <a:rPr lang="en-GB" sz="2800" kern="0" dirty="0">
                <a:solidFill>
                  <a:srgbClr val="000000"/>
                </a:solidFill>
                <a:latin typeface="Times New Roman"/>
                <a:ea typeface="Times New Roman"/>
                <a:cs typeface="Times New Roman"/>
                <a:sym typeface="Times New Roman"/>
              </a:rPr>
              <a:t> and </a:t>
            </a:r>
            <a:r>
              <a:rPr lang="en-GB" sz="2800" b="1" kern="0" dirty="0">
                <a:solidFill>
                  <a:srgbClr val="0070C0"/>
                </a:solidFill>
                <a:latin typeface="Times New Roman"/>
                <a:ea typeface="Times New Roman"/>
                <a:cs typeface="Times New Roman"/>
                <a:sym typeface="Times New Roman"/>
              </a:rPr>
              <a:t>phase</a:t>
            </a:r>
            <a:r>
              <a:rPr lang="en-GB" sz="2800" kern="0" dirty="0">
                <a:solidFill>
                  <a:srgbClr val="000000"/>
                </a:solidFill>
                <a:latin typeface="Times New Roman"/>
                <a:ea typeface="Times New Roman"/>
                <a:cs typeface="Times New Roman"/>
                <a:sym typeface="Times New Roman"/>
              </a:rPr>
              <a:t> of these spikes encodes the information.</a:t>
            </a:r>
            <a:endParaRPr sz="2800" kern="0" dirty="0">
              <a:solidFill>
                <a:srgbClr val="000000"/>
              </a:solidFill>
              <a:latin typeface="Times New Roman"/>
              <a:ea typeface="Times New Roman"/>
              <a:cs typeface="Times New Roman"/>
              <a:sym typeface="Times New Roman"/>
            </a:endParaRPr>
          </a:p>
          <a:p>
            <a:pPr marL="336542" indent="-336542" defTabSz="1219170">
              <a:lnSpc>
                <a:spcPct val="90000"/>
              </a:lnSpc>
              <a:buClr>
                <a:srgbClr val="D34817"/>
              </a:buClr>
              <a:buSzPts val="2380"/>
            </a:pPr>
            <a:endParaRPr sz="2800" kern="0" dirty="0">
              <a:solidFill>
                <a:srgbClr val="000000"/>
              </a:solidFill>
              <a:latin typeface="Times New Roman"/>
              <a:ea typeface="Times New Roman"/>
              <a:cs typeface="Times New Roman"/>
              <a:sym typeface="Times New Roman"/>
            </a:endParaRPr>
          </a:p>
          <a:p>
            <a:pPr marL="336542" indent="-336542" defTabSz="1219170">
              <a:lnSpc>
                <a:spcPct val="90000"/>
              </a:lnSpc>
              <a:buClr>
                <a:srgbClr val="D34817"/>
              </a:buClr>
              <a:buSzPts val="2380"/>
              <a:buFont typeface="Times New Roman"/>
              <a:buChar char="•"/>
            </a:pPr>
            <a:r>
              <a:rPr lang="en-GB" sz="2800" kern="0" dirty="0">
                <a:solidFill>
                  <a:srgbClr val="000000"/>
                </a:solidFill>
                <a:latin typeface="Times New Roman"/>
                <a:ea typeface="Times New Roman"/>
                <a:cs typeface="Times New Roman"/>
                <a:sym typeface="Times New Roman"/>
              </a:rPr>
              <a:t>In biological systems, one neuron can be connected to as many as </a:t>
            </a:r>
            <a:r>
              <a:rPr lang="en-GB" sz="2800" b="1" kern="0" dirty="0">
                <a:solidFill>
                  <a:srgbClr val="0070C0"/>
                </a:solidFill>
                <a:latin typeface="Times New Roman"/>
                <a:ea typeface="Times New Roman"/>
                <a:cs typeface="Times New Roman"/>
                <a:sym typeface="Times New Roman"/>
              </a:rPr>
              <a:t>10,0000</a:t>
            </a:r>
            <a:r>
              <a:rPr lang="en-GB" sz="2800" kern="0" dirty="0">
                <a:solidFill>
                  <a:srgbClr val="000000"/>
                </a:solidFill>
                <a:latin typeface="Times New Roman"/>
                <a:ea typeface="Times New Roman"/>
                <a:cs typeface="Times New Roman"/>
                <a:sym typeface="Times New Roman"/>
              </a:rPr>
              <a:t> other neurons.</a:t>
            </a:r>
            <a:br>
              <a:rPr lang="en-GB" sz="2800" kern="0" dirty="0">
                <a:solidFill>
                  <a:srgbClr val="000000"/>
                </a:solidFill>
                <a:latin typeface="Times New Roman"/>
                <a:ea typeface="Times New Roman"/>
                <a:cs typeface="Times New Roman"/>
                <a:sym typeface="Times New Roman"/>
              </a:rPr>
            </a:br>
            <a:endParaRPr sz="2800" kern="0" dirty="0">
              <a:solidFill>
                <a:srgbClr val="000000"/>
              </a:solidFill>
              <a:latin typeface="Times New Roman"/>
              <a:ea typeface="Times New Roman"/>
              <a:cs typeface="Times New Roman"/>
              <a:sym typeface="Times New Roman"/>
            </a:endParaRPr>
          </a:p>
          <a:p>
            <a:pPr marL="336542" indent="-336542" defTabSz="1219170">
              <a:lnSpc>
                <a:spcPct val="90000"/>
              </a:lnSpc>
              <a:buClr>
                <a:srgbClr val="D34817"/>
              </a:buClr>
              <a:buSzPts val="2380"/>
              <a:buFont typeface="Times New Roman"/>
              <a:buChar char="•"/>
            </a:pPr>
            <a:r>
              <a:rPr lang="en-GB" sz="2800" kern="0" dirty="0">
                <a:solidFill>
                  <a:srgbClr val="000000"/>
                </a:solidFill>
                <a:latin typeface="Times New Roman"/>
                <a:ea typeface="Times New Roman"/>
                <a:cs typeface="Times New Roman"/>
                <a:sym typeface="Times New Roman"/>
              </a:rPr>
              <a:t>Usually, a neuron receives its information from other neurons in a confined area, its so-called </a:t>
            </a:r>
            <a:r>
              <a:rPr lang="en-GB" sz="2800" b="1" kern="0" dirty="0">
                <a:solidFill>
                  <a:srgbClr val="0070C0"/>
                </a:solidFill>
                <a:latin typeface="Times New Roman"/>
                <a:ea typeface="Times New Roman"/>
                <a:cs typeface="Times New Roman"/>
                <a:sym typeface="Times New Roman"/>
              </a:rPr>
              <a:t>receptive field</a:t>
            </a:r>
            <a:r>
              <a:rPr lang="en-GB" sz="2800" kern="0" dirty="0">
                <a:solidFill>
                  <a:srgbClr val="000000"/>
                </a:solidFill>
                <a:latin typeface="Times New Roman"/>
                <a:ea typeface="Times New Roman"/>
                <a:cs typeface="Times New Roman"/>
                <a:sym typeface="Times New Roman"/>
              </a:rPr>
              <a:t>.</a:t>
            </a:r>
            <a:endParaRPr sz="1400" kern="0" dirty="0">
              <a:solidFill>
                <a:srgbClr val="000000"/>
              </a:solidFill>
              <a:latin typeface="Arial"/>
              <a:cs typeface="Arial"/>
              <a:sym typeface="Arial"/>
            </a:endParaRPr>
          </a:p>
        </p:txBody>
      </p:sp>
      <p:sp>
        <p:nvSpPr>
          <p:cNvPr id="5" name="Google Shape;568;p85"/>
          <p:cNvSpPr txBox="1"/>
          <p:nvPr/>
        </p:nvSpPr>
        <p:spPr>
          <a:xfrm>
            <a:off x="1544783" y="143110"/>
            <a:ext cx="77724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dirty="0">
                <a:solidFill>
                  <a:srgbClr val="696464"/>
                </a:solidFill>
                <a:latin typeface="Times New Roman"/>
                <a:ea typeface="Times New Roman"/>
                <a:cs typeface="Times New Roman"/>
                <a:sym typeface="Times New Roman"/>
              </a:rPr>
              <a:t>How do our brains work?</a:t>
            </a:r>
            <a:endParaRPr sz="1400" kern="0" dirty="0">
              <a:solidFill>
                <a:srgbClr val="000000"/>
              </a:solidFill>
              <a:latin typeface="Arial"/>
              <a:cs typeface="Arial"/>
              <a:sym typeface="Arial"/>
            </a:endParaRPr>
          </a:p>
        </p:txBody>
      </p:sp>
      <p:sp>
        <p:nvSpPr>
          <p:cNvPr id="2" name="Date Placeholder 1">
            <a:extLst>
              <a:ext uri="{FF2B5EF4-FFF2-40B4-BE49-F238E27FC236}">
                <a16:creationId xmlns:a16="http://schemas.microsoft.com/office/drawing/2014/main" id="{A15AC89C-FA3B-2ECB-BB27-1D0F67ED5EEB}"/>
              </a:ext>
            </a:extLst>
          </p:cNvPr>
          <p:cNvSpPr>
            <a:spLocks noGrp="1"/>
          </p:cNvSpPr>
          <p:nvPr>
            <p:ph type="dt" sz="half" idx="10"/>
          </p:nvPr>
        </p:nvSpPr>
        <p:spPr/>
        <p:txBody>
          <a:bodyPr/>
          <a:lstStyle/>
          <a:p>
            <a:pPr defTabSz="1219170">
              <a:buClr>
                <a:srgbClr val="000000"/>
              </a:buClr>
            </a:pPr>
            <a:fld id="{14F81483-97A7-4BAF-A9BF-EDF1B053BC3E}"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638EE253-ABCC-5122-7BF7-00577C60EC96}"/>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7</a:t>
            </a:fld>
            <a:endParaRPr lang="en-US" kern="0" dirty="0">
              <a:latin typeface="Arial"/>
              <a:cs typeface="Arial"/>
              <a:sym typeface="Arial"/>
            </a:endParaRPr>
          </a:p>
        </p:txBody>
      </p:sp>
    </p:spTree>
    <p:extLst>
      <p:ext uri="{BB962C8B-B14F-4D97-AF65-F5344CB8AC3E}">
        <p14:creationId xmlns:p14="http://schemas.microsoft.com/office/powerpoint/2010/main" val="14188709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74"/>
        <p:cNvGrpSpPr/>
        <p:nvPr/>
      </p:nvGrpSpPr>
      <p:grpSpPr>
        <a:xfrm>
          <a:off x="0" y="0"/>
          <a:ext cx="0" cy="0"/>
          <a:chOff x="0" y="0"/>
          <a:chExt cx="0" cy="0"/>
        </a:xfrm>
      </p:grpSpPr>
      <p:sp>
        <p:nvSpPr>
          <p:cNvPr id="575" name="Google Shape;575;p86"/>
          <p:cNvSpPr txBox="1"/>
          <p:nvPr/>
        </p:nvSpPr>
        <p:spPr>
          <a:xfrm>
            <a:off x="880621" y="15"/>
            <a:ext cx="77724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dirty="0">
                <a:solidFill>
                  <a:srgbClr val="696464"/>
                </a:solidFill>
                <a:latin typeface="Times New Roman"/>
                <a:ea typeface="Times New Roman"/>
                <a:cs typeface="Times New Roman"/>
                <a:sym typeface="Times New Roman"/>
              </a:rPr>
              <a:t>How do our brains work?</a:t>
            </a:r>
            <a:endParaRPr sz="1400" kern="0" dirty="0">
              <a:solidFill>
                <a:srgbClr val="000000"/>
              </a:solidFill>
              <a:latin typeface="Arial"/>
              <a:cs typeface="Arial"/>
              <a:sym typeface="Arial"/>
            </a:endParaRPr>
          </a:p>
        </p:txBody>
      </p:sp>
      <p:sp>
        <p:nvSpPr>
          <p:cNvPr id="576" name="Google Shape;576;p86"/>
          <p:cNvSpPr txBox="1"/>
          <p:nvPr/>
        </p:nvSpPr>
        <p:spPr>
          <a:xfrm>
            <a:off x="423421" y="1261871"/>
            <a:ext cx="8686800" cy="525401"/>
          </a:xfrm>
          <a:prstGeom prst="rect">
            <a:avLst/>
          </a:prstGeom>
          <a:noFill/>
          <a:ln>
            <a:noFill/>
          </a:ln>
        </p:spPr>
        <p:txBody>
          <a:bodyPr spcFirstLastPara="1" wrap="square" lIns="90000" tIns="46800" rIns="90000" bIns="46800" anchor="t" anchorCtr="0">
            <a:spAutoFit/>
          </a:bodyPr>
          <a:lstStyle/>
          <a:p>
            <a:pPr marL="271456" indent="-271456" algn="ctr" defTabSz="1219170">
              <a:buClr>
                <a:srgbClr val="D34817"/>
              </a:buClr>
              <a:buSzPts val="2380"/>
              <a:buFont typeface="Noto Sans Symbols"/>
              <a:buChar char="▪"/>
            </a:pPr>
            <a:r>
              <a:rPr lang="en-GB" sz="2800" kern="0" dirty="0">
                <a:solidFill>
                  <a:srgbClr val="000000"/>
                </a:solidFill>
                <a:latin typeface="Libre Baskerville"/>
                <a:ea typeface="Libre Baskerville"/>
                <a:cs typeface="Libre Baskerville"/>
                <a:sym typeface="Libre Baskerville"/>
              </a:rPr>
              <a:t>Single Neuron: A processing element </a:t>
            </a:r>
            <a:endParaRPr sz="1400" kern="0" dirty="0">
              <a:solidFill>
                <a:srgbClr val="000000"/>
              </a:solidFill>
              <a:latin typeface="Arial"/>
              <a:cs typeface="Arial"/>
              <a:sym typeface="Arial"/>
            </a:endParaRPr>
          </a:p>
        </p:txBody>
      </p:sp>
      <p:pic>
        <p:nvPicPr>
          <p:cNvPr id="577" name="Google Shape;577;p86"/>
          <p:cNvPicPr preferRelativeResize="0"/>
          <p:nvPr/>
        </p:nvPicPr>
        <p:blipFill rotWithShape="1">
          <a:blip r:embed="rId3">
            <a:alphaModFix/>
          </a:blip>
          <a:srcRect/>
          <a:stretch/>
        </p:blipFill>
        <p:spPr>
          <a:xfrm>
            <a:off x="1096008" y="2112391"/>
            <a:ext cx="6324600" cy="4038600"/>
          </a:xfrm>
          <a:prstGeom prst="rect">
            <a:avLst/>
          </a:prstGeom>
          <a:noFill/>
          <a:ln>
            <a:noFill/>
          </a:ln>
        </p:spPr>
      </p:pic>
      <p:sp>
        <p:nvSpPr>
          <p:cNvPr id="578" name="Google Shape;578;p86"/>
          <p:cNvSpPr txBox="1"/>
          <p:nvPr/>
        </p:nvSpPr>
        <p:spPr>
          <a:xfrm>
            <a:off x="7677453" y="2624926"/>
            <a:ext cx="3732801" cy="2679837"/>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2400"/>
            </a:pPr>
            <a:r>
              <a:rPr lang="en-GB" sz="2400" kern="0" dirty="0">
                <a:solidFill>
                  <a:srgbClr val="000000"/>
                </a:solidFill>
                <a:latin typeface="Times New Roman"/>
                <a:ea typeface="Times New Roman"/>
                <a:cs typeface="Times New Roman"/>
                <a:sym typeface="Times New Roman"/>
              </a:rPr>
              <a:t>Dendrites: Input</a:t>
            </a:r>
            <a:endParaRPr sz="1400" kern="0" dirty="0">
              <a:solidFill>
                <a:srgbClr val="000000"/>
              </a:solidFill>
              <a:latin typeface="Arial"/>
              <a:cs typeface="Arial"/>
              <a:sym typeface="Arial"/>
            </a:endParaRPr>
          </a:p>
          <a:p>
            <a:pPr algn="ctr" defTabSz="1219170">
              <a:buClr>
                <a:srgbClr val="000000"/>
              </a:buClr>
              <a:buSzPts val="2400"/>
            </a:pPr>
            <a:r>
              <a:rPr lang="en-GB" sz="2400" kern="0" dirty="0">
                <a:solidFill>
                  <a:srgbClr val="000000"/>
                </a:solidFill>
                <a:latin typeface="Times New Roman"/>
                <a:ea typeface="Times New Roman"/>
                <a:cs typeface="Times New Roman"/>
                <a:sym typeface="Times New Roman"/>
              </a:rPr>
              <a:t>Cell body: Processor</a:t>
            </a:r>
            <a:endParaRPr sz="1400" kern="0" dirty="0">
              <a:solidFill>
                <a:srgbClr val="000000"/>
              </a:solidFill>
              <a:latin typeface="Arial"/>
              <a:cs typeface="Arial"/>
              <a:sym typeface="Arial"/>
            </a:endParaRPr>
          </a:p>
          <a:p>
            <a:pPr algn="ctr" defTabSz="1219170">
              <a:buClr>
                <a:srgbClr val="000000"/>
              </a:buClr>
              <a:buSzPts val="2400"/>
            </a:pPr>
            <a:r>
              <a:rPr lang="en-GB" sz="2400" kern="0" dirty="0">
                <a:solidFill>
                  <a:srgbClr val="000000"/>
                </a:solidFill>
                <a:latin typeface="Times New Roman"/>
                <a:ea typeface="Times New Roman"/>
                <a:cs typeface="Times New Roman"/>
                <a:sym typeface="Times New Roman"/>
              </a:rPr>
              <a:t>Synaptic: Link</a:t>
            </a:r>
            <a:endParaRPr sz="1400" kern="0" dirty="0">
              <a:solidFill>
                <a:srgbClr val="000000"/>
              </a:solidFill>
              <a:latin typeface="Arial"/>
              <a:cs typeface="Arial"/>
              <a:sym typeface="Arial"/>
            </a:endParaRPr>
          </a:p>
          <a:p>
            <a:pPr algn="ctr" defTabSz="1219170">
              <a:buClr>
                <a:srgbClr val="000000"/>
              </a:buClr>
              <a:buSzPts val="2400"/>
            </a:pPr>
            <a:r>
              <a:rPr lang="en-GB" sz="2400" kern="0" dirty="0">
                <a:solidFill>
                  <a:srgbClr val="000000"/>
                </a:solidFill>
                <a:latin typeface="Times New Roman"/>
                <a:ea typeface="Times New Roman"/>
                <a:cs typeface="Times New Roman"/>
                <a:sym typeface="Times New Roman"/>
              </a:rPr>
              <a:t>Axon: Output</a:t>
            </a:r>
            <a:endParaRPr sz="1400" kern="0" dirty="0">
              <a:solidFill>
                <a:srgbClr val="000000"/>
              </a:solidFill>
              <a:latin typeface="Arial"/>
              <a:cs typeface="Arial"/>
              <a:sym typeface="Arial"/>
            </a:endParaRPr>
          </a:p>
          <a:p>
            <a:pPr algn="ctr" defTabSz="1219170">
              <a:buClr>
                <a:srgbClr val="000000"/>
              </a:buClr>
              <a:buSzPts val="2400"/>
            </a:pPr>
            <a:endParaRPr sz="2400" kern="0" dirty="0">
              <a:solidFill>
                <a:srgbClr val="000000"/>
              </a:solidFill>
              <a:latin typeface="Libre Baskerville"/>
              <a:ea typeface="Libre Baskerville"/>
              <a:cs typeface="Libre Baskerville"/>
              <a:sym typeface="Libre Baskerville"/>
            </a:endParaRPr>
          </a:p>
          <a:p>
            <a:pPr algn="ctr" defTabSz="1219170">
              <a:buClr>
                <a:srgbClr val="000000"/>
              </a:buClr>
              <a:buSzPts val="2400"/>
            </a:pPr>
            <a:endParaRPr sz="2400" kern="0" dirty="0">
              <a:solidFill>
                <a:srgbClr val="000000"/>
              </a:solidFill>
              <a:latin typeface="Libre Baskerville"/>
              <a:ea typeface="Libre Baskerville"/>
              <a:cs typeface="Libre Baskerville"/>
              <a:sym typeface="Libre Baskerville"/>
            </a:endParaRPr>
          </a:p>
          <a:p>
            <a:pPr algn="ctr" defTabSz="1219170">
              <a:buClr>
                <a:srgbClr val="000000"/>
              </a:buClr>
              <a:buSzPts val="2400"/>
            </a:pPr>
            <a:endParaRPr sz="2400" kern="0" dirty="0">
              <a:solidFill>
                <a:srgbClr val="000000"/>
              </a:solidFill>
              <a:latin typeface="Libre Baskerville"/>
              <a:ea typeface="Libre Baskerville"/>
              <a:cs typeface="Libre Baskerville"/>
              <a:sym typeface="Libre Baskerville"/>
            </a:endParaRPr>
          </a:p>
        </p:txBody>
      </p:sp>
      <p:sp>
        <p:nvSpPr>
          <p:cNvPr id="2" name="Date Placeholder 1">
            <a:extLst>
              <a:ext uri="{FF2B5EF4-FFF2-40B4-BE49-F238E27FC236}">
                <a16:creationId xmlns:a16="http://schemas.microsoft.com/office/drawing/2014/main" id="{3AE24DC5-33BB-A466-AE0A-5344E8D3F86A}"/>
              </a:ext>
            </a:extLst>
          </p:cNvPr>
          <p:cNvSpPr>
            <a:spLocks noGrp="1"/>
          </p:cNvSpPr>
          <p:nvPr>
            <p:ph type="dt" sz="half" idx="10"/>
          </p:nvPr>
        </p:nvSpPr>
        <p:spPr/>
        <p:txBody>
          <a:bodyPr/>
          <a:lstStyle/>
          <a:p>
            <a:pPr defTabSz="1219170">
              <a:buClr>
                <a:srgbClr val="000000"/>
              </a:buClr>
            </a:pPr>
            <a:fld id="{794DA753-59C0-4018-B58E-08AB277B49E3}"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AC08A3CE-31B1-F89A-64A9-FB5886D784ED}"/>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8</a:t>
            </a:fld>
            <a:endParaRPr lang="en-US" kern="0" dirty="0">
              <a:latin typeface="Arial"/>
              <a:cs typeface="Arial"/>
              <a:sym typeface="Arial"/>
            </a:endParaRPr>
          </a:p>
        </p:txBody>
      </p:sp>
    </p:spTree>
    <p:extLst>
      <p:ext uri="{BB962C8B-B14F-4D97-AF65-F5344CB8AC3E}">
        <p14:creationId xmlns:p14="http://schemas.microsoft.com/office/powerpoint/2010/main" val="22645240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87"/>
          <p:cNvSpPr txBox="1"/>
          <p:nvPr/>
        </p:nvSpPr>
        <p:spPr>
          <a:xfrm>
            <a:off x="2209800" y="159274"/>
            <a:ext cx="77724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a:solidFill>
                  <a:srgbClr val="696464"/>
                </a:solidFill>
                <a:latin typeface="Times New Roman"/>
                <a:ea typeface="Times New Roman"/>
                <a:cs typeface="Times New Roman"/>
                <a:sym typeface="Times New Roman"/>
              </a:rPr>
              <a:t>How do our brains work?</a:t>
            </a:r>
            <a:endParaRPr sz="1400" kern="0">
              <a:solidFill>
                <a:srgbClr val="000000"/>
              </a:solidFill>
              <a:latin typeface="Arial"/>
              <a:cs typeface="Arial"/>
              <a:sym typeface="Arial"/>
            </a:endParaRPr>
          </a:p>
        </p:txBody>
      </p:sp>
      <p:sp>
        <p:nvSpPr>
          <p:cNvPr id="584" name="Google Shape;584;p87"/>
          <p:cNvSpPr txBox="1"/>
          <p:nvPr/>
        </p:nvSpPr>
        <p:spPr>
          <a:xfrm>
            <a:off x="1752600" y="762002"/>
            <a:ext cx="8686800" cy="525401"/>
          </a:xfrm>
          <a:prstGeom prst="rect">
            <a:avLst/>
          </a:prstGeom>
          <a:noFill/>
          <a:ln>
            <a:noFill/>
          </a:ln>
        </p:spPr>
        <p:txBody>
          <a:bodyPr spcFirstLastPara="1" wrap="square" lIns="90000" tIns="46800" rIns="90000" bIns="46800" anchor="t" anchorCtr="0">
            <a:spAutoFit/>
          </a:bodyPr>
          <a:lstStyle/>
          <a:p>
            <a:pPr marL="271456" indent="-271456" algn="ctr" defTabSz="1219170">
              <a:buClr>
                <a:srgbClr val="D34817"/>
              </a:buClr>
              <a:buSzPts val="2380"/>
              <a:buFont typeface="Noto Sans Symbols"/>
              <a:buChar char="▪"/>
            </a:pPr>
            <a:r>
              <a:rPr lang="en-GB" sz="2800" kern="0">
                <a:solidFill>
                  <a:srgbClr val="000000"/>
                </a:solidFill>
                <a:latin typeface="Libre Baskerville"/>
                <a:ea typeface="Libre Baskerville"/>
                <a:cs typeface="Libre Baskerville"/>
                <a:sym typeface="Libre Baskerville"/>
              </a:rPr>
              <a:t>A processing element</a:t>
            </a:r>
            <a:endParaRPr sz="1400" kern="0">
              <a:solidFill>
                <a:srgbClr val="000000"/>
              </a:solidFill>
              <a:latin typeface="Arial"/>
              <a:cs typeface="Arial"/>
              <a:sym typeface="Arial"/>
            </a:endParaRPr>
          </a:p>
        </p:txBody>
      </p:sp>
      <p:pic>
        <p:nvPicPr>
          <p:cNvPr id="585" name="Google Shape;585;p87"/>
          <p:cNvPicPr preferRelativeResize="0"/>
          <p:nvPr/>
        </p:nvPicPr>
        <p:blipFill rotWithShape="1">
          <a:blip r:embed="rId3">
            <a:alphaModFix/>
          </a:blip>
          <a:srcRect/>
          <a:stretch/>
        </p:blipFill>
        <p:spPr>
          <a:xfrm>
            <a:off x="3124200" y="1295400"/>
            <a:ext cx="6324600" cy="4038600"/>
          </a:xfrm>
          <a:prstGeom prst="rect">
            <a:avLst/>
          </a:prstGeom>
          <a:noFill/>
          <a:ln>
            <a:noFill/>
          </a:ln>
        </p:spPr>
      </p:pic>
      <p:sp>
        <p:nvSpPr>
          <p:cNvPr id="586" name="Google Shape;586;p87"/>
          <p:cNvSpPr txBox="1"/>
          <p:nvPr/>
        </p:nvSpPr>
        <p:spPr>
          <a:xfrm>
            <a:off x="1905000" y="5105401"/>
            <a:ext cx="8305800" cy="833178"/>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2400"/>
            </a:pPr>
            <a:r>
              <a:rPr lang="en-GB" sz="2400" kern="0" dirty="0">
                <a:solidFill>
                  <a:srgbClr val="000000"/>
                </a:solidFill>
                <a:latin typeface="Times New Roman"/>
                <a:ea typeface="Times New Roman"/>
                <a:cs typeface="Times New Roman"/>
                <a:sym typeface="Times New Roman"/>
              </a:rPr>
              <a:t>A neuron is connected to other neurons through about </a:t>
            </a:r>
            <a:r>
              <a:rPr lang="en-GB" sz="2400" i="1" kern="0" dirty="0">
                <a:solidFill>
                  <a:srgbClr val="000000"/>
                </a:solidFill>
                <a:latin typeface="Times New Roman"/>
                <a:ea typeface="Times New Roman"/>
                <a:cs typeface="Times New Roman"/>
                <a:sym typeface="Times New Roman"/>
              </a:rPr>
              <a:t>10,0000 synapses</a:t>
            </a:r>
            <a:endParaRPr sz="1400" kern="0" dirty="0">
              <a:solidFill>
                <a:srgbClr val="000000"/>
              </a:solidFill>
              <a:latin typeface="Arial"/>
              <a:cs typeface="Arial"/>
              <a:sym typeface="Arial"/>
            </a:endParaRPr>
          </a:p>
        </p:txBody>
      </p:sp>
      <p:sp>
        <p:nvSpPr>
          <p:cNvPr id="2" name="Date Placeholder 1">
            <a:extLst>
              <a:ext uri="{FF2B5EF4-FFF2-40B4-BE49-F238E27FC236}">
                <a16:creationId xmlns:a16="http://schemas.microsoft.com/office/drawing/2014/main" id="{D7C06983-7A6D-8BE2-D608-8A9DA2AE0A89}"/>
              </a:ext>
            </a:extLst>
          </p:cNvPr>
          <p:cNvSpPr>
            <a:spLocks noGrp="1"/>
          </p:cNvSpPr>
          <p:nvPr>
            <p:ph type="dt" sz="half" idx="10"/>
          </p:nvPr>
        </p:nvSpPr>
        <p:spPr/>
        <p:txBody>
          <a:bodyPr/>
          <a:lstStyle/>
          <a:p>
            <a:pPr defTabSz="1219170">
              <a:buClr>
                <a:srgbClr val="000000"/>
              </a:buClr>
            </a:pPr>
            <a:fld id="{788134CD-A8B8-4FBA-AD40-DE5381A6CE4C}"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FED333B6-6DDA-108B-65E5-CA2E067338E2}"/>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9</a:t>
            </a:fld>
            <a:endParaRPr lang="en-US" kern="0" dirty="0">
              <a:latin typeface="Arial"/>
              <a:cs typeface="Arial"/>
              <a:sym typeface="Arial"/>
            </a:endParaRPr>
          </a:p>
        </p:txBody>
      </p:sp>
    </p:spTree>
    <p:extLst>
      <p:ext uri="{BB962C8B-B14F-4D97-AF65-F5344CB8AC3E}">
        <p14:creationId xmlns:p14="http://schemas.microsoft.com/office/powerpoint/2010/main" val="17585626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88"/>
          <p:cNvSpPr txBox="1"/>
          <p:nvPr/>
        </p:nvSpPr>
        <p:spPr>
          <a:xfrm>
            <a:off x="2209800" y="159274"/>
            <a:ext cx="77724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a:solidFill>
                  <a:srgbClr val="696464"/>
                </a:solidFill>
                <a:latin typeface="Times New Roman"/>
                <a:ea typeface="Times New Roman"/>
                <a:cs typeface="Times New Roman"/>
                <a:sym typeface="Times New Roman"/>
              </a:rPr>
              <a:t>How do our brains work?</a:t>
            </a:r>
            <a:endParaRPr sz="1400" kern="0">
              <a:solidFill>
                <a:srgbClr val="000000"/>
              </a:solidFill>
              <a:latin typeface="Arial"/>
              <a:cs typeface="Arial"/>
              <a:sym typeface="Arial"/>
            </a:endParaRPr>
          </a:p>
        </p:txBody>
      </p:sp>
      <p:sp>
        <p:nvSpPr>
          <p:cNvPr id="592" name="Google Shape;592;p88"/>
          <p:cNvSpPr txBox="1"/>
          <p:nvPr/>
        </p:nvSpPr>
        <p:spPr>
          <a:xfrm>
            <a:off x="1752600" y="762002"/>
            <a:ext cx="8686800" cy="525401"/>
          </a:xfrm>
          <a:prstGeom prst="rect">
            <a:avLst/>
          </a:prstGeom>
          <a:noFill/>
          <a:ln>
            <a:noFill/>
          </a:ln>
        </p:spPr>
        <p:txBody>
          <a:bodyPr spcFirstLastPara="1" wrap="square" lIns="90000" tIns="46800" rIns="90000" bIns="46800" anchor="t" anchorCtr="0">
            <a:spAutoFit/>
          </a:bodyPr>
          <a:lstStyle/>
          <a:p>
            <a:pPr marL="271456" indent="-271456" algn="ctr" defTabSz="1219170">
              <a:buClr>
                <a:srgbClr val="D34817"/>
              </a:buClr>
              <a:buSzPts val="2380"/>
              <a:buFont typeface="Noto Sans Symbols"/>
              <a:buChar char="▪"/>
            </a:pPr>
            <a:r>
              <a:rPr lang="en-GB" sz="2800" kern="0">
                <a:solidFill>
                  <a:srgbClr val="000000"/>
                </a:solidFill>
                <a:latin typeface="Libre Baskerville"/>
                <a:ea typeface="Libre Baskerville"/>
                <a:cs typeface="Libre Baskerville"/>
                <a:sym typeface="Libre Baskerville"/>
              </a:rPr>
              <a:t>A processing element</a:t>
            </a:r>
            <a:endParaRPr sz="1400" kern="0">
              <a:solidFill>
                <a:srgbClr val="000000"/>
              </a:solidFill>
              <a:latin typeface="Arial"/>
              <a:cs typeface="Arial"/>
              <a:sym typeface="Arial"/>
            </a:endParaRPr>
          </a:p>
        </p:txBody>
      </p:sp>
      <p:pic>
        <p:nvPicPr>
          <p:cNvPr id="593" name="Google Shape;593;p88"/>
          <p:cNvPicPr preferRelativeResize="0"/>
          <p:nvPr/>
        </p:nvPicPr>
        <p:blipFill rotWithShape="1">
          <a:blip r:embed="rId3">
            <a:alphaModFix/>
          </a:blip>
          <a:srcRect/>
          <a:stretch/>
        </p:blipFill>
        <p:spPr>
          <a:xfrm>
            <a:off x="3124200" y="1295400"/>
            <a:ext cx="6324600" cy="4038600"/>
          </a:xfrm>
          <a:prstGeom prst="rect">
            <a:avLst/>
          </a:prstGeom>
          <a:noFill/>
          <a:ln>
            <a:noFill/>
          </a:ln>
        </p:spPr>
      </p:pic>
      <p:sp>
        <p:nvSpPr>
          <p:cNvPr id="594" name="Google Shape;594;p88"/>
          <p:cNvSpPr txBox="1"/>
          <p:nvPr/>
        </p:nvSpPr>
        <p:spPr>
          <a:xfrm>
            <a:off x="1905000" y="5048253"/>
            <a:ext cx="8305800" cy="463846"/>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2400"/>
            </a:pPr>
            <a:r>
              <a:rPr lang="en-GB" sz="2400" kern="0">
                <a:solidFill>
                  <a:srgbClr val="000000"/>
                </a:solidFill>
                <a:latin typeface="Times New Roman"/>
                <a:ea typeface="Times New Roman"/>
                <a:cs typeface="Times New Roman"/>
                <a:sym typeface="Times New Roman"/>
              </a:rPr>
              <a:t>A neuron receives input from other neurons. Inputs are combined.</a:t>
            </a:r>
            <a:endParaRPr sz="1400" kern="0">
              <a:solidFill>
                <a:srgbClr val="000000"/>
              </a:solidFill>
              <a:latin typeface="Arial"/>
              <a:cs typeface="Arial"/>
              <a:sym typeface="Arial"/>
            </a:endParaRPr>
          </a:p>
        </p:txBody>
      </p:sp>
      <p:sp>
        <p:nvSpPr>
          <p:cNvPr id="2" name="Date Placeholder 1">
            <a:extLst>
              <a:ext uri="{FF2B5EF4-FFF2-40B4-BE49-F238E27FC236}">
                <a16:creationId xmlns:a16="http://schemas.microsoft.com/office/drawing/2014/main" id="{09796B80-B6B9-BF95-13BB-01F2A86158B8}"/>
              </a:ext>
            </a:extLst>
          </p:cNvPr>
          <p:cNvSpPr>
            <a:spLocks noGrp="1"/>
          </p:cNvSpPr>
          <p:nvPr>
            <p:ph type="dt" sz="half" idx="10"/>
          </p:nvPr>
        </p:nvSpPr>
        <p:spPr/>
        <p:txBody>
          <a:bodyPr/>
          <a:lstStyle/>
          <a:p>
            <a:pPr defTabSz="1219170">
              <a:buClr>
                <a:srgbClr val="000000"/>
              </a:buClr>
            </a:pPr>
            <a:fld id="{B89795A4-238A-4228-A751-581F6224E91A}"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57BC9D5E-0D61-7FA9-E4A6-3CB06E5F5D03}"/>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10</a:t>
            </a:fld>
            <a:endParaRPr lang="en-US" kern="0" dirty="0">
              <a:latin typeface="Arial"/>
              <a:cs typeface="Arial"/>
              <a:sym typeface="Arial"/>
            </a:endParaRPr>
          </a:p>
        </p:txBody>
      </p:sp>
    </p:spTree>
    <p:extLst>
      <p:ext uri="{BB962C8B-B14F-4D97-AF65-F5344CB8AC3E}">
        <p14:creationId xmlns:p14="http://schemas.microsoft.com/office/powerpoint/2010/main" val="1563694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98"/>
        <p:cNvGrpSpPr/>
        <p:nvPr/>
      </p:nvGrpSpPr>
      <p:grpSpPr>
        <a:xfrm>
          <a:off x="0" y="0"/>
          <a:ext cx="0" cy="0"/>
          <a:chOff x="0" y="0"/>
          <a:chExt cx="0" cy="0"/>
        </a:xfrm>
      </p:grpSpPr>
      <p:sp>
        <p:nvSpPr>
          <p:cNvPr id="599" name="Google Shape;599;p89"/>
          <p:cNvSpPr txBox="1"/>
          <p:nvPr/>
        </p:nvSpPr>
        <p:spPr>
          <a:xfrm>
            <a:off x="2209800" y="159274"/>
            <a:ext cx="77724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a:solidFill>
                  <a:srgbClr val="696464"/>
                </a:solidFill>
                <a:latin typeface="Times New Roman"/>
                <a:ea typeface="Times New Roman"/>
                <a:cs typeface="Times New Roman"/>
                <a:sym typeface="Times New Roman"/>
              </a:rPr>
              <a:t>How do our brains work?</a:t>
            </a:r>
            <a:endParaRPr sz="1400" kern="0">
              <a:solidFill>
                <a:srgbClr val="000000"/>
              </a:solidFill>
              <a:latin typeface="Arial"/>
              <a:cs typeface="Arial"/>
              <a:sym typeface="Arial"/>
            </a:endParaRPr>
          </a:p>
        </p:txBody>
      </p:sp>
      <p:sp>
        <p:nvSpPr>
          <p:cNvPr id="600" name="Google Shape;600;p89"/>
          <p:cNvSpPr txBox="1"/>
          <p:nvPr/>
        </p:nvSpPr>
        <p:spPr>
          <a:xfrm>
            <a:off x="1752600" y="762002"/>
            <a:ext cx="8686800" cy="525401"/>
          </a:xfrm>
          <a:prstGeom prst="rect">
            <a:avLst/>
          </a:prstGeom>
          <a:noFill/>
          <a:ln>
            <a:noFill/>
          </a:ln>
        </p:spPr>
        <p:txBody>
          <a:bodyPr spcFirstLastPara="1" wrap="square" lIns="90000" tIns="46800" rIns="90000" bIns="46800" anchor="t" anchorCtr="0">
            <a:spAutoFit/>
          </a:bodyPr>
          <a:lstStyle/>
          <a:p>
            <a:pPr marL="271456" indent="-271456" algn="ctr" defTabSz="1219170">
              <a:buClr>
                <a:srgbClr val="D34817"/>
              </a:buClr>
              <a:buSzPts val="2380"/>
              <a:buFont typeface="Noto Sans Symbols"/>
              <a:buChar char="▪"/>
            </a:pPr>
            <a:r>
              <a:rPr lang="en-GB" sz="2800" kern="0">
                <a:solidFill>
                  <a:srgbClr val="000000"/>
                </a:solidFill>
                <a:latin typeface="Libre Baskerville"/>
                <a:ea typeface="Libre Baskerville"/>
                <a:cs typeface="Libre Baskerville"/>
                <a:sym typeface="Libre Baskerville"/>
              </a:rPr>
              <a:t>A processing element</a:t>
            </a:r>
            <a:endParaRPr sz="1400" kern="0">
              <a:solidFill>
                <a:srgbClr val="000000"/>
              </a:solidFill>
              <a:latin typeface="Arial"/>
              <a:cs typeface="Arial"/>
              <a:sym typeface="Arial"/>
            </a:endParaRPr>
          </a:p>
        </p:txBody>
      </p:sp>
      <p:pic>
        <p:nvPicPr>
          <p:cNvPr id="601" name="Google Shape;601;p89"/>
          <p:cNvPicPr preferRelativeResize="0"/>
          <p:nvPr/>
        </p:nvPicPr>
        <p:blipFill rotWithShape="1">
          <a:blip r:embed="rId3">
            <a:alphaModFix/>
          </a:blip>
          <a:srcRect/>
          <a:stretch/>
        </p:blipFill>
        <p:spPr>
          <a:xfrm>
            <a:off x="3124200" y="1295400"/>
            <a:ext cx="6324600" cy="4038600"/>
          </a:xfrm>
          <a:prstGeom prst="rect">
            <a:avLst/>
          </a:prstGeom>
          <a:noFill/>
          <a:ln>
            <a:noFill/>
          </a:ln>
        </p:spPr>
      </p:pic>
      <p:sp>
        <p:nvSpPr>
          <p:cNvPr id="602" name="Google Shape;602;p89"/>
          <p:cNvSpPr txBox="1"/>
          <p:nvPr/>
        </p:nvSpPr>
        <p:spPr>
          <a:xfrm>
            <a:off x="1905000" y="5105402"/>
            <a:ext cx="8305800" cy="1202510"/>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2400"/>
            </a:pPr>
            <a:r>
              <a:rPr lang="en-GB" sz="2400" kern="0">
                <a:solidFill>
                  <a:srgbClr val="000000"/>
                </a:solidFill>
                <a:latin typeface="Times New Roman"/>
                <a:ea typeface="Times New Roman"/>
                <a:cs typeface="Times New Roman"/>
                <a:sym typeface="Times New Roman"/>
              </a:rPr>
              <a:t>Once input exceeds a critical level, the neuron discharges a spike ‐ an electrical pulse that travels from the body, down the axon, to the next neuron(s)</a:t>
            </a:r>
            <a:endParaRPr sz="1400" kern="0">
              <a:solidFill>
                <a:srgbClr val="000000"/>
              </a:solidFill>
              <a:latin typeface="Arial"/>
              <a:cs typeface="Arial"/>
              <a:sym typeface="Arial"/>
            </a:endParaRPr>
          </a:p>
        </p:txBody>
      </p:sp>
      <p:sp>
        <p:nvSpPr>
          <p:cNvPr id="2" name="Date Placeholder 1">
            <a:extLst>
              <a:ext uri="{FF2B5EF4-FFF2-40B4-BE49-F238E27FC236}">
                <a16:creationId xmlns:a16="http://schemas.microsoft.com/office/drawing/2014/main" id="{83D1603A-E6E4-01C1-90C1-E28273D1E037}"/>
              </a:ext>
            </a:extLst>
          </p:cNvPr>
          <p:cNvSpPr>
            <a:spLocks noGrp="1"/>
          </p:cNvSpPr>
          <p:nvPr>
            <p:ph type="dt" sz="half" idx="10"/>
          </p:nvPr>
        </p:nvSpPr>
        <p:spPr/>
        <p:txBody>
          <a:bodyPr/>
          <a:lstStyle/>
          <a:p>
            <a:pPr defTabSz="1219170">
              <a:buClr>
                <a:srgbClr val="000000"/>
              </a:buClr>
            </a:pPr>
            <a:fld id="{CF90FD78-23DC-44DD-A4E6-DDBA8E69ED0A}"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B845DFE9-5C6D-3BE7-6389-8BD08922DB72}"/>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11</a:t>
            </a:fld>
            <a:endParaRPr lang="en-US" kern="0" dirty="0">
              <a:latin typeface="Arial"/>
              <a:cs typeface="Arial"/>
              <a:sym typeface="Arial"/>
            </a:endParaRPr>
          </a:p>
        </p:txBody>
      </p:sp>
    </p:spTree>
    <p:extLst>
      <p:ext uri="{BB962C8B-B14F-4D97-AF65-F5344CB8AC3E}">
        <p14:creationId xmlns:p14="http://schemas.microsoft.com/office/powerpoint/2010/main" val="32984324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6"/>
        <p:cNvGrpSpPr/>
        <p:nvPr/>
      </p:nvGrpSpPr>
      <p:grpSpPr>
        <a:xfrm>
          <a:off x="0" y="0"/>
          <a:ext cx="0" cy="0"/>
          <a:chOff x="0" y="0"/>
          <a:chExt cx="0" cy="0"/>
        </a:xfrm>
      </p:grpSpPr>
      <p:sp>
        <p:nvSpPr>
          <p:cNvPr id="607" name="Google Shape;607;p90"/>
          <p:cNvSpPr txBox="1"/>
          <p:nvPr/>
        </p:nvSpPr>
        <p:spPr>
          <a:xfrm>
            <a:off x="2209800" y="159274"/>
            <a:ext cx="77724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a:solidFill>
                  <a:srgbClr val="696464"/>
                </a:solidFill>
                <a:latin typeface="Times New Roman"/>
                <a:ea typeface="Times New Roman"/>
                <a:cs typeface="Times New Roman"/>
                <a:sym typeface="Times New Roman"/>
              </a:rPr>
              <a:t>How do our brains work?</a:t>
            </a:r>
            <a:endParaRPr sz="1400" kern="0">
              <a:solidFill>
                <a:srgbClr val="000000"/>
              </a:solidFill>
              <a:latin typeface="Arial"/>
              <a:cs typeface="Arial"/>
              <a:sym typeface="Arial"/>
            </a:endParaRPr>
          </a:p>
        </p:txBody>
      </p:sp>
      <p:sp>
        <p:nvSpPr>
          <p:cNvPr id="608" name="Google Shape;608;p90"/>
          <p:cNvSpPr txBox="1"/>
          <p:nvPr/>
        </p:nvSpPr>
        <p:spPr>
          <a:xfrm>
            <a:off x="1752600" y="762002"/>
            <a:ext cx="8686800" cy="525401"/>
          </a:xfrm>
          <a:prstGeom prst="rect">
            <a:avLst/>
          </a:prstGeom>
          <a:noFill/>
          <a:ln>
            <a:noFill/>
          </a:ln>
        </p:spPr>
        <p:txBody>
          <a:bodyPr spcFirstLastPara="1" wrap="square" lIns="90000" tIns="46800" rIns="90000" bIns="46800" anchor="t" anchorCtr="0">
            <a:spAutoFit/>
          </a:bodyPr>
          <a:lstStyle/>
          <a:p>
            <a:pPr marL="271456" indent="-271456" algn="ctr" defTabSz="1219170">
              <a:buClr>
                <a:srgbClr val="D34817"/>
              </a:buClr>
              <a:buSzPts val="2380"/>
              <a:buFont typeface="Noto Sans Symbols"/>
              <a:buChar char="▪"/>
            </a:pPr>
            <a:r>
              <a:rPr lang="en-GB" sz="2800" kern="0">
                <a:solidFill>
                  <a:srgbClr val="000000"/>
                </a:solidFill>
                <a:latin typeface="Libre Baskerville"/>
                <a:ea typeface="Libre Baskerville"/>
                <a:cs typeface="Libre Baskerville"/>
                <a:sym typeface="Libre Baskerville"/>
              </a:rPr>
              <a:t>A processing element</a:t>
            </a:r>
            <a:endParaRPr sz="1400" kern="0">
              <a:solidFill>
                <a:srgbClr val="000000"/>
              </a:solidFill>
              <a:latin typeface="Arial"/>
              <a:cs typeface="Arial"/>
              <a:sym typeface="Arial"/>
            </a:endParaRPr>
          </a:p>
        </p:txBody>
      </p:sp>
      <p:pic>
        <p:nvPicPr>
          <p:cNvPr id="609" name="Google Shape;609;p90"/>
          <p:cNvPicPr preferRelativeResize="0"/>
          <p:nvPr/>
        </p:nvPicPr>
        <p:blipFill rotWithShape="1">
          <a:blip r:embed="rId3">
            <a:alphaModFix/>
          </a:blip>
          <a:srcRect/>
          <a:stretch/>
        </p:blipFill>
        <p:spPr>
          <a:xfrm>
            <a:off x="3124200" y="1295400"/>
            <a:ext cx="6324600" cy="4038600"/>
          </a:xfrm>
          <a:prstGeom prst="rect">
            <a:avLst/>
          </a:prstGeom>
          <a:noFill/>
          <a:ln>
            <a:noFill/>
          </a:ln>
        </p:spPr>
      </p:pic>
      <p:sp>
        <p:nvSpPr>
          <p:cNvPr id="610" name="Google Shape;610;p90"/>
          <p:cNvSpPr txBox="1"/>
          <p:nvPr/>
        </p:nvSpPr>
        <p:spPr>
          <a:xfrm>
            <a:off x="1905000" y="5105401"/>
            <a:ext cx="8305800" cy="833178"/>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2400"/>
            </a:pPr>
            <a:r>
              <a:rPr lang="en-GB" sz="2400" kern="0">
                <a:solidFill>
                  <a:srgbClr val="000000"/>
                </a:solidFill>
                <a:latin typeface="Times New Roman"/>
                <a:ea typeface="Times New Roman"/>
                <a:cs typeface="Times New Roman"/>
                <a:sym typeface="Times New Roman"/>
              </a:rPr>
              <a:t>The axon endings almost touch the dendrites or cell body of the next neuron.</a:t>
            </a:r>
            <a:endParaRPr sz="1400" kern="0">
              <a:solidFill>
                <a:srgbClr val="000000"/>
              </a:solidFill>
              <a:latin typeface="Arial"/>
              <a:cs typeface="Arial"/>
              <a:sym typeface="Arial"/>
            </a:endParaRPr>
          </a:p>
        </p:txBody>
      </p:sp>
      <p:sp>
        <p:nvSpPr>
          <p:cNvPr id="2" name="Date Placeholder 1">
            <a:extLst>
              <a:ext uri="{FF2B5EF4-FFF2-40B4-BE49-F238E27FC236}">
                <a16:creationId xmlns:a16="http://schemas.microsoft.com/office/drawing/2014/main" id="{279EB1A4-52CA-62DF-7941-D15B8C69E6F3}"/>
              </a:ext>
            </a:extLst>
          </p:cNvPr>
          <p:cNvSpPr>
            <a:spLocks noGrp="1"/>
          </p:cNvSpPr>
          <p:nvPr>
            <p:ph type="dt" sz="half" idx="10"/>
          </p:nvPr>
        </p:nvSpPr>
        <p:spPr/>
        <p:txBody>
          <a:bodyPr/>
          <a:lstStyle/>
          <a:p>
            <a:pPr defTabSz="1219170">
              <a:buClr>
                <a:srgbClr val="000000"/>
              </a:buClr>
            </a:pPr>
            <a:fld id="{0A56A92C-0F5F-4BC8-972D-3E812FB50C2E}"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A9F30B0C-C8BE-E48F-8F7D-A6A52145B03F}"/>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12</a:t>
            </a:fld>
            <a:endParaRPr lang="en-US" kern="0" dirty="0">
              <a:latin typeface="Arial"/>
              <a:cs typeface="Arial"/>
              <a:sym typeface="Arial"/>
            </a:endParaRPr>
          </a:p>
        </p:txBody>
      </p:sp>
    </p:spTree>
    <p:extLst>
      <p:ext uri="{BB962C8B-B14F-4D97-AF65-F5344CB8AC3E}">
        <p14:creationId xmlns:p14="http://schemas.microsoft.com/office/powerpoint/2010/main" val="323718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91"/>
          <p:cNvSpPr txBox="1"/>
          <p:nvPr/>
        </p:nvSpPr>
        <p:spPr>
          <a:xfrm>
            <a:off x="2209800" y="159274"/>
            <a:ext cx="77724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a:solidFill>
                  <a:srgbClr val="696464"/>
                </a:solidFill>
                <a:latin typeface="Times New Roman"/>
                <a:ea typeface="Times New Roman"/>
                <a:cs typeface="Times New Roman"/>
                <a:sym typeface="Times New Roman"/>
              </a:rPr>
              <a:t>How do our brains work?</a:t>
            </a:r>
            <a:endParaRPr sz="1400" kern="0">
              <a:solidFill>
                <a:srgbClr val="000000"/>
              </a:solidFill>
              <a:latin typeface="Arial"/>
              <a:cs typeface="Arial"/>
              <a:sym typeface="Arial"/>
            </a:endParaRPr>
          </a:p>
        </p:txBody>
      </p:sp>
      <p:sp>
        <p:nvSpPr>
          <p:cNvPr id="616" name="Google Shape;616;p91"/>
          <p:cNvSpPr txBox="1"/>
          <p:nvPr/>
        </p:nvSpPr>
        <p:spPr>
          <a:xfrm>
            <a:off x="1752600" y="762002"/>
            <a:ext cx="8686800" cy="525401"/>
          </a:xfrm>
          <a:prstGeom prst="rect">
            <a:avLst/>
          </a:prstGeom>
          <a:noFill/>
          <a:ln>
            <a:noFill/>
          </a:ln>
        </p:spPr>
        <p:txBody>
          <a:bodyPr spcFirstLastPara="1" wrap="square" lIns="90000" tIns="46800" rIns="90000" bIns="46800" anchor="t" anchorCtr="0">
            <a:spAutoFit/>
          </a:bodyPr>
          <a:lstStyle/>
          <a:p>
            <a:pPr marL="271456" indent="-271456" algn="ctr" defTabSz="1219170">
              <a:buClr>
                <a:srgbClr val="D34817"/>
              </a:buClr>
              <a:buSzPts val="2380"/>
              <a:buFont typeface="Noto Sans Symbols"/>
              <a:buChar char="▪"/>
            </a:pPr>
            <a:r>
              <a:rPr lang="en-GB" sz="2800" kern="0">
                <a:solidFill>
                  <a:srgbClr val="000000"/>
                </a:solidFill>
                <a:latin typeface="Libre Baskerville"/>
                <a:ea typeface="Libre Baskerville"/>
                <a:cs typeface="Libre Baskerville"/>
                <a:sym typeface="Libre Baskerville"/>
              </a:rPr>
              <a:t>A processing element</a:t>
            </a:r>
            <a:endParaRPr sz="1400" kern="0">
              <a:solidFill>
                <a:srgbClr val="000000"/>
              </a:solidFill>
              <a:latin typeface="Arial"/>
              <a:cs typeface="Arial"/>
              <a:sym typeface="Arial"/>
            </a:endParaRPr>
          </a:p>
        </p:txBody>
      </p:sp>
      <p:pic>
        <p:nvPicPr>
          <p:cNvPr id="617" name="Google Shape;617;p91"/>
          <p:cNvPicPr preferRelativeResize="0"/>
          <p:nvPr/>
        </p:nvPicPr>
        <p:blipFill rotWithShape="1">
          <a:blip r:embed="rId3">
            <a:alphaModFix/>
          </a:blip>
          <a:srcRect/>
          <a:stretch/>
        </p:blipFill>
        <p:spPr>
          <a:xfrm>
            <a:off x="3124200" y="1295400"/>
            <a:ext cx="6324600" cy="4038600"/>
          </a:xfrm>
          <a:prstGeom prst="rect">
            <a:avLst/>
          </a:prstGeom>
          <a:noFill/>
          <a:ln>
            <a:noFill/>
          </a:ln>
        </p:spPr>
      </p:pic>
      <p:sp>
        <p:nvSpPr>
          <p:cNvPr id="618" name="Google Shape;618;p91"/>
          <p:cNvSpPr txBox="1"/>
          <p:nvPr/>
        </p:nvSpPr>
        <p:spPr>
          <a:xfrm>
            <a:off x="1905000" y="5105401"/>
            <a:ext cx="8305800" cy="833178"/>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2400"/>
            </a:pPr>
            <a:r>
              <a:rPr lang="en-GB" sz="2400" kern="0">
                <a:solidFill>
                  <a:srgbClr val="000000"/>
                </a:solidFill>
                <a:latin typeface="Times New Roman"/>
                <a:ea typeface="Times New Roman"/>
                <a:cs typeface="Times New Roman"/>
                <a:sym typeface="Times New Roman"/>
              </a:rPr>
              <a:t>Transmission of an electrical signal from one neuron to the next is effected by neurotransmitters.</a:t>
            </a:r>
            <a:endParaRPr sz="1400" kern="0">
              <a:solidFill>
                <a:srgbClr val="000000"/>
              </a:solidFill>
              <a:latin typeface="Arial"/>
              <a:cs typeface="Arial"/>
              <a:sym typeface="Arial"/>
            </a:endParaRPr>
          </a:p>
        </p:txBody>
      </p:sp>
      <p:sp>
        <p:nvSpPr>
          <p:cNvPr id="2" name="Date Placeholder 1">
            <a:extLst>
              <a:ext uri="{FF2B5EF4-FFF2-40B4-BE49-F238E27FC236}">
                <a16:creationId xmlns:a16="http://schemas.microsoft.com/office/drawing/2014/main" id="{7E27FC0D-EBB2-9DF5-F899-88BB747F83FC}"/>
              </a:ext>
            </a:extLst>
          </p:cNvPr>
          <p:cNvSpPr>
            <a:spLocks noGrp="1"/>
          </p:cNvSpPr>
          <p:nvPr>
            <p:ph type="dt" sz="half" idx="10"/>
          </p:nvPr>
        </p:nvSpPr>
        <p:spPr/>
        <p:txBody>
          <a:bodyPr/>
          <a:lstStyle/>
          <a:p>
            <a:pPr defTabSz="1219170">
              <a:buClr>
                <a:srgbClr val="000000"/>
              </a:buClr>
            </a:pPr>
            <a:fld id="{1BED09E7-1762-40D4-9A4F-E99D6CDF3AA8}"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569070F3-E19E-F2E7-B1B3-C34778867BF1}"/>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13</a:t>
            </a:fld>
            <a:endParaRPr lang="en-US" kern="0" dirty="0">
              <a:latin typeface="Arial"/>
              <a:cs typeface="Arial"/>
              <a:sym typeface="Arial"/>
            </a:endParaRPr>
          </a:p>
        </p:txBody>
      </p:sp>
    </p:spTree>
    <p:extLst>
      <p:ext uri="{BB962C8B-B14F-4D97-AF65-F5344CB8AC3E}">
        <p14:creationId xmlns:p14="http://schemas.microsoft.com/office/powerpoint/2010/main" val="2512684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22"/>
        <p:cNvGrpSpPr/>
        <p:nvPr/>
      </p:nvGrpSpPr>
      <p:grpSpPr>
        <a:xfrm>
          <a:off x="0" y="0"/>
          <a:ext cx="0" cy="0"/>
          <a:chOff x="0" y="0"/>
          <a:chExt cx="0" cy="0"/>
        </a:xfrm>
      </p:grpSpPr>
      <p:sp>
        <p:nvSpPr>
          <p:cNvPr id="623" name="Google Shape;623;p92"/>
          <p:cNvSpPr txBox="1"/>
          <p:nvPr/>
        </p:nvSpPr>
        <p:spPr>
          <a:xfrm>
            <a:off x="2209800" y="159274"/>
            <a:ext cx="77724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a:solidFill>
                  <a:srgbClr val="696464"/>
                </a:solidFill>
                <a:latin typeface="Times New Roman"/>
                <a:ea typeface="Times New Roman"/>
                <a:cs typeface="Times New Roman"/>
                <a:sym typeface="Times New Roman"/>
              </a:rPr>
              <a:t>How do our brains work?</a:t>
            </a:r>
            <a:endParaRPr sz="1400" kern="0">
              <a:solidFill>
                <a:srgbClr val="000000"/>
              </a:solidFill>
              <a:latin typeface="Arial"/>
              <a:cs typeface="Arial"/>
              <a:sym typeface="Arial"/>
            </a:endParaRPr>
          </a:p>
        </p:txBody>
      </p:sp>
      <p:sp>
        <p:nvSpPr>
          <p:cNvPr id="624" name="Google Shape;624;p92"/>
          <p:cNvSpPr txBox="1"/>
          <p:nvPr/>
        </p:nvSpPr>
        <p:spPr>
          <a:xfrm>
            <a:off x="1752600" y="762002"/>
            <a:ext cx="8686800" cy="525401"/>
          </a:xfrm>
          <a:prstGeom prst="rect">
            <a:avLst/>
          </a:prstGeom>
          <a:noFill/>
          <a:ln>
            <a:noFill/>
          </a:ln>
        </p:spPr>
        <p:txBody>
          <a:bodyPr spcFirstLastPara="1" wrap="square" lIns="90000" tIns="46800" rIns="90000" bIns="46800" anchor="t" anchorCtr="0">
            <a:spAutoFit/>
          </a:bodyPr>
          <a:lstStyle/>
          <a:p>
            <a:pPr marL="271456" indent="-271456" algn="ctr" defTabSz="1219170">
              <a:buClr>
                <a:srgbClr val="D34817"/>
              </a:buClr>
              <a:buSzPts val="2380"/>
              <a:buFont typeface="Noto Sans Symbols"/>
              <a:buChar char="▪"/>
            </a:pPr>
            <a:r>
              <a:rPr lang="en-GB" sz="2800" kern="0">
                <a:solidFill>
                  <a:srgbClr val="000000"/>
                </a:solidFill>
                <a:latin typeface="Libre Baskerville"/>
                <a:ea typeface="Libre Baskerville"/>
                <a:cs typeface="Libre Baskerville"/>
                <a:sym typeface="Libre Baskerville"/>
              </a:rPr>
              <a:t>A processing element</a:t>
            </a:r>
            <a:endParaRPr sz="1400" kern="0">
              <a:solidFill>
                <a:srgbClr val="000000"/>
              </a:solidFill>
              <a:latin typeface="Arial"/>
              <a:cs typeface="Arial"/>
              <a:sym typeface="Arial"/>
            </a:endParaRPr>
          </a:p>
        </p:txBody>
      </p:sp>
      <p:pic>
        <p:nvPicPr>
          <p:cNvPr id="625" name="Google Shape;625;p92"/>
          <p:cNvPicPr preferRelativeResize="0"/>
          <p:nvPr/>
        </p:nvPicPr>
        <p:blipFill rotWithShape="1">
          <a:blip r:embed="rId3">
            <a:alphaModFix/>
          </a:blip>
          <a:srcRect/>
          <a:stretch/>
        </p:blipFill>
        <p:spPr>
          <a:xfrm>
            <a:off x="3124200" y="1295400"/>
            <a:ext cx="6324600" cy="4038600"/>
          </a:xfrm>
          <a:prstGeom prst="rect">
            <a:avLst/>
          </a:prstGeom>
          <a:noFill/>
          <a:ln>
            <a:noFill/>
          </a:ln>
        </p:spPr>
      </p:pic>
      <p:sp>
        <p:nvSpPr>
          <p:cNvPr id="626" name="Google Shape;626;p92"/>
          <p:cNvSpPr txBox="1"/>
          <p:nvPr/>
        </p:nvSpPr>
        <p:spPr>
          <a:xfrm>
            <a:off x="1905000" y="5105402"/>
            <a:ext cx="8305800" cy="1202510"/>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2400"/>
            </a:pPr>
            <a:r>
              <a:rPr lang="en-GB" sz="2400" kern="0">
                <a:solidFill>
                  <a:srgbClr val="000000"/>
                </a:solidFill>
                <a:latin typeface="Libre Baskerville"/>
                <a:ea typeface="Libre Baskerville"/>
                <a:cs typeface="Libre Baskerville"/>
                <a:sym typeface="Libre Baskerville"/>
              </a:rPr>
              <a:t>Neurotransmitters are chemicals which are released from the first neuron and which bind to the</a:t>
            </a:r>
            <a:endParaRPr sz="1400" kern="0">
              <a:solidFill>
                <a:srgbClr val="000000"/>
              </a:solidFill>
              <a:latin typeface="Arial"/>
              <a:cs typeface="Arial"/>
              <a:sym typeface="Arial"/>
            </a:endParaRPr>
          </a:p>
          <a:p>
            <a:pPr algn="ctr" defTabSz="1219170">
              <a:buClr>
                <a:srgbClr val="000000"/>
              </a:buClr>
              <a:buSzPts val="2400"/>
            </a:pPr>
            <a:r>
              <a:rPr lang="en-GB" sz="2400" kern="0">
                <a:solidFill>
                  <a:srgbClr val="000000"/>
                </a:solidFill>
                <a:latin typeface="Libre Baskerville"/>
                <a:ea typeface="Libre Baskerville"/>
                <a:cs typeface="Libre Baskerville"/>
                <a:sym typeface="Libre Baskerville"/>
              </a:rPr>
              <a:t>Second.</a:t>
            </a:r>
            <a:endParaRPr sz="1400" kern="0">
              <a:solidFill>
                <a:srgbClr val="000000"/>
              </a:solidFill>
              <a:latin typeface="Arial"/>
              <a:cs typeface="Arial"/>
              <a:sym typeface="Arial"/>
            </a:endParaRPr>
          </a:p>
        </p:txBody>
      </p:sp>
      <p:sp>
        <p:nvSpPr>
          <p:cNvPr id="2" name="Date Placeholder 1">
            <a:extLst>
              <a:ext uri="{FF2B5EF4-FFF2-40B4-BE49-F238E27FC236}">
                <a16:creationId xmlns:a16="http://schemas.microsoft.com/office/drawing/2014/main" id="{1D422991-98D4-6D62-F456-2923DF4296E9}"/>
              </a:ext>
            </a:extLst>
          </p:cNvPr>
          <p:cNvSpPr>
            <a:spLocks noGrp="1"/>
          </p:cNvSpPr>
          <p:nvPr>
            <p:ph type="dt" sz="half" idx="10"/>
          </p:nvPr>
        </p:nvSpPr>
        <p:spPr/>
        <p:txBody>
          <a:bodyPr/>
          <a:lstStyle/>
          <a:p>
            <a:pPr defTabSz="1219170">
              <a:buClr>
                <a:srgbClr val="000000"/>
              </a:buClr>
            </a:pPr>
            <a:fld id="{9D4F7E1B-97FD-4503-85D1-B1441359B6F0}"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594B4FCD-FC66-53EE-7AB7-C4EB607B8E6F}"/>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14</a:t>
            </a:fld>
            <a:endParaRPr lang="en-US" kern="0" dirty="0">
              <a:latin typeface="Arial"/>
              <a:cs typeface="Arial"/>
              <a:sym typeface="Arial"/>
            </a:endParaRPr>
          </a:p>
        </p:txBody>
      </p:sp>
    </p:spTree>
    <p:extLst>
      <p:ext uri="{BB962C8B-B14F-4D97-AF65-F5344CB8AC3E}">
        <p14:creationId xmlns:p14="http://schemas.microsoft.com/office/powerpoint/2010/main" val="3394942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93"/>
          <p:cNvSpPr txBox="1"/>
          <p:nvPr/>
        </p:nvSpPr>
        <p:spPr>
          <a:xfrm>
            <a:off x="2209800" y="159274"/>
            <a:ext cx="77724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a:solidFill>
                  <a:srgbClr val="696464"/>
                </a:solidFill>
                <a:latin typeface="Times New Roman"/>
                <a:ea typeface="Times New Roman"/>
                <a:cs typeface="Times New Roman"/>
                <a:sym typeface="Times New Roman"/>
              </a:rPr>
              <a:t>How do our brains work?</a:t>
            </a:r>
            <a:endParaRPr sz="1400" kern="0">
              <a:solidFill>
                <a:srgbClr val="000000"/>
              </a:solidFill>
              <a:latin typeface="Arial"/>
              <a:cs typeface="Arial"/>
              <a:sym typeface="Arial"/>
            </a:endParaRPr>
          </a:p>
        </p:txBody>
      </p:sp>
      <p:sp>
        <p:nvSpPr>
          <p:cNvPr id="632" name="Google Shape;632;p93"/>
          <p:cNvSpPr txBox="1"/>
          <p:nvPr/>
        </p:nvSpPr>
        <p:spPr>
          <a:xfrm>
            <a:off x="1752600" y="762002"/>
            <a:ext cx="8686800" cy="525401"/>
          </a:xfrm>
          <a:prstGeom prst="rect">
            <a:avLst/>
          </a:prstGeom>
          <a:noFill/>
          <a:ln>
            <a:noFill/>
          </a:ln>
        </p:spPr>
        <p:txBody>
          <a:bodyPr spcFirstLastPara="1" wrap="square" lIns="90000" tIns="46800" rIns="90000" bIns="46800" anchor="t" anchorCtr="0">
            <a:spAutoFit/>
          </a:bodyPr>
          <a:lstStyle/>
          <a:p>
            <a:pPr marL="271456" indent="-271456" algn="ctr" defTabSz="1219170">
              <a:buClr>
                <a:srgbClr val="D34817"/>
              </a:buClr>
              <a:buSzPts val="2380"/>
              <a:buFont typeface="Noto Sans Symbols"/>
              <a:buChar char="▪"/>
            </a:pPr>
            <a:r>
              <a:rPr lang="en-GB" sz="2800" kern="0">
                <a:solidFill>
                  <a:srgbClr val="000000"/>
                </a:solidFill>
                <a:latin typeface="Libre Baskerville"/>
                <a:ea typeface="Libre Baskerville"/>
                <a:cs typeface="Libre Baskerville"/>
                <a:sym typeface="Libre Baskerville"/>
              </a:rPr>
              <a:t>A processing element</a:t>
            </a:r>
            <a:endParaRPr sz="1400" kern="0">
              <a:solidFill>
                <a:srgbClr val="000000"/>
              </a:solidFill>
              <a:latin typeface="Arial"/>
              <a:cs typeface="Arial"/>
              <a:sym typeface="Arial"/>
            </a:endParaRPr>
          </a:p>
        </p:txBody>
      </p:sp>
      <p:pic>
        <p:nvPicPr>
          <p:cNvPr id="633" name="Google Shape;633;p93"/>
          <p:cNvPicPr preferRelativeResize="0"/>
          <p:nvPr/>
        </p:nvPicPr>
        <p:blipFill rotWithShape="1">
          <a:blip r:embed="rId3">
            <a:alphaModFix/>
          </a:blip>
          <a:srcRect/>
          <a:stretch/>
        </p:blipFill>
        <p:spPr>
          <a:xfrm>
            <a:off x="3124200" y="1295400"/>
            <a:ext cx="6324600" cy="4038600"/>
          </a:xfrm>
          <a:prstGeom prst="rect">
            <a:avLst/>
          </a:prstGeom>
          <a:noFill/>
          <a:ln>
            <a:noFill/>
          </a:ln>
        </p:spPr>
      </p:pic>
      <p:sp>
        <p:nvSpPr>
          <p:cNvPr id="634" name="Google Shape;634;p93"/>
          <p:cNvSpPr txBox="1"/>
          <p:nvPr/>
        </p:nvSpPr>
        <p:spPr>
          <a:xfrm>
            <a:off x="1905000" y="5048251"/>
            <a:ext cx="8305800" cy="1202510"/>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2400"/>
            </a:pPr>
            <a:r>
              <a:rPr lang="en-GB" sz="2400" kern="0">
                <a:solidFill>
                  <a:srgbClr val="000000"/>
                </a:solidFill>
                <a:latin typeface="Times New Roman"/>
                <a:ea typeface="Times New Roman"/>
                <a:cs typeface="Times New Roman"/>
                <a:sym typeface="Times New Roman"/>
              </a:rPr>
              <a:t>This link is called a synapse. The strength of the signal that reaches the next neuron depends on factors such as the amount of neurotransmitter available.</a:t>
            </a:r>
            <a:endParaRPr sz="1400" kern="0">
              <a:solidFill>
                <a:srgbClr val="000000"/>
              </a:solidFill>
              <a:latin typeface="Arial"/>
              <a:cs typeface="Arial"/>
              <a:sym typeface="Arial"/>
            </a:endParaRPr>
          </a:p>
        </p:txBody>
      </p:sp>
      <p:sp>
        <p:nvSpPr>
          <p:cNvPr id="2" name="Date Placeholder 1">
            <a:extLst>
              <a:ext uri="{FF2B5EF4-FFF2-40B4-BE49-F238E27FC236}">
                <a16:creationId xmlns:a16="http://schemas.microsoft.com/office/drawing/2014/main" id="{F097BCDC-DCEB-FABF-AC02-B91937718B84}"/>
              </a:ext>
            </a:extLst>
          </p:cNvPr>
          <p:cNvSpPr>
            <a:spLocks noGrp="1"/>
          </p:cNvSpPr>
          <p:nvPr>
            <p:ph type="dt" sz="half" idx="10"/>
          </p:nvPr>
        </p:nvSpPr>
        <p:spPr/>
        <p:txBody>
          <a:bodyPr/>
          <a:lstStyle/>
          <a:p>
            <a:pPr defTabSz="1219170">
              <a:buClr>
                <a:srgbClr val="000000"/>
              </a:buClr>
            </a:pPr>
            <a:fld id="{5F782240-AE81-4252-82FF-9E55E303A0FB}"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190467D8-24DE-27A3-1F8C-F66B262529D8}"/>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15</a:t>
            </a:fld>
            <a:endParaRPr lang="en-US" kern="0" dirty="0">
              <a:latin typeface="Arial"/>
              <a:cs typeface="Arial"/>
              <a:sym typeface="Arial"/>
            </a:endParaRPr>
          </a:p>
        </p:txBody>
      </p:sp>
    </p:spTree>
    <p:extLst>
      <p:ext uri="{BB962C8B-B14F-4D97-AF65-F5344CB8AC3E}">
        <p14:creationId xmlns:p14="http://schemas.microsoft.com/office/powerpoint/2010/main" val="2603745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84"/>
          <p:cNvSpPr txBox="1"/>
          <p:nvPr/>
        </p:nvSpPr>
        <p:spPr>
          <a:xfrm>
            <a:off x="1166091" y="186983"/>
            <a:ext cx="77724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dirty="0">
                <a:solidFill>
                  <a:srgbClr val="696464"/>
                </a:solidFill>
                <a:latin typeface="Times New Roman"/>
                <a:ea typeface="Times New Roman"/>
                <a:cs typeface="Times New Roman"/>
                <a:sym typeface="Times New Roman"/>
              </a:rPr>
              <a:t>How do ANNs work?</a:t>
            </a:r>
            <a:endParaRPr sz="1400" kern="0" dirty="0">
              <a:solidFill>
                <a:srgbClr val="000000"/>
              </a:solidFill>
              <a:latin typeface="Arial"/>
              <a:cs typeface="Arial"/>
              <a:sym typeface="Arial"/>
            </a:endParaRPr>
          </a:p>
        </p:txBody>
      </p:sp>
      <p:sp>
        <p:nvSpPr>
          <p:cNvPr id="562" name="Google Shape;562;p84"/>
          <p:cNvSpPr txBox="1"/>
          <p:nvPr/>
        </p:nvSpPr>
        <p:spPr>
          <a:xfrm>
            <a:off x="1066799" y="1082966"/>
            <a:ext cx="10654147" cy="2879892"/>
          </a:xfrm>
          <a:prstGeom prst="rect">
            <a:avLst/>
          </a:prstGeom>
          <a:noFill/>
          <a:ln>
            <a:noFill/>
          </a:ln>
        </p:spPr>
        <p:txBody>
          <a:bodyPr spcFirstLastPara="1" wrap="square" lIns="90000" tIns="46800" rIns="90000" bIns="46800" anchor="t" anchorCtr="0">
            <a:spAutoFit/>
          </a:bodyPr>
          <a:lstStyle/>
          <a:p>
            <a:pPr marL="271456" indent="-271456" defTabSz="1219170">
              <a:buClr>
                <a:srgbClr val="D34817"/>
              </a:buClr>
              <a:buSzPts val="2040"/>
              <a:buFont typeface="Noto Sans Symbols"/>
              <a:buChar char="⚫"/>
            </a:pPr>
            <a:r>
              <a:rPr lang="en-GB" sz="2400" kern="0" dirty="0">
                <a:solidFill>
                  <a:srgbClr val="000000"/>
                </a:solidFill>
                <a:latin typeface="Times New Roman"/>
                <a:ea typeface="Times New Roman"/>
                <a:cs typeface="Times New Roman"/>
                <a:sym typeface="Times New Roman"/>
              </a:rPr>
              <a:t>An artificial neural network (ANN) is either a </a:t>
            </a:r>
            <a:r>
              <a:rPr lang="en-GB" sz="2800" kern="0" dirty="0">
                <a:solidFill>
                  <a:srgbClr val="0070C0"/>
                </a:solidFill>
                <a:latin typeface="Times New Roman"/>
                <a:ea typeface="Times New Roman"/>
                <a:cs typeface="Times New Roman"/>
                <a:sym typeface="Times New Roman"/>
              </a:rPr>
              <a:t>hardware</a:t>
            </a:r>
            <a:r>
              <a:rPr lang="en-GB" sz="2800" b="1" kern="0" dirty="0">
                <a:solidFill>
                  <a:srgbClr val="0070C0"/>
                </a:solidFill>
                <a:latin typeface="Times New Roman"/>
                <a:ea typeface="Times New Roman"/>
                <a:cs typeface="Times New Roman"/>
                <a:sym typeface="Times New Roman"/>
              </a:rPr>
              <a:t> </a:t>
            </a:r>
            <a:r>
              <a:rPr lang="en-GB" sz="2800" kern="0" dirty="0">
                <a:solidFill>
                  <a:srgbClr val="0070C0"/>
                </a:solidFill>
                <a:latin typeface="Times New Roman"/>
                <a:ea typeface="Times New Roman"/>
                <a:cs typeface="Times New Roman"/>
                <a:sym typeface="Times New Roman"/>
              </a:rPr>
              <a:t>implementation</a:t>
            </a:r>
            <a:r>
              <a:rPr lang="en-GB" sz="2400" kern="0" dirty="0">
                <a:solidFill>
                  <a:srgbClr val="000000"/>
                </a:solidFill>
                <a:latin typeface="Times New Roman"/>
                <a:ea typeface="Times New Roman"/>
                <a:cs typeface="Times New Roman"/>
                <a:sym typeface="Times New Roman"/>
              </a:rPr>
              <a:t> or a </a:t>
            </a:r>
            <a:r>
              <a:rPr lang="en-GB" sz="2800" kern="0" dirty="0">
                <a:solidFill>
                  <a:srgbClr val="0070C0"/>
                </a:solidFill>
                <a:latin typeface="Times New Roman"/>
                <a:ea typeface="Times New Roman"/>
                <a:cs typeface="Times New Roman"/>
                <a:sym typeface="Times New Roman"/>
              </a:rPr>
              <a:t>computer program </a:t>
            </a:r>
            <a:r>
              <a:rPr lang="en-GB" sz="2400" kern="0" dirty="0">
                <a:solidFill>
                  <a:srgbClr val="000000"/>
                </a:solidFill>
                <a:latin typeface="Times New Roman"/>
                <a:ea typeface="Times New Roman"/>
                <a:cs typeface="Times New Roman"/>
                <a:sym typeface="Times New Roman"/>
              </a:rPr>
              <a:t>which strives to simulate the information processing capabilities of its biological exemplar. ANNs are typically composed of a great number of interconnected artificial neurons. The artificial neurons are simplified models of their biological counterparts.</a:t>
            </a:r>
            <a:endParaRPr sz="1400" kern="0" dirty="0">
              <a:solidFill>
                <a:srgbClr val="000000"/>
              </a:solidFill>
              <a:latin typeface="Arial"/>
              <a:cs typeface="Arial"/>
              <a:sym typeface="Arial"/>
            </a:endParaRPr>
          </a:p>
          <a:p>
            <a:pPr marL="271456" indent="-271456" defTabSz="1219170">
              <a:spcBef>
                <a:spcPts val="575"/>
              </a:spcBef>
              <a:buClr>
                <a:srgbClr val="D34817"/>
              </a:buClr>
              <a:buSzPts val="2040"/>
              <a:buFont typeface="Noto Sans Symbols"/>
              <a:buChar char="⚫"/>
            </a:pPr>
            <a:r>
              <a:rPr lang="en-GB" sz="2400" kern="0" dirty="0">
                <a:solidFill>
                  <a:srgbClr val="000000"/>
                </a:solidFill>
                <a:latin typeface="Times New Roman"/>
                <a:ea typeface="Times New Roman"/>
                <a:cs typeface="Times New Roman"/>
                <a:sym typeface="Times New Roman"/>
              </a:rPr>
              <a:t>ANN is a technique for solving problems by constructing software that works like our brains. </a:t>
            </a:r>
            <a:endParaRPr sz="1400" kern="0" dirty="0">
              <a:solidFill>
                <a:srgbClr val="000000"/>
              </a:solidFill>
              <a:latin typeface="Arial"/>
              <a:cs typeface="Arial"/>
              <a:sym typeface="Arial"/>
            </a:endParaRPr>
          </a:p>
        </p:txBody>
      </p:sp>
      <p:pic>
        <p:nvPicPr>
          <p:cNvPr id="563" name="Google Shape;563;p84"/>
          <p:cNvPicPr preferRelativeResize="0"/>
          <p:nvPr/>
        </p:nvPicPr>
        <p:blipFill rotWithShape="1">
          <a:blip r:embed="rId3">
            <a:alphaModFix/>
          </a:blip>
          <a:srcRect/>
          <a:stretch/>
        </p:blipFill>
        <p:spPr>
          <a:xfrm>
            <a:off x="5362353" y="3764516"/>
            <a:ext cx="4419600" cy="2514600"/>
          </a:xfrm>
          <a:prstGeom prst="rect">
            <a:avLst/>
          </a:prstGeom>
          <a:noFill/>
          <a:ln>
            <a:noFill/>
          </a:ln>
        </p:spPr>
      </p:pic>
      <p:sp>
        <p:nvSpPr>
          <p:cNvPr id="2" name="Date Placeholder 1">
            <a:extLst>
              <a:ext uri="{FF2B5EF4-FFF2-40B4-BE49-F238E27FC236}">
                <a16:creationId xmlns:a16="http://schemas.microsoft.com/office/drawing/2014/main" id="{AF7D9E1F-EA4D-AA9C-1DBD-CC2AB90C8009}"/>
              </a:ext>
            </a:extLst>
          </p:cNvPr>
          <p:cNvSpPr>
            <a:spLocks noGrp="1"/>
          </p:cNvSpPr>
          <p:nvPr>
            <p:ph type="dt" sz="half" idx="10"/>
          </p:nvPr>
        </p:nvSpPr>
        <p:spPr/>
        <p:txBody>
          <a:bodyPr/>
          <a:lstStyle/>
          <a:p>
            <a:pPr defTabSz="1219170">
              <a:buClr>
                <a:srgbClr val="000000"/>
              </a:buClr>
            </a:pPr>
            <a:fld id="{EC05FA0C-3B5D-4422-AF25-8E57C55251B7}"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D72B2D6C-1DCB-DB0A-5BBA-D6916BC21D93}"/>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16</a:t>
            </a:fld>
            <a:endParaRPr lang="en-US" kern="0" dirty="0">
              <a:latin typeface="Arial"/>
              <a:cs typeface="Arial"/>
              <a:sym typeface="Arial"/>
            </a:endParaRPr>
          </a:p>
        </p:txBody>
      </p:sp>
    </p:spTree>
    <p:extLst>
      <p:ext uri="{BB962C8B-B14F-4D97-AF65-F5344CB8AC3E}">
        <p14:creationId xmlns:p14="http://schemas.microsoft.com/office/powerpoint/2010/main" val="23125724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94"/>
          <p:cNvSpPr txBox="1"/>
          <p:nvPr/>
        </p:nvSpPr>
        <p:spPr>
          <a:xfrm>
            <a:off x="2209800" y="159274"/>
            <a:ext cx="77724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a:solidFill>
                  <a:srgbClr val="696464"/>
                </a:solidFill>
                <a:latin typeface="Times New Roman"/>
                <a:ea typeface="Times New Roman"/>
                <a:cs typeface="Times New Roman"/>
                <a:sym typeface="Times New Roman"/>
              </a:rPr>
              <a:t>How do ANNs work?</a:t>
            </a:r>
            <a:endParaRPr sz="1400" kern="0">
              <a:solidFill>
                <a:srgbClr val="000000"/>
              </a:solidFill>
              <a:latin typeface="Arial"/>
              <a:cs typeface="Arial"/>
              <a:sym typeface="Arial"/>
            </a:endParaRPr>
          </a:p>
        </p:txBody>
      </p:sp>
      <p:pic>
        <p:nvPicPr>
          <p:cNvPr id="640" name="Google Shape;640;p94"/>
          <p:cNvPicPr preferRelativeResize="0"/>
          <p:nvPr/>
        </p:nvPicPr>
        <p:blipFill rotWithShape="1">
          <a:blip r:embed="rId3">
            <a:alphaModFix/>
          </a:blip>
          <a:srcRect/>
          <a:stretch/>
        </p:blipFill>
        <p:spPr>
          <a:xfrm>
            <a:off x="1699492" y="990601"/>
            <a:ext cx="8054109" cy="4953001"/>
          </a:xfrm>
          <a:prstGeom prst="rect">
            <a:avLst/>
          </a:prstGeom>
          <a:noFill/>
          <a:ln>
            <a:noFill/>
          </a:ln>
        </p:spPr>
      </p:pic>
      <p:sp>
        <p:nvSpPr>
          <p:cNvPr id="641" name="Google Shape;641;p94"/>
          <p:cNvSpPr txBox="1"/>
          <p:nvPr/>
        </p:nvSpPr>
        <p:spPr>
          <a:xfrm>
            <a:off x="2133600" y="5943602"/>
            <a:ext cx="7848600" cy="463846"/>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2400"/>
            </a:pPr>
            <a:r>
              <a:rPr lang="en-GB" sz="2400" kern="0">
                <a:solidFill>
                  <a:srgbClr val="000000"/>
                </a:solidFill>
                <a:latin typeface="Times New Roman"/>
                <a:ea typeface="Times New Roman"/>
                <a:cs typeface="Times New Roman"/>
                <a:sym typeface="Times New Roman"/>
              </a:rPr>
              <a:t>An artificial neuron is an imitation of a human neuron</a:t>
            </a:r>
            <a:endParaRPr sz="1400" kern="0">
              <a:solidFill>
                <a:srgbClr val="000000"/>
              </a:solidFill>
              <a:latin typeface="Arial"/>
              <a:cs typeface="Arial"/>
              <a:sym typeface="Arial"/>
            </a:endParaRPr>
          </a:p>
        </p:txBody>
      </p:sp>
      <p:sp>
        <p:nvSpPr>
          <p:cNvPr id="2" name="Date Placeholder 1">
            <a:extLst>
              <a:ext uri="{FF2B5EF4-FFF2-40B4-BE49-F238E27FC236}">
                <a16:creationId xmlns:a16="http://schemas.microsoft.com/office/drawing/2014/main" id="{D280259B-EEA8-711B-E783-0EFC9787C48B}"/>
              </a:ext>
            </a:extLst>
          </p:cNvPr>
          <p:cNvSpPr>
            <a:spLocks noGrp="1"/>
          </p:cNvSpPr>
          <p:nvPr>
            <p:ph type="dt" sz="half" idx="10"/>
          </p:nvPr>
        </p:nvSpPr>
        <p:spPr/>
        <p:txBody>
          <a:bodyPr/>
          <a:lstStyle/>
          <a:p>
            <a:pPr defTabSz="1219170">
              <a:buClr>
                <a:srgbClr val="000000"/>
              </a:buClr>
            </a:pPr>
            <a:fld id="{75C1EED3-EA34-4D86-81B0-E76760B889D2}"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A845F5BD-A35B-9486-0B28-601BB3FD3584}"/>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17</a:t>
            </a:fld>
            <a:endParaRPr lang="en-US" kern="0" dirty="0">
              <a:latin typeface="Arial"/>
              <a:cs typeface="Arial"/>
              <a:sym typeface="Arial"/>
            </a:endParaRPr>
          </a:p>
        </p:txBody>
      </p:sp>
    </p:spTree>
    <p:extLst>
      <p:ext uri="{BB962C8B-B14F-4D97-AF65-F5344CB8AC3E}">
        <p14:creationId xmlns:p14="http://schemas.microsoft.com/office/powerpoint/2010/main" val="17177639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sp>
        <p:nvSpPr>
          <p:cNvPr id="646" name="Google Shape;646;p95"/>
          <p:cNvSpPr txBox="1"/>
          <p:nvPr/>
        </p:nvSpPr>
        <p:spPr>
          <a:xfrm>
            <a:off x="2209800" y="159274"/>
            <a:ext cx="77724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a:solidFill>
                  <a:srgbClr val="696464"/>
                </a:solidFill>
                <a:latin typeface="Times New Roman"/>
                <a:ea typeface="Times New Roman"/>
                <a:cs typeface="Times New Roman"/>
                <a:sym typeface="Times New Roman"/>
              </a:rPr>
              <a:t>How do ANNs work?</a:t>
            </a:r>
            <a:endParaRPr sz="1400" kern="0">
              <a:solidFill>
                <a:srgbClr val="000000"/>
              </a:solidFill>
              <a:latin typeface="Arial"/>
              <a:cs typeface="Arial"/>
              <a:sym typeface="Arial"/>
            </a:endParaRPr>
          </a:p>
        </p:txBody>
      </p:sp>
      <p:sp>
        <p:nvSpPr>
          <p:cNvPr id="647" name="Google Shape;647;p95"/>
          <p:cNvSpPr txBox="1"/>
          <p:nvPr/>
        </p:nvSpPr>
        <p:spPr>
          <a:xfrm>
            <a:off x="1600200" y="4572001"/>
            <a:ext cx="2133600" cy="586957"/>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3200"/>
            </a:pPr>
            <a:r>
              <a:rPr lang="en-GB" sz="3200" kern="0">
                <a:solidFill>
                  <a:srgbClr val="000000"/>
                </a:solidFill>
                <a:latin typeface="Times New Roman"/>
                <a:ea typeface="Times New Roman"/>
                <a:cs typeface="Times New Roman"/>
                <a:sym typeface="Times New Roman"/>
              </a:rPr>
              <a:t>Output</a:t>
            </a:r>
            <a:endParaRPr sz="1400" kern="0">
              <a:solidFill>
                <a:srgbClr val="000000"/>
              </a:solidFill>
              <a:latin typeface="Arial"/>
              <a:cs typeface="Arial"/>
              <a:sym typeface="Arial"/>
            </a:endParaRPr>
          </a:p>
        </p:txBody>
      </p:sp>
      <p:sp>
        <p:nvSpPr>
          <p:cNvPr id="648" name="Google Shape;648;p95"/>
          <p:cNvSpPr/>
          <p:nvPr/>
        </p:nvSpPr>
        <p:spPr>
          <a:xfrm>
            <a:off x="8077200" y="1371600"/>
            <a:ext cx="685800" cy="685800"/>
          </a:xfrm>
          <a:prstGeom prst="ellipse">
            <a:avLst/>
          </a:prstGeom>
          <a:solidFill>
            <a:srgbClr val="69240C"/>
          </a:solidFill>
          <a:ln w="12600" cap="flat" cmpd="sng">
            <a:solidFill>
              <a:srgbClr val="9B320E"/>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2400"/>
            </a:pPr>
            <a:r>
              <a:rPr lang="en-GB" sz="2400" kern="0">
                <a:solidFill>
                  <a:srgbClr val="FFFFFF"/>
                </a:solidFill>
                <a:latin typeface="Times New Roman"/>
                <a:ea typeface="Times New Roman"/>
                <a:cs typeface="Times New Roman"/>
                <a:sym typeface="Times New Roman"/>
              </a:rPr>
              <a:t>x</a:t>
            </a:r>
            <a:r>
              <a:rPr lang="en-GB" sz="1400" kern="0">
                <a:solidFill>
                  <a:srgbClr val="FFFFFF"/>
                </a:solidFill>
                <a:latin typeface="Times New Roman"/>
                <a:ea typeface="Times New Roman"/>
                <a:cs typeface="Times New Roman"/>
                <a:sym typeface="Times New Roman"/>
              </a:rPr>
              <a:t>1</a:t>
            </a:r>
            <a:endParaRPr sz="1400" kern="0">
              <a:solidFill>
                <a:srgbClr val="000000"/>
              </a:solidFill>
              <a:latin typeface="Arial"/>
              <a:cs typeface="Arial"/>
              <a:sym typeface="Arial"/>
            </a:endParaRPr>
          </a:p>
        </p:txBody>
      </p:sp>
      <p:sp>
        <p:nvSpPr>
          <p:cNvPr id="649" name="Google Shape;649;p95"/>
          <p:cNvSpPr/>
          <p:nvPr/>
        </p:nvSpPr>
        <p:spPr>
          <a:xfrm>
            <a:off x="5715000" y="1371600"/>
            <a:ext cx="685800" cy="685800"/>
          </a:xfrm>
          <a:prstGeom prst="ellipse">
            <a:avLst/>
          </a:prstGeom>
          <a:solidFill>
            <a:srgbClr val="69240C"/>
          </a:solidFill>
          <a:ln w="12600" cap="flat" cmpd="sng">
            <a:solidFill>
              <a:srgbClr val="69240C"/>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2400"/>
            </a:pPr>
            <a:r>
              <a:rPr lang="en-GB" sz="2400" kern="0">
                <a:solidFill>
                  <a:srgbClr val="FFFFFF"/>
                </a:solidFill>
                <a:latin typeface="Times New Roman"/>
                <a:ea typeface="Times New Roman"/>
                <a:cs typeface="Times New Roman"/>
                <a:sym typeface="Times New Roman"/>
              </a:rPr>
              <a:t>x</a:t>
            </a:r>
            <a:r>
              <a:rPr lang="en-GB" sz="1400" kern="0">
                <a:solidFill>
                  <a:srgbClr val="FFFFFF"/>
                </a:solidFill>
                <a:latin typeface="Times New Roman"/>
                <a:ea typeface="Times New Roman"/>
                <a:cs typeface="Times New Roman"/>
                <a:sym typeface="Times New Roman"/>
              </a:rPr>
              <a:t>2</a:t>
            </a:r>
            <a:endParaRPr sz="1400" kern="0">
              <a:solidFill>
                <a:srgbClr val="000000"/>
              </a:solidFill>
              <a:latin typeface="Arial"/>
              <a:cs typeface="Arial"/>
              <a:sym typeface="Arial"/>
            </a:endParaRPr>
          </a:p>
        </p:txBody>
      </p:sp>
      <p:sp>
        <p:nvSpPr>
          <p:cNvPr id="650" name="Google Shape;650;p95"/>
          <p:cNvSpPr/>
          <p:nvPr/>
        </p:nvSpPr>
        <p:spPr>
          <a:xfrm>
            <a:off x="3352800" y="1371600"/>
            <a:ext cx="685800" cy="685800"/>
          </a:xfrm>
          <a:prstGeom prst="ellipse">
            <a:avLst/>
          </a:prstGeom>
          <a:solidFill>
            <a:srgbClr val="69240C"/>
          </a:solidFill>
          <a:ln w="12600" cap="flat" cmpd="sng">
            <a:solidFill>
              <a:srgbClr val="69240C"/>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2400"/>
            </a:pPr>
            <a:r>
              <a:rPr lang="en-GB" sz="2400" kern="0">
                <a:solidFill>
                  <a:srgbClr val="FFFFFF"/>
                </a:solidFill>
                <a:latin typeface="Times New Roman"/>
                <a:ea typeface="Times New Roman"/>
                <a:cs typeface="Times New Roman"/>
                <a:sym typeface="Times New Roman"/>
              </a:rPr>
              <a:t>x</a:t>
            </a:r>
            <a:r>
              <a:rPr lang="en-GB" sz="1400" kern="0">
                <a:solidFill>
                  <a:srgbClr val="FFFFFF"/>
                </a:solidFill>
                <a:latin typeface="Times New Roman"/>
                <a:ea typeface="Times New Roman"/>
                <a:cs typeface="Times New Roman"/>
                <a:sym typeface="Times New Roman"/>
              </a:rPr>
              <a:t>m</a:t>
            </a:r>
            <a:endParaRPr sz="1400" kern="0">
              <a:solidFill>
                <a:srgbClr val="000000"/>
              </a:solidFill>
              <a:latin typeface="Arial"/>
              <a:cs typeface="Arial"/>
              <a:sym typeface="Arial"/>
            </a:endParaRPr>
          </a:p>
        </p:txBody>
      </p:sp>
      <p:sp>
        <p:nvSpPr>
          <p:cNvPr id="651" name="Google Shape;651;p95"/>
          <p:cNvSpPr/>
          <p:nvPr/>
        </p:nvSpPr>
        <p:spPr>
          <a:xfrm>
            <a:off x="5715000" y="2743200"/>
            <a:ext cx="685800" cy="685800"/>
          </a:xfrm>
          <a:prstGeom prst="ellipse">
            <a:avLst/>
          </a:prstGeom>
          <a:solidFill>
            <a:srgbClr val="742217"/>
          </a:solidFill>
          <a:ln w="12600" cap="flat" cmpd="sng">
            <a:solidFill>
              <a:srgbClr val="4E1610"/>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3200"/>
            </a:pPr>
            <a:r>
              <a:rPr lang="en-GB" sz="3200" kern="0">
                <a:solidFill>
                  <a:srgbClr val="FFFFFF"/>
                </a:solidFill>
                <a:latin typeface="Libre Baskerville"/>
                <a:ea typeface="Libre Baskerville"/>
                <a:cs typeface="Libre Baskerville"/>
                <a:sym typeface="Libre Baskerville"/>
              </a:rPr>
              <a:t>∑</a:t>
            </a:r>
            <a:endParaRPr sz="1400" kern="0">
              <a:solidFill>
                <a:srgbClr val="000000"/>
              </a:solidFill>
              <a:latin typeface="Arial"/>
              <a:cs typeface="Arial"/>
              <a:sym typeface="Arial"/>
            </a:endParaRPr>
          </a:p>
        </p:txBody>
      </p:sp>
      <p:sp>
        <p:nvSpPr>
          <p:cNvPr id="652" name="Google Shape;652;p95"/>
          <p:cNvSpPr/>
          <p:nvPr/>
        </p:nvSpPr>
        <p:spPr>
          <a:xfrm>
            <a:off x="5715000" y="4572000"/>
            <a:ext cx="685800" cy="685800"/>
          </a:xfrm>
          <a:prstGeom prst="ellipse">
            <a:avLst/>
          </a:prstGeom>
          <a:solidFill>
            <a:srgbClr val="7C6B4D"/>
          </a:solidFill>
          <a:ln w="12600" cap="flat" cmpd="sng">
            <a:solidFill>
              <a:srgbClr val="534733"/>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3600"/>
            </a:pPr>
            <a:r>
              <a:rPr lang="en-GB" sz="3600" kern="0">
                <a:solidFill>
                  <a:srgbClr val="FFFFFF"/>
                </a:solidFill>
                <a:latin typeface="Libre Baskerville"/>
                <a:ea typeface="Libre Baskerville"/>
                <a:cs typeface="Libre Baskerville"/>
                <a:sym typeface="Libre Baskerville"/>
              </a:rPr>
              <a:t>y</a:t>
            </a:r>
            <a:endParaRPr sz="1400" kern="0">
              <a:solidFill>
                <a:srgbClr val="000000"/>
              </a:solidFill>
              <a:latin typeface="Arial"/>
              <a:cs typeface="Arial"/>
              <a:sym typeface="Arial"/>
            </a:endParaRPr>
          </a:p>
        </p:txBody>
      </p:sp>
      <p:sp>
        <p:nvSpPr>
          <p:cNvPr id="653" name="Google Shape;653;p95"/>
          <p:cNvSpPr txBox="1"/>
          <p:nvPr/>
        </p:nvSpPr>
        <p:spPr>
          <a:xfrm>
            <a:off x="1600200" y="2743202"/>
            <a:ext cx="2209800" cy="586957"/>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3200"/>
            </a:pPr>
            <a:r>
              <a:rPr lang="en-GB" sz="3200" kern="0">
                <a:solidFill>
                  <a:srgbClr val="000000"/>
                </a:solidFill>
                <a:latin typeface="Times New Roman"/>
                <a:ea typeface="Times New Roman"/>
                <a:cs typeface="Times New Roman"/>
                <a:sym typeface="Times New Roman"/>
              </a:rPr>
              <a:t>Processing</a:t>
            </a:r>
            <a:endParaRPr sz="1400" kern="0">
              <a:solidFill>
                <a:srgbClr val="000000"/>
              </a:solidFill>
              <a:latin typeface="Arial"/>
              <a:cs typeface="Arial"/>
              <a:sym typeface="Arial"/>
            </a:endParaRPr>
          </a:p>
        </p:txBody>
      </p:sp>
      <p:sp>
        <p:nvSpPr>
          <p:cNvPr id="654" name="Google Shape;654;p95"/>
          <p:cNvSpPr txBox="1"/>
          <p:nvPr/>
        </p:nvSpPr>
        <p:spPr>
          <a:xfrm>
            <a:off x="1600200" y="1447801"/>
            <a:ext cx="1828800" cy="586957"/>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3200"/>
            </a:pPr>
            <a:r>
              <a:rPr lang="en-GB" sz="3200" kern="0">
                <a:solidFill>
                  <a:srgbClr val="000000"/>
                </a:solidFill>
                <a:latin typeface="Times New Roman"/>
                <a:ea typeface="Times New Roman"/>
                <a:cs typeface="Times New Roman"/>
                <a:sym typeface="Times New Roman"/>
              </a:rPr>
              <a:t>Input</a:t>
            </a:r>
            <a:endParaRPr sz="1400" kern="0">
              <a:solidFill>
                <a:srgbClr val="000000"/>
              </a:solidFill>
              <a:latin typeface="Arial"/>
              <a:cs typeface="Arial"/>
              <a:sym typeface="Arial"/>
            </a:endParaRPr>
          </a:p>
        </p:txBody>
      </p:sp>
      <p:sp>
        <p:nvSpPr>
          <p:cNvPr id="655" name="Google Shape;655;p95"/>
          <p:cNvSpPr/>
          <p:nvPr/>
        </p:nvSpPr>
        <p:spPr>
          <a:xfrm>
            <a:off x="6629402" y="3073402"/>
            <a:ext cx="4093085" cy="586957"/>
          </a:xfrm>
          <a:prstGeom prst="rect">
            <a:avLst/>
          </a:prstGeom>
          <a:solidFill>
            <a:srgbClr val="EF8C6A"/>
          </a:solidFill>
          <a:ln>
            <a:noFill/>
          </a:ln>
        </p:spPr>
        <p:txBody>
          <a:bodyPr spcFirstLastPara="1" wrap="square" lIns="90000" tIns="46800" rIns="90000" bIns="46800" anchor="t" anchorCtr="0">
            <a:noAutofit/>
          </a:bodyPr>
          <a:lstStyle/>
          <a:p>
            <a:pPr defTabSz="1219170">
              <a:buClr>
                <a:srgbClr val="000000"/>
              </a:buClr>
              <a:buSzPts val="3200"/>
            </a:pPr>
            <a:r>
              <a:rPr lang="en-GB" sz="3200" kern="0">
                <a:solidFill>
                  <a:srgbClr val="000000"/>
                </a:solidFill>
                <a:latin typeface="Times New Roman"/>
                <a:ea typeface="Times New Roman"/>
                <a:cs typeface="Times New Roman"/>
                <a:sym typeface="Times New Roman"/>
              </a:rPr>
              <a:t>∑= </a:t>
            </a:r>
            <a:r>
              <a:rPr lang="en-GB" sz="3200" kern="0">
                <a:solidFill>
                  <a:srgbClr val="000000"/>
                </a:solidFill>
                <a:latin typeface="Libre Baskerville"/>
                <a:ea typeface="Libre Baskerville"/>
                <a:cs typeface="Libre Baskerville"/>
                <a:sym typeface="Libre Baskerville"/>
              </a:rPr>
              <a:t>X</a:t>
            </a:r>
            <a:r>
              <a:rPr lang="en-GB" sz="3200" kern="0" baseline="-25000">
                <a:solidFill>
                  <a:srgbClr val="000000"/>
                </a:solidFill>
                <a:latin typeface="Libre Baskerville"/>
                <a:ea typeface="Libre Baskerville"/>
                <a:cs typeface="Libre Baskerville"/>
                <a:sym typeface="Libre Baskerville"/>
              </a:rPr>
              <a:t>1</a:t>
            </a:r>
            <a:r>
              <a:rPr lang="en-GB" sz="3200" kern="0">
                <a:solidFill>
                  <a:srgbClr val="000000"/>
                </a:solidFill>
                <a:latin typeface="Libre Baskerville"/>
                <a:ea typeface="Libre Baskerville"/>
                <a:cs typeface="Libre Baskerville"/>
                <a:sym typeface="Libre Baskerville"/>
              </a:rPr>
              <a:t>+X</a:t>
            </a:r>
            <a:r>
              <a:rPr lang="en-GB" sz="3200" kern="0" baseline="-25000">
                <a:solidFill>
                  <a:srgbClr val="000000"/>
                </a:solidFill>
                <a:latin typeface="Libre Baskerville"/>
                <a:ea typeface="Libre Baskerville"/>
                <a:cs typeface="Libre Baskerville"/>
                <a:sym typeface="Libre Baskerville"/>
              </a:rPr>
              <a:t>2</a:t>
            </a:r>
            <a:r>
              <a:rPr lang="en-GB" sz="3200" kern="0">
                <a:solidFill>
                  <a:srgbClr val="000000"/>
                </a:solidFill>
                <a:latin typeface="Libre Baskerville"/>
                <a:ea typeface="Libre Baskerville"/>
                <a:cs typeface="Libre Baskerville"/>
                <a:sym typeface="Libre Baskerville"/>
              </a:rPr>
              <a:t> + ….+X</a:t>
            </a:r>
            <a:r>
              <a:rPr lang="en-GB" sz="3200" kern="0" baseline="-25000">
                <a:solidFill>
                  <a:srgbClr val="000000"/>
                </a:solidFill>
                <a:latin typeface="Libre Baskerville"/>
                <a:ea typeface="Libre Baskerville"/>
                <a:cs typeface="Libre Baskerville"/>
                <a:sym typeface="Libre Baskerville"/>
              </a:rPr>
              <a:t>m</a:t>
            </a:r>
            <a:r>
              <a:rPr lang="en-GB" sz="3200" kern="0">
                <a:solidFill>
                  <a:srgbClr val="000000"/>
                </a:solidFill>
                <a:latin typeface="Libre Baskerville"/>
                <a:ea typeface="Libre Baskerville"/>
                <a:cs typeface="Libre Baskerville"/>
                <a:sym typeface="Libre Baskerville"/>
              </a:rPr>
              <a:t> =y</a:t>
            </a:r>
            <a:endParaRPr sz="1400" kern="0">
              <a:solidFill>
                <a:srgbClr val="000000"/>
              </a:solidFill>
              <a:latin typeface="Arial"/>
              <a:cs typeface="Arial"/>
              <a:sym typeface="Arial"/>
            </a:endParaRPr>
          </a:p>
        </p:txBody>
      </p:sp>
      <p:cxnSp>
        <p:nvCxnSpPr>
          <p:cNvPr id="656" name="Google Shape;656;p95"/>
          <p:cNvCxnSpPr>
            <a:stCxn id="651" idx="2"/>
            <a:endCxn id="652" idx="0"/>
          </p:cNvCxnSpPr>
          <p:nvPr/>
        </p:nvCxnSpPr>
        <p:spPr>
          <a:xfrm>
            <a:off x="5715001" y="3086101"/>
            <a:ext cx="342900" cy="1485900"/>
          </a:xfrm>
          <a:prstGeom prst="straightConnector1">
            <a:avLst/>
          </a:prstGeom>
          <a:noFill/>
          <a:ln w="9525" cap="flat" cmpd="sng">
            <a:solidFill>
              <a:srgbClr val="AF3408"/>
            </a:solidFill>
            <a:prstDash val="solid"/>
            <a:miter lim="800000"/>
            <a:headEnd type="none" w="med" len="med"/>
            <a:tailEnd type="triangle" w="med" len="med"/>
          </a:ln>
        </p:spPr>
      </p:cxnSp>
      <p:cxnSp>
        <p:nvCxnSpPr>
          <p:cNvPr id="657" name="Google Shape;657;p95"/>
          <p:cNvCxnSpPr/>
          <p:nvPr/>
        </p:nvCxnSpPr>
        <p:spPr>
          <a:xfrm flipH="1">
            <a:off x="6399215" y="1957388"/>
            <a:ext cx="1779587" cy="1128712"/>
          </a:xfrm>
          <a:prstGeom prst="straightConnector1">
            <a:avLst/>
          </a:prstGeom>
          <a:noFill/>
          <a:ln w="9525" cap="flat" cmpd="sng">
            <a:solidFill>
              <a:srgbClr val="AF3408"/>
            </a:solidFill>
            <a:prstDash val="solid"/>
            <a:miter lim="800000"/>
            <a:headEnd type="none" w="med" len="med"/>
            <a:tailEnd type="none" w="med" len="med"/>
          </a:ln>
        </p:spPr>
      </p:cxnSp>
      <p:cxnSp>
        <p:nvCxnSpPr>
          <p:cNvPr id="658" name="Google Shape;658;p95"/>
          <p:cNvCxnSpPr/>
          <p:nvPr/>
        </p:nvCxnSpPr>
        <p:spPr>
          <a:xfrm flipH="1">
            <a:off x="6054726" y="2058988"/>
            <a:ext cx="6351" cy="685800"/>
          </a:xfrm>
          <a:prstGeom prst="straightConnector1">
            <a:avLst/>
          </a:prstGeom>
          <a:noFill/>
          <a:ln w="9525" cap="flat" cmpd="sng">
            <a:solidFill>
              <a:srgbClr val="AF3408"/>
            </a:solidFill>
            <a:prstDash val="solid"/>
            <a:miter lim="800000"/>
            <a:headEnd type="none" w="med" len="med"/>
            <a:tailEnd type="none" w="med" len="med"/>
          </a:ln>
        </p:spPr>
      </p:cxnSp>
      <p:cxnSp>
        <p:nvCxnSpPr>
          <p:cNvPr id="659" name="Google Shape;659;p95"/>
          <p:cNvCxnSpPr/>
          <p:nvPr/>
        </p:nvCxnSpPr>
        <p:spPr>
          <a:xfrm>
            <a:off x="4038600" y="1828801"/>
            <a:ext cx="1676400" cy="1257300"/>
          </a:xfrm>
          <a:prstGeom prst="straightConnector1">
            <a:avLst/>
          </a:prstGeom>
          <a:noFill/>
          <a:ln w="9525" cap="flat" cmpd="sng">
            <a:solidFill>
              <a:srgbClr val="AF3408"/>
            </a:solidFill>
            <a:prstDash val="solid"/>
            <a:miter lim="800000"/>
            <a:headEnd type="none" w="med" len="med"/>
            <a:tailEnd type="none" w="med" len="med"/>
          </a:ln>
        </p:spPr>
      </p:cxnSp>
      <p:sp>
        <p:nvSpPr>
          <p:cNvPr id="660" name="Google Shape;660;p95"/>
          <p:cNvSpPr txBox="1"/>
          <p:nvPr/>
        </p:nvSpPr>
        <p:spPr>
          <a:xfrm>
            <a:off x="4191000" y="1458916"/>
            <a:ext cx="1447800" cy="648512"/>
          </a:xfrm>
          <a:prstGeom prst="rect">
            <a:avLst/>
          </a:prstGeom>
          <a:noFill/>
          <a:ln>
            <a:noFill/>
          </a:ln>
        </p:spPr>
        <p:txBody>
          <a:bodyPr spcFirstLastPara="1" wrap="square" lIns="90000" tIns="46800" rIns="90000" bIns="46800" anchor="t" anchorCtr="0">
            <a:spAutoFit/>
          </a:bodyPr>
          <a:lstStyle/>
          <a:p>
            <a:pPr defTabSz="1219170">
              <a:buClr>
                <a:srgbClr val="000000"/>
              </a:buClr>
              <a:buSzPts val="1800"/>
            </a:pPr>
            <a:r>
              <a:rPr lang="en-GB" kern="0">
                <a:solidFill>
                  <a:srgbClr val="000000"/>
                </a:solidFill>
                <a:latin typeface="Libre Baskerville"/>
                <a:ea typeface="Libre Baskerville"/>
                <a:cs typeface="Libre Baskerville"/>
                <a:sym typeface="Libre Baskerville"/>
              </a:rPr>
              <a:t>. . . . . . . . . . . . </a:t>
            </a:r>
            <a:endParaRPr sz="1400" kern="0">
              <a:solidFill>
                <a:srgbClr val="000000"/>
              </a:solidFill>
              <a:latin typeface="Arial"/>
              <a:cs typeface="Arial"/>
              <a:sym typeface="Arial"/>
            </a:endParaRPr>
          </a:p>
        </p:txBody>
      </p:sp>
      <p:sp>
        <p:nvSpPr>
          <p:cNvPr id="2" name="Date Placeholder 1">
            <a:extLst>
              <a:ext uri="{FF2B5EF4-FFF2-40B4-BE49-F238E27FC236}">
                <a16:creationId xmlns:a16="http://schemas.microsoft.com/office/drawing/2014/main" id="{A173D661-4E5D-3D21-DC52-86D9E8C8EAC2}"/>
              </a:ext>
            </a:extLst>
          </p:cNvPr>
          <p:cNvSpPr>
            <a:spLocks noGrp="1"/>
          </p:cNvSpPr>
          <p:nvPr>
            <p:ph type="dt" sz="half" idx="10"/>
          </p:nvPr>
        </p:nvSpPr>
        <p:spPr/>
        <p:txBody>
          <a:bodyPr/>
          <a:lstStyle/>
          <a:p>
            <a:pPr defTabSz="1219170">
              <a:buClr>
                <a:srgbClr val="000000"/>
              </a:buClr>
            </a:pPr>
            <a:fld id="{DCDECC1A-DF48-4626-85E8-D1ED23C4ACE2}"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6FA1DE05-7B74-3AD5-812E-024CA21A7EFD}"/>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18</a:t>
            </a:fld>
            <a:endParaRPr lang="en-US" kern="0" dirty="0">
              <a:latin typeface="Arial"/>
              <a:cs typeface="Arial"/>
              <a:sym typeface="Arial"/>
            </a:endParaRPr>
          </a:p>
        </p:txBody>
      </p:sp>
    </p:spTree>
    <p:extLst>
      <p:ext uri="{BB962C8B-B14F-4D97-AF65-F5344CB8AC3E}">
        <p14:creationId xmlns:p14="http://schemas.microsoft.com/office/powerpoint/2010/main" val="191460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96"/>
          <p:cNvSpPr txBox="1"/>
          <p:nvPr/>
        </p:nvSpPr>
        <p:spPr>
          <a:xfrm>
            <a:off x="2209800" y="159274"/>
            <a:ext cx="77724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a:solidFill>
                  <a:srgbClr val="696464"/>
                </a:solidFill>
                <a:latin typeface="Times New Roman"/>
                <a:ea typeface="Times New Roman"/>
                <a:cs typeface="Times New Roman"/>
                <a:sym typeface="Times New Roman"/>
              </a:rPr>
              <a:t>How do ANNs work?</a:t>
            </a:r>
            <a:endParaRPr sz="1400" kern="0">
              <a:solidFill>
                <a:srgbClr val="000000"/>
              </a:solidFill>
              <a:latin typeface="Arial"/>
              <a:cs typeface="Arial"/>
              <a:sym typeface="Arial"/>
            </a:endParaRPr>
          </a:p>
        </p:txBody>
      </p:sp>
      <p:sp>
        <p:nvSpPr>
          <p:cNvPr id="666" name="Google Shape;666;p96"/>
          <p:cNvSpPr txBox="1"/>
          <p:nvPr/>
        </p:nvSpPr>
        <p:spPr>
          <a:xfrm>
            <a:off x="3657600" y="863602"/>
            <a:ext cx="4648200" cy="586957"/>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3200"/>
            </a:pPr>
            <a:r>
              <a:rPr lang="en-GB" sz="3200" kern="0">
                <a:solidFill>
                  <a:srgbClr val="000000"/>
                </a:solidFill>
                <a:latin typeface="Times New Roman"/>
                <a:ea typeface="Times New Roman"/>
                <a:cs typeface="Times New Roman"/>
                <a:sym typeface="Times New Roman"/>
              </a:rPr>
              <a:t>Not all inputs are equal</a:t>
            </a:r>
            <a:endParaRPr sz="1400" kern="0">
              <a:solidFill>
                <a:srgbClr val="000000"/>
              </a:solidFill>
              <a:latin typeface="Arial"/>
              <a:cs typeface="Arial"/>
              <a:sym typeface="Arial"/>
            </a:endParaRPr>
          </a:p>
        </p:txBody>
      </p:sp>
      <p:sp>
        <p:nvSpPr>
          <p:cNvPr id="667" name="Google Shape;667;p96"/>
          <p:cNvSpPr txBox="1"/>
          <p:nvPr/>
        </p:nvSpPr>
        <p:spPr>
          <a:xfrm>
            <a:off x="1524000" y="5305425"/>
            <a:ext cx="2133600" cy="586957"/>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3200"/>
            </a:pPr>
            <a:r>
              <a:rPr lang="en-GB" sz="3200" kern="0">
                <a:solidFill>
                  <a:srgbClr val="000000"/>
                </a:solidFill>
                <a:latin typeface="Times New Roman"/>
                <a:ea typeface="Times New Roman"/>
                <a:cs typeface="Times New Roman"/>
                <a:sym typeface="Times New Roman"/>
              </a:rPr>
              <a:t>Output</a:t>
            </a:r>
            <a:endParaRPr sz="1400" kern="0">
              <a:solidFill>
                <a:srgbClr val="000000"/>
              </a:solidFill>
              <a:latin typeface="Arial"/>
              <a:cs typeface="Arial"/>
              <a:sym typeface="Arial"/>
            </a:endParaRPr>
          </a:p>
        </p:txBody>
      </p:sp>
      <p:sp>
        <p:nvSpPr>
          <p:cNvPr id="668" name="Google Shape;668;p96"/>
          <p:cNvSpPr/>
          <p:nvPr/>
        </p:nvSpPr>
        <p:spPr>
          <a:xfrm>
            <a:off x="8001000" y="1447800"/>
            <a:ext cx="685800" cy="685800"/>
          </a:xfrm>
          <a:prstGeom prst="ellipse">
            <a:avLst/>
          </a:prstGeom>
          <a:solidFill>
            <a:srgbClr val="69240C"/>
          </a:solidFill>
          <a:ln w="12600" cap="flat" cmpd="sng">
            <a:solidFill>
              <a:srgbClr val="9B320E"/>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2400"/>
            </a:pPr>
            <a:r>
              <a:rPr lang="en-GB" sz="2400" kern="0">
                <a:solidFill>
                  <a:srgbClr val="FFFFFF"/>
                </a:solidFill>
                <a:latin typeface="Times New Roman"/>
                <a:ea typeface="Times New Roman"/>
                <a:cs typeface="Times New Roman"/>
                <a:sym typeface="Times New Roman"/>
              </a:rPr>
              <a:t>x</a:t>
            </a:r>
            <a:r>
              <a:rPr lang="en-GB" sz="1400" kern="0">
                <a:solidFill>
                  <a:srgbClr val="FFFFFF"/>
                </a:solidFill>
                <a:latin typeface="Times New Roman"/>
                <a:ea typeface="Times New Roman"/>
                <a:cs typeface="Times New Roman"/>
                <a:sym typeface="Times New Roman"/>
              </a:rPr>
              <a:t>1</a:t>
            </a:r>
            <a:endParaRPr sz="1400" kern="0">
              <a:solidFill>
                <a:srgbClr val="000000"/>
              </a:solidFill>
              <a:latin typeface="Arial"/>
              <a:cs typeface="Arial"/>
              <a:sym typeface="Arial"/>
            </a:endParaRPr>
          </a:p>
        </p:txBody>
      </p:sp>
      <p:sp>
        <p:nvSpPr>
          <p:cNvPr id="669" name="Google Shape;669;p96"/>
          <p:cNvSpPr/>
          <p:nvPr/>
        </p:nvSpPr>
        <p:spPr>
          <a:xfrm>
            <a:off x="5638800" y="1447800"/>
            <a:ext cx="685800" cy="685800"/>
          </a:xfrm>
          <a:prstGeom prst="ellipse">
            <a:avLst/>
          </a:prstGeom>
          <a:solidFill>
            <a:srgbClr val="69240C"/>
          </a:solidFill>
          <a:ln w="12600" cap="flat" cmpd="sng">
            <a:solidFill>
              <a:srgbClr val="69240C"/>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2400"/>
            </a:pPr>
            <a:r>
              <a:rPr lang="en-GB" sz="2400" kern="0">
                <a:solidFill>
                  <a:srgbClr val="FFFFFF"/>
                </a:solidFill>
                <a:latin typeface="Times New Roman"/>
                <a:ea typeface="Times New Roman"/>
                <a:cs typeface="Times New Roman"/>
                <a:sym typeface="Times New Roman"/>
              </a:rPr>
              <a:t>x</a:t>
            </a:r>
            <a:r>
              <a:rPr lang="en-GB" sz="1400" kern="0">
                <a:solidFill>
                  <a:srgbClr val="FFFFFF"/>
                </a:solidFill>
                <a:latin typeface="Times New Roman"/>
                <a:ea typeface="Times New Roman"/>
                <a:cs typeface="Times New Roman"/>
                <a:sym typeface="Times New Roman"/>
              </a:rPr>
              <a:t>2</a:t>
            </a:r>
            <a:endParaRPr sz="1400" kern="0">
              <a:solidFill>
                <a:srgbClr val="000000"/>
              </a:solidFill>
              <a:latin typeface="Arial"/>
              <a:cs typeface="Arial"/>
              <a:sym typeface="Arial"/>
            </a:endParaRPr>
          </a:p>
        </p:txBody>
      </p:sp>
      <p:sp>
        <p:nvSpPr>
          <p:cNvPr id="670" name="Google Shape;670;p96"/>
          <p:cNvSpPr/>
          <p:nvPr/>
        </p:nvSpPr>
        <p:spPr>
          <a:xfrm>
            <a:off x="3276600" y="1447800"/>
            <a:ext cx="685800" cy="685800"/>
          </a:xfrm>
          <a:prstGeom prst="ellipse">
            <a:avLst/>
          </a:prstGeom>
          <a:solidFill>
            <a:srgbClr val="69240C"/>
          </a:solidFill>
          <a:ln w="12600" cap="flat" cmpd="sng">
            <a:solidFill>
              <a:srgbClr val="69240C"/>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2400"/>
            </a:pPr>
            <a:r>
              <a:rPr lang="en-GB" sz="2400" kern="0">
                <a:solidFill>
                  <a:srgbClr val="FFFFFF"/>
                </a:solidFill>
                <a:latin typeface="Times New Roman"/>
                <a:ea typeface="Times New Roman"/>
                <a:cs typeface="Times New Roman"/>
                <a:sym typeface="Times New Roman"/>
              </a:rPr>
              <a:t>x</a:t>
            </a:r>
            <a:r>
              <a:rPr lang="en-GB" sz="1400" kern="0">
                <a:solidFill>
                  <a:srgbClr val="FFFFFF"/>
                </a:solidFill>
                <a:latin typeface="Times New Roman"/>
                <a:ea typeface="Times New Roman"/>
                <a:cs typeface="Times New Roman"/>
                <a:sym typeface="Times New Roman"/>
              </a:rPr>
              <a:t>m</a:t>
            </a:r>
            <a:endParaRPr sz="1400" kern="0">
              <a:solidFill>
                <a:srgbClr val="000000"/>
              </a:solidFill>
              <a:latin typeface="Arial"/>
              <a:cs typeface="Arial"/>
              <a:sym typeface="Arial"/>
            </a:endParaRPr>
          </a:p>
        </p:txBody>
      </p:sp>
      <p:sp>
        <p:nvSpPr>
          <p:cNvPr id="671" name="Google Shape;671;p96"/>
          <p:cNvSpPr/>
          <p:nvPr/>
        </p:nvSpPr>
        <p:spPr>
          <a:xfrm>
            <a:off x="5638800" y="3476625"/>
            <a:ext cx="685800" cy="685800"/>
          </a:xfrm>
          <a:prstGeom prst="ellipse">
            <a:avLst/>
          </a:prstGeom>
          <a:solidFill>
            <a:srgbClr val="742217"/>
          </a:solidFill>
          <a:ln w="12600" cap="flat" cmpd="sng">
            <a:solidFill>
              <a:srgbClr val="4E1610"/>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3200"/>
            </a:pPr>
            <a:r>
              <a:rPr lang="en-GB" sz="3200" kern="0">
                <a:solidFill>
                  <a:srgbClr val="FFFFFF"/>
                </a:solidFill>
                <a:latin typeface="Libre Baskerville"/>
                <a:ea typeface="Libre Baskerville"/>
                <a:cs typeface="Libre Baskerville"/>
                <a:sym typeface="Libre Baskerville"/>
              </a:rPr>
              <a:t>∑</a:t>
            </a:r>
            <a:endParaRPr sz="1400" kern="0">
              <a:solidFill>
                <a:srgbClr val="000000"/>
              </a:solidFill>
              <a:latin typeface="Arial"/>
              <a:cs typeface="Arial"/>
              <a:sym typeface="Arial"/>
            </a:endParaRPr>
          </a:p>
        </p:txBody>
      </p:sp>
      <p:sp>
        <p:nvSpPr>
          <p:cNvPr id="672" name="Google Shape;672;p96"/>
          <p:cNvSpPr/>
          <p:nvPr/>
        </p:nvSpPr>
        <p:spPr>
          <a:xfrm>
            <a:off x="5638800" y="5305425"/>
            <a:ext cx="685800" cy="685800"/>
          </a:xfrm>
          <a:prstGeom prst="ellipse">
            <a:avLst/>
          </a:prstGeom>
          <a:solidFill>
            <a:srgbClr val="7C6B4D"/>
          </a:solidFill>
          <a:ln w="12600" cap="flat" cmpd="sng">
            <a:solidFill>
              <a:srgbClr val="534733"/>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3600"/>
            </a:pPr>
            <a:r>
              <a:rPr lang="en-GB" sz="3600" kern="0">
                <a:solidFill>
                  <a:srgbClr val="FFFFFF"/>
                </a:solidFill>
                <a:latin typeface="Libre Baskerville"/>
                <a:ea typeface="Libre Baskerville"/>
                <a:cs typeface="Libre Baskerville"/>
                <a:sym typeface="Libre Baskerville"/>
              </a:rPr>
              <a:t>y</a:t>
            </a:r>
            <a:endParaRPr sz="1400" kern="0">
              <a:solidFill>
                <a:srgbClr val="000000"/>
              </a:solidFill>
              <a:latin typeface="Arial"/>
              <a:cs typeface="Arial"/>
              <a:sym typeface="Arial"/>
            </a:endParaRPr>
          </a:p>
        </p:txBody>
      </p:sp>
      <p:sp>
        <p:nvSpPr>
          <p:cNvPr id="673" name="Google Shape;673;p96"/>
          <p:cNvSpPr txBox="1"/>
          <p:nvPr/>
        </p:nvSpPr>
        <p:spPr>
          <a:xfrm>
            <a:off x="1524000" y="3476626"/>
            <a:ext cx="2209800" cy="586957"/>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3200"/>
            </a:pPr>
            <a:r>
              <a:rPr lang="en-GB" sz="3200" kern="0">
                <a:solidFill>
                  <a:srgbClr val="000000"/>
                </a:solidFill>
                <a:latin typeface="Times New Roman"/>
                <a:ea typeface="Times New Roman"/>
                <a:cs typeface="Times New Roman"/>
                <a:sym typeface="Times New Roman"/>
              </a:rPr>
              <a:t>Processing</a:t>
            </a:r>
            <a:endParaRPr sz="1400" kern="0">
              <a:solidFill>
                <a:srgbClr val="000000"/>
              </a:solidFill>
              <a:latin typeface="Arial"/>
              <a:cs typeface="Arial"/>
              <a:sym typeface="Arial"/>
            </a:endParaRPr>
          </a:p>
        </p:txBody>
      </p:sp>
      <p:sp>
        <p:nvSpPr>
          <p:cNvPr id="674" name="Google Shape;674;p96"/>
          <p:cNvSpPr txBox="1"/>
          <p:nvPr/>
        </p:nvSpPr>
        <p:spPr>
          <a:xfrm>
            <a:off x="1524000" y="1800225"/>
            <a:ext cx="1828800" cy="586957"/>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3200"/>
            </a:pPr>
            <a:r>
              <a:rPr lang="en-GB" sz="3200" kern="0">
                <a:solidFill>
                  <a:srgbClr val="000000"/>
                </a:solidFill>
                <a:latin typeface="Times New Roman"/>
                <a:ea typeface="Times New Roman"/>
                <a:cs typeface="Times New Roman"/>
                <a:sym typeface="Times New Roman"/>
              </a:rPr>
              <a:t>Input</a:t>
            </a:r>
            <a:endParaRPr sz="1400" kern="0">
              <a:solidFill>
                <a:srgbClr val="000000"/>
              </a:solidFill>
              <a:latin typeface="Arial"/>
              <a:cs typeface="Arial"/>
              <a:sym typeface="Arial"/>
            </a:endParaRPr>
          </a:p>
        </p:txBody>
      </p:sp>
      <p:sp>
        <p:nvSpPr>
          <p:cNvPr id="675" name="Google Shape;675;p96"/>
          <p:cNvSpPr/>
          <p:nvPr/>
        </p:nvSpPr>
        <p:spPr>
          <a:xfrm>
            <a:off x="6553200" y="3806825"/>
            <a:ext cx="3886200" cy="833179"/>
          </a:xfrm>
          <a:prstGeom prst="rect">
            <a:avLst/>
          </a:prstGeom>
          <a:solidFill>
            <a:srgbClr val="EF8C6A"/>
          </a:solidFill>
          <a:ln>
            <a:noFill/>
          </a:ln>
        </p:spPr>
        <p:txBody>
          <a:bodyPr spcFirstLastPara="1" wrap="square" lIns="90000" tIns="46800" rIns="90000" bIns="46800" anchor="t" anchorCtr="0">
            <a:noAutofit/>
          </a:bodyPr>
          <a:lstStyle/>
          <a:p>
            <a:pPr defTabSz="1219170">
              <a:buClr>
                <a:srgbClr val="000000"/>
              </a:buClr>
              <a:buSzPts val="2400"/>
            </a:pPr>
            <a:r>
              <a:rPr lang="en-GB" sz="2400" kern="0">
                <a:solidFill>
                  <a:srgbClr val="000000"/>
                </a:solidFill>
                <a:latin typeface="Times New Roman"/>
                <a:ea typeface="Times New Roman"/>
                <a:cs typeface="Times New Roman"/>
                <a:sym typeface="Times New Roman"/>
              </a:rPr>
              <a:t>∑= </a:t>
            </a:r>
            <a:r>
              <a:rPr lang="en-GB" sz="2400" kern="0">
                <a:solidFill>
                  <a:srgbClr val="000000"/>
                </a:solidFill>
                <a:latin typeface="Libre Baskerville"/>
                <a:ea typeface="Libre Baskerville"/>
                <a:cs typeface="Libre Baskerville"/>
                <a:sym typeface="Libre Baskerville"/>
              </a:rPr>
              <a:t>X</a:t>
            </a:r>
            <a:r>
              <a:rPr lang="en-GB" sz="2400" kern="0" baseline="-25000">
                <a:solidFill>
                  <a:srgbClr val="000000"/>
                </a:solidFill>
                <a:latin typeface="Libre Baskerville"/>
                <a:ea typeface="Libre Baskerville"/>
                <a:cs typeface="Libre Baskerville"/>
                <a:sym typeface="Libre Baskerville"/>
              </a:rPr>
              <a:t>1</a:t>
            </a:r>
            <a:r>
              <a:rPr lang="en-GB" sz="2400" kern="0">
                <a:solidFill>
                  <a:srgbClr val="000000"/>
                </a:solidFill>
                <a:latin typeface="Libre Baskerville"/>
                <a:ea typeface="Libre Baskerville"/>
                <a:cs typeface="Libre Baskerville"/>
                <a:sym typeface="Libre Baskerville"/>
              </a:rPr>
              <a:t>w</a:t>
            </a:r>
            <a:r>
              <a:rPr lang="en-GB" sz="2400" kern="0" baseline="-25000">
                <a:solidFill>
                  <a:srgbClr val="000000"/>
                </a:solidFill>
                <a:latin typeface="Libre Baskerville"/>
                <a:ea typeface="Libre Baskerville"/>
                <a:cs typeface="Libre Baskerville"/>
                <a:sym typeface="Libre Baskerville"/>
              </a:rPr>
              <a:t>1</a:t>
            </a:r>
            <a:r>
              <a:rPr lang="en-GB" sz="2400" kern="0">
                <a:solidFill>
                  <a:srgbClr val="000000"/>
                </a:solidFill>
                <a:latin typeface="Libre Baskerville"/>
                <a:ea typeface="Libre Baskerville"/>
                <a:cs typeface="Libre Baskerville"/>
                <a:sym typeface="Libre Baskerville"/>
              </a:rPr>
              <a:t>+X</a:t>
            </a:r>
            <a:r>
              <a:rPr lang="en-GB" sz="2400" kern="0" baseline="-25000">
                <a:solidFill>
                  <a:srgbClr val="000000"/>
                </a:solidFill>
                <a:latin typeface="Libre Baskerville"/>
                <a:ea typeface="Libre Baskerville"/>
                <a:cs typeface="Libre Baskerville"/>
                <a:sym typeface="Libre Baskerville"/>
              </a:rPr>
              <a:t>2</a:t>
            </a:r>
            <a:r>
              <a:rPr lang="en-GB" sz="2400" kern="0">
                <a:solidFill>
                  <a:srgbClr val="000000"/>
                </a:solidFill>
                <a:latin typeface="Libre Baskerville"/>
                <a:ea typeface="Libre Baskerville"/>
                <a:cs typeface="Libre Baskerville"/>
                <a:sym typeface="Libre Baskerville"/>
              </a:rPr>
              <a:t>w</a:t>
            </a:r>
            <a:r>
              <a:rPr lang="en-GB" sz="2400" kern="0" baseline="-25000">
                <a:solidFill>
                  <a:srgbClr val="000000"/>
                </a:solidFill>
                <a:latin typeface="Libre Baskerville"/>
                <a:ea typeface="Libre Baskerville"/>
                <a:cs typeface="Libre Baskerville"/>
                <a:sym typeface="Libre Baskerville"/>
              </a:rPr>
              <a:t>2</a:t>
            </a:r>
            <a:r>
              <a:rPr lang="en-GB" sz="2400" kern="0">
                <a:solidFill>
                  <a:srgbClr val="000000"/>
                </a:solidFill>
                <a:latin typeface="Libre Baskerville"/>
                <a:ea typeface="Libre Baskerville"/>
                <a:cs typeface="Libre Baskerville"/>
                <a:sym typeface="Libre Baskerville"/>
              </a:rPr>
              <a:t> + ….+X</a:t>
            </a:r>
            <a:r>
              <a:rPr lang="en-GB" sz="2400" kern="0" baseline="-25000">
                <a:solidFill>
                  <a:srgbClr val="000000"/>
                </a:solidFill>
                <a:latin typeface="Libre Baskerville"/>
                <a:ea typeface="Libre Baskerville"/>
                <a:cs typeface="Libre Baskerville"/>
                <a:sym typeface="Libre Baskerville"/>
              </a:rPr>
              <a:t>m</a:t>
            </a:r>
            <a:r>
              <a:rPr lang="en-GB" sz="2400" kern="0">
                <a:solidFill>
                  <a:srgbClr val="000000"/>
                </a:solidFill>
                <a:latin typeface="Libre Baskerville"/>
                <a:ea typeface="Libre Baskerville"/>
                <a:cs typeface="Libre Baskerville"/>
                <a:sym typeface="Libre Baskerville"/>
              </a:rPr>
              <a:t>w</a:t>
            </a:r>
            <a:r>
              <a:rPr lang="en-GB" sz="2400" kern="0" baseline="-25000">
                <a:solidFill>
                  <a:srgbClr val="000000"/>
                </a:solidFill>
                <a:latin typeface="Libre Baskerville"/>
                <a:ea typeface="Libre Baskerville"/>
                <a:cs typeface="Libre Baskerville"/>
                <a:sym typeface="Libre Baskerville"/>
              </a:rPr>
              <a:t>m</a:t>
            </a:r>
            <a:r>
              <a:rPr lang="en-GB" sz="2400" kern="0">
                <a:solidFill>
                  <a:srgbClr val="000000"/>
                </a:solidFill>
                <a:latin typeface="Libre Baskerville"/>
                <a:ea typeface="Libre Baskerville"/>
                <a:cs typeface="Libre Baskerville"/>
                <a:sym typeface="Libre Baskerville"/>
              </a:rPr>
              <a:t> =y</a:t>
            </a:r>
            <a:endParaRPr sz="1400" kern="0">
              <a:solidFill>
                <a:srgbClr val="000000"/>
              </a:solidFill>
              <a:latin typeface="Arial"/>
              <a:cs typeface="Arial"/>
              <a:sym typeface="Arial"/>
            </a:endParaRPr>
          </a:p>
        </p:txBody>
      </p:sp>
      <p:cxnSp>
        <p:nvCxnSpPr>
          <p:cNvPr id="676" name="Google Shape;676;p96"/>
          <p:cNvCxnSpPr>
            <a:stCxn id="671" idx="2"/>
            <a:endCxn id="672" idx="0"/>
          </p:cNvCxnSpPr>
          <p:nvPr/>
        </p:nvCxnSpPr>
        <p:spPr>
          <a:xfrm>
            <a:off x="5638801" y="3819526"/>
            <a:ext cx="342900" cy="1485900"/>
          </a:xfrm>
          <a:prstGeom prst="straightConnector1">
            <a:avLst/>
          </a:prstGeom>
          <a:noFill/>
          <a:ln w="9525" cap="flat" cmpd="sng">
            <a:solidFill>
              <a:srgbClr val="AF3408"/>
            </a:solidFill>
            <a:prstDash val="solid"/>
            <a:miter lim="800000"/>
            <a:headEnd type="none" w="med" len="med"/>
            <a:tailEnd type="triangle" w="med" len="med"/>
          </a:ln>
        </p:spPr>
      </p:cxnSp>
      <p:sp>
        <p:nvSpPr>
          <p:cNvPr id="677" name="Google Shape;677;p96"/>
          <p:cNvSpPr/>
          <p:nvPr/>
        </p:nvSpPr>
        <p:spPr>
          <a:xfrm>
            <a:off x="7010400" y="2562225"/>
            <a:ext cx="685800" cy="685800"/>
          </a:xfrm>
          <a:prstGeom prst="ellipse">
            <a:avLst/>
          </a:prstGeom>
          <a:solidFill>
            <a:srgbClr val="6E6263"/>
          </a:solidFill>
          <a:ln w="12600" cap="flat" cmpd="sng">
            <a:solidFill>
              <a:srgbClr val="9B320E"/>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2000"/>
            </a:pPr>
            <a:r>
              <a:rPr lang="en-GB" sz="2000" kern="0">
                <a:solidFill>
                  <a:srgbClr val="FFFFFF"/>
                </a:solidFill>
                <a:latin typeface="Libre Baskerville"/>
                <a:ea typeface="Libre Baskerville"/>
                <a:cs typeface="Libre Baskerville"/>
                <a:sym typeface="Libre Baskerville"/>
              </a:rPr>
              <a:t>w</a:t>
            </a:r>
            <a:r>
              <a:rPr lang="en-GB" sz="1600" kern="0" baseline="-25000">
                <a:solidFill>
                  <a:srgbClr val="FFFFFF"/>
                </a:solidFill>
                <a:latin typeface="Libre Baskerville"/>
                <a:ea typeface="Libre Baskerville"/>
                <a:cs typeface="Libre Baskerville"/>
                <a:sym typeface="Libre Baskerville"/>
              </a:rPr>
              <a:t>1</a:t>
            </a:r>
            <a:endParaRPr sz="1400" kern="0">
              <a:solidFill>
                <a:srgbClr val="000000"/>
              </a:solidFill>
              <a:latin typeface="Arial"/>
              <a:cs typeface="Arial"/>
              <a:sym typeface="Arial"/>
            </a:endParaRPr>
          </a:p>
        </p:txBody>
      </p:sp>
      <p:sp>
        <p:nvSpPr>
          <p:cNvPr id="678" name="Google Shape;678;p96"/>
          <p:cNvSpPr/>
          <p:nvPr/>
        </p:nvSpPr>
        <p:spPr>
          <a:xfrm>
            <a:off x="5638800" y="2562225"/>
            <a:ext cx="685800" cy="685800"/>
          </a:xfrm>
          <a:prstGeom prst="ellipse">
            <a:avLst/>
          </a:prstGeom>
          <a:solidFill>
            <a:srgbClr val="6E6263"/>
          </a:solidFill>
          <a:ln w="12600" cap="flat" cmpd="sng">
            <a:solidFill>
              <a:srgbClr val="69240C"/>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2000"/>
            </a:pPr>
            <a:r>
              <a:rPr lang="en-GB" sz="2000" kern="0">
                <a:solidFill>
                  <a:srgbClr val="FFFFFF"/>
                </a:solidFill>
                <a:latin typeface="Libre Baskerville"/>
                <a:ea typeface="Libre Baskerville"/>
                <a:cs typeface="Libre Baskerville"/>
                <a:sym typeface="Libre Baskerville"/>
              </a:rPr>
              <a:t>w</a:t>
            </a:r>
            <a:r>
              <a:rPr lang="en-GB" sz="1600" kern="0" baseline="-25000">
                <a:solidFill>
                  <a:srgbClr val="FFFFFF"/>
                </a:solidFill>
                <a:latin typeface="Libre Baskerville"/>
                <a:ea typeface="Libre Baskerville"/>
                <a:cs typeface="Libre Baskerville"/>
                <a:sym typeface="Libre Baskerville"/>
              </a:rPr>
              <a:t>2</a:t>
            </a:r>
            <a:endParaRPr sz="1400" kern="0">
              <a:solidFill>
                <a:srgbClr val="000000"/>
              </a:solidFill>
              <a:latin typeface="Arial"/>
              <a:cs typeface="Arial"/>
              <a:sym typeface="Arial"/>
            </a:endParaRPr>
          </a:p>
        </p:txBody>
      </p:sp>
      <p:sp>
        <p:nvSpPr>
          <p:cNvPr id="679" name="Google Shape;679;p96"/>
          <p:cNvSpPr/>
          <p:nvPr/>
        </p:nvSpPr>
        <p:spPr>
          <a:xfrm>
            <a:off x="4267200" y="2514600"/>
            <a:ext cx="685800" cy="685800"/>
          </a:xfrm>
          <a:prstGeom prst="ellipse">
            <a:avLst/>
          </a:prstGeom>
          <a:solidFill>
            <a:srgbClr val="6E6263"/>
          </a:solidFill>
          <a:ln w="12600" cap="flat" cmpd="sng">
            <a:solidFill>
              <a:srgbClr val="69240C"/>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2000"/>
            </a:pPr>
            <a:r>
              <a:rPr lang="en-GB" sz="2000" kern="0">
                <a:solidFill>
                  <a:srgbClr val="FFFFFF"/>
                </a:solidFill>
                <a:latin typeface="Libre Baskerville"/>
                <a:ea typeface="Libre Baskerville"/>
                <a:cs typeface="Libre Baskerville"/>
                <a:sym typeface="Libre Baskerville"/>
              </a:rPr>
              <a:t>w</a:t>
            </a:r>
            <a:r>
              <a:rPr lang="en-GB" sz="1600" kern="0" baseline="-25000">
                <a:solidFill>
                  <a:srgbClr val="FFFFFF"/>
                </a:solidFill>
                <a:latin typeface="Libre Baskerville"/>
                <a:ea typeface="Libre Baskerville"/>
                <a:cs typeface="Libre Baskerville"/>
                <a:sym typeface="Libre Baskerville"/>
              </a:rPr>
              <a:t>m</a:t>
            </a:r>
            <a:endParaRPr sz="1400" kern="0">
              <a:solidFill>
                <a:srgbClr val="000000"/>
              </a:solidFill>
              <a:latin typeface="Arial"/>
              <a:cs typeface="Arial"/>
              <a:sym typeface="Arial"/>
            </a:endParaRPr>
          </a:p>
        </p:txBody>
      </p:sp>
      <p:sp>
        <p:nvSpPr>
          <p:cNvPr id="680" name="Google Shape;680;p96"/>
          <p:cNvSpPr txBox="1"/>
          <p:nvPr/>
        </p:nvSpPr>
        <p:spPr>
          <a:xfrm>
            <a:off x="1524000" y="2663826"/>
            <a:ext cx="1828800" cy="586957"/>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3200"/>
            </a:pPr>
            <a:r>
              <a:rPr lang="en-GB" sz="3200" kern="0">
                <a:solidFill>
                  <a:srgbClr val="000000"/>
                </a:solidFill>
                <a:latin typeface="Times New Roman"/>
                <a:ea typeface="Times New Roman"/>
                <a:cs typeface="Times New Roman"/>
                <a:sym typeface="Times New Roman"/>
              </a:rPr>
              <a:t>weights</a:t>
            </a:r>
            <a:endParaRPr sz="1400" kern="0">
              <a:solidFill>
                <a:srgbClr val="000000"/>
              </a:solidFill>
              <a:latin typeface="Arial"/>
              <a:cs typeface="Arial"/>
              <a:sym typeface="Arial"/>
            </a:endParaRPr>
          </a:p>
        </p:txBody>
      </p:sp>
      <p:sp>
        <p:nvSpPr>
          <p:cNvPr id="681" name="Google Shape;681;p96"/>
          <p:cNvSpPr/>
          <p:nvPr/>
        </p:nvSpPr>
        <p:spPr>
          <a:xfrm>
            <a:off x="1524000" y="0"/>
            <a:ext cx="9144000" cy="457200"/>
          </a:xfrm>
          <a:prstGeom prst="rect">
            <a:avLst/>
          </a:prstGeom>
          <a:noFill/>
          <a:ln>
            <a:noFill/>
          </a:ln>
        </p:spPr>
        <p:txBody>
          <a:bodyPr spcFirstLastPara="1" wrap="square" lIns="91425" tIns="45700" rIns="91425" bIns="45700" anchor="ctr" anchorCtr="0">
            <a:noAutofit/>
          </a:bodyPr>
          <a:lstStyle/>
          <a:p>
            <a:pPr defTabSz="1219170">
              <a:lnSpc>
                <a:spcPct val="102000"/>
              </a:lnSpc>
              <a:buClr>
                <a:srgbClr val="000000"/>
              </a:buClr>
              <a:buSzPts val="1800"/>
            </a:pPr>
            <a:endParaRPr kern="0">
              <a:solidFill>
                <a:prstClr val="white"/>
              </a:solidFill>
              <a:latin typeface="Libre Baskerville"/>
              <a:ea typeface="Libre Baskerville"/>
              <a:cs typeface="Libre Baskerville"/>
              <a:sym typeface="Libre Baskerville"/>
            </a:endParaRPr>
          </a:p>
        </p:txBody>
      </p:sp>
      <p:sp>
        <p:nvSpPr>
          <p:cNvPr id="682" name="Google Shape;682;p96"/>
          <p:cNvSpPr/>
          <p:nvPr/>
        </p:nvSpPr>
        <p:spPr>
          <a:xfrm>
            <a:off x="1524000" y="1219200"/>
            <a:ext cx="9144000" cy="457200"/>
          </a:xfrm>
          <a:prstGeom prst="rect">
            <a:avLst/>
          </a:prstGeom>
          <a:noFill/>
          <a:ln>
            <a:noFill/>
          </a:ln>
        </p:spPr>
        <p:txBody>
          <a:bodyPr spcFirstLastPara="1" wrap="square" lIns="91425" tIns="45700" rIns="91425" bIns="45700" anchor="ctr" anchorCtr="0">
            <a:noAutofit/>
          </a:bodyPr>
          <a:lstStyle/>
          <a:p>
            <a:pPr defTabSz="1219170">
              <a:lnSpc>
                <a:spcPct val="102000"/>
              </a:lnSpc>
              <a:buClr>
                <a:srgbClr val="000000"/>
              </a:buClr>
              <a:buSzPts val="1800"/>
            </a:pPr>
            <a:endParaRPr kern="0">
              <a:solidFill>
                <a:prstClr val="white"/>
              </a:solidFill>
              <a:latin typeface="Libre Baskerville"/>
              <a:ea typeface="Libre Baskerville"/>
              <a:cs typeface="Libre Baskerville"/>
              <a:sym typeface="Libre Baskerville"/>
            </a:endParaRPr>
          </a:p>
        </p:txBody>
      </p:sp>
      <p:sp>
        <p:nvSpPr>
          <p:cNvPr id="683" name="Google Shape;683;p96"/>
          <p:cNvSpPr/>
          <p:nvPr/>
        </p:nvSpPr>
        <p:spPr>
          <a:xfrm>
            <a:off x="1524000" y="0"/>
            <a:ext cx="9144000" cy="457200"/>
          </a:xfrm>
          <a:prstGeom prst="rect">
            <a:avLst/>
          </a:prstGeom>
          <a:noFill/>
          <a:ln>
            <a:noFill/>
          </a:ln>
        </p:spPr>
        <p:txBody>
          <a:bodyPr spcFirstLastPara="1" wrap="square" lIns="91425" tIns="45700" rIns="91425" bIns="45700" anchor="ctr" anchorCtr="0">
            <a:noAutofit/>
          </a:bodyPr>
          <a:lstStyle/>
          <a:p>
            <a:pPr defTabSz="1219170">
              <a:lnSpc>
                <a:spcPct val="102000"/>
              </a:lnSpc>
              <a:buClr>
                <a:srgbClr val="000000"/>
              </a:buClr>
              <a:buSzPts val="1800"/>
            </a:pPr>
            <a:endParaRPr kern="0">
              <a:solidFill>
                <a:prstClr val="white"/>
              </a:solidFill>
              <a:latin typeface="Libre Baskerville"/>
              <a:ea typeface="Libre Baskerville"/>
              <a:cs typeface="Libre Baskerville"/>
              <a:sym typeface="Libre Baskerville"/>
            </a:endParaRPr>
          </a:p>
        </p:txBody>
      </p:sp>
      <p:pic>
        <p:nvPicPr>
          <p:cNvPr id="684" name="Google Shape;684;p96"/>
          <p:cNvPicPr preferRelativeResize="0"/>
          <p:nvPr/>
        </p:nvPicPr>
        <p:blipFill rotWithShape="1">
          <a:blip r:embed="rId3">
            <a:alphaModFix/>
          </a:blip>
          <a:srcRect/>
          <a:stretch/>
        </p:blipFill>
        <p:spPr>
          <a:xfrm>
            <a:off x="6705600" y="5534025"/>
            <a:ext cx="1143000" cy="609600"/>
          </a:xfrm>
          <a:prstGeom prst="rect">
            <a:avLst/>
          </a:prstGeom>
          <a:solidFill>
            <a:srgbClr val="EF8C6A"/>
          </a:solidFill>
          <a:ln>
            <a:noFill/>
          </a:ln>
        </p:spPr>
      </p:pic>
      <p:sp>
        <p:nvSpPr>
          <p:cNvPr id="685" name="Google Shape;685;p96"/>
          <p:cNvSpPr/>
          <p:nvPr/>
        </p:nvSpPr>
        <p:spPr>
          <a:xfrm>
            <a:off x="1524000" y="942975"/>
            <a:ext cx="9144000" cy="457200"/>
          </a:xfrm>
          <a:prstGeom prst="rect">
            <a:avLst/>
          </a:prstGeom>
          <a:noFill/>
          <a:ln>
            <a:noFill/>
          </a:ln>
        </p:spPr>
        <p:txBody>
          <a:bodyPr spcFirstLastPara="1" wrap="square" lIns="91425" tIns="45700" rIns="91425" bIns="45700" anchor="ctr" anchorCtr="0">
            <a:noAutofit/>
          </a:bodyPr>
          <a:lstStyle/>
          <a:p>
            <a:pPr defTabSz="1219170">
              <a:lnSpc>
                <a:spcPct val="102000"/>
              </a:lnSpc>
              <a:buClr>
                <a:srgbClr val="000000"/>
              </a:buClr>
              <a:buSzPts val="1800"/>
            </a:pPr>
            <a:endParaRPr kern="0">
              <a:solidFill>
                <a:prstClr val="white"/>
              </a:solidFill>
              <a:latin typeface="Libre Baskerville"/>
              <a:ea typeface="Libre Baskerville"/>
              <a:cs typeface="Libre Baskerville"/>
              <a:sym typeface="Libre Baskerville"/>
            </a:endParaRPr>
          </a:p>
        </p:txBody>
      </p:sp>
      <p:sp>
        <p:nvSpPr>
          <p:cNvPr id="686" name="Google Shape;686;p96"/>
          <p:cNvSpPr txBox="1"/>
          <p:nvPr/>
        </p:nvSpPr>
        <p:spPr>
          <a:xfrm>
            <a:off x="4038600" y="1524002"/>
            <a:ext cx="1447800" cy="648512"/>
          </a:xfrm>
          <a:prstGeom prst="rect">
            <a:avLst/>
          </a:prstGeom>
          <a:noFill/>
          <a:ln>
            <a:noFill/>
          </a:ln>
        </p:spPr>
        <p:txBody>
          <a:bodyPr spcFirstLastPara="1" wrap="square" lIns="90000" tIns="46800" rIns="90000" bIns="46800" anchor="t" anchorCtr="0">
            <a:spAutoFit/>
          </a:bodyPr>
          <a:lstStyle/>
          <a:p>
            <a:pPr defTabSz="1219170">
              <a:buClr>
                <a:srgbClr val="000000"/>
              </a:buClr>
              <a:buSzPts val="1800"/>
            </a:pPr>
            <a:r>
              <a:rPr lang="en-GB" kern="0">
                <a:solidFill>
                  <a:srgbClr val="000000"/>
                </a:solidFill>
                <a:latin typeface="Libre Baskerville"/>
                <a:ea typeface="Libre Baskerville"/>
                <a:cs typeface="Libre Baskerville"/>
                <a:sym typeface="Libre Baskerville"/>
              </a:rPr>
              <a:t>. . . . . . . . . . . . </a:t>
            </a:r>
            <a:endParaRPr sz="1400" kern="0">
              <a:solidFill>
                <a:srgbClr val="000000"/>
              </a:solidFill>
              <a:latin typeface="Arial"/>
              <a:cs typeface="Arial"/>
              <a:sym typeface="Arial"/>
            </a:endParaRPr>
          </a:p>
        </p:txBody>
      </p:sp>
      <p:cxnSp>
        <p:nvCxnSpPr>
          <p:cNvPr id="687" name="Google Shape;687;p96"/>
          <p:cNvCxnSpPr>
            <a:stCxn id="670" idx="3"/>
            <a:endCxn id="679" idx="1"/>
          </p:cNvCxnSpPr>
          <p:nvPr/>
        </p:nvCxnSpPr>
        <p:spPr>
          <a:xfrm>
            <a:off x="3377033" y="2033167"/>
            <a:ext cx="990600" cy="582000"/>
          </a:xfrm>
          <a:prstGeom prst="straightConnector1">
            <a:avLst/>
          </a:prstGeom>
          <a:noFill/>
          <a:ln w="9525" cap="flat" cmpd="sng">
            <a:solidFill>
              <a:srgbClr val="AF3408"/>
            </a:solidFill>
            <a:prstDash val="solid"/>
            <a:miter lim="800000"/>
            <a:headEnd type="none" w="med" len="med"/>
            <a:tailEnd type="triangle" w="med" len="med"/>
          </a:ln>
        </p:spPr>
      </p:cxnSp>
      <p:cxnSp>
        <p:nvCxnSpPr>
          <p:cNvPr id="688" name="Google Shape;688;p96"/>
          <p:cNvCxnSpPr>
            <a:stCxn id="669" idx="2"/>
            <a:endCxn id="678" idx="0"/>
          </p:cNvCxnSpPr>
          <p:nvPr/>
        </p:nvCxnSpPr>
        <p:spPr>
          <a:xfrm>
            <a:off x="5638801" y="1790700"/>
            <a:ext cx="342900" cy="771600"/>
          </a:xfrm>
          <a:prstGeom prst="straightConnector1">
            <a:avLst/>
          </a:prstGeom>
          <a:noFill/>
          <a:ln w="9525" cap="flat" cmpd="sng">
            <a:solidFill>
              <a:srgbClr val="AF3408"/>
            </a:solidFill>
            <a:prstDash val="solid"/>
            <a:miter lim="800000"/>
            <a:headEnd type="none" w="med" len="med"/>
            <a:tailEnd type="triangle" w="med" len="med"/>
          </a:ln>
        </p:spPr>
      </p:cxnSp>
      <p:cxnSp>
        <p:nvCxnSpPr>
          <p:cNvPr id="689" name="Google Shape;689;p96"/>
          <p:cNvCxnSpPr/>
          <p:nvPr/>
        </p:nvCxnSpPr>
        <p:spPr>
          <a:xfrm flipH="1">
            <a:off x="7696200" y="2133600"/>
            <a:ext cx="533400" cy="609600"/>
          </a:xfrm>
          <a:prstGeom prst="straightConnector1">
            <a:avLst/>
          </a:prstGeom>
          <a:noFill/>
          <a:ln w="9525" cap="flat" cmpd="sng">
            <a:solidFill>
              <a:srgbClr val="AF3408"/>
            </a:solidFill>
            <a:prstDash val="solid"/>
            <a:miter lim="800000"/>
            <a:headEnd type="none" w="med" len="med"/>
            <a:tailEnd type="triangle" w="med" len="med"/>
          </a:ln>
        </p:spPr>
      </p:cxnSp>
      <p:cxnSp>
        <p:nvCxnSpPr>
          <p:cNvPr id="690" name="Google Shape;690;p96"/>
          <p:cNvCxnSpPr>
            <a:stCxn id="677" idx="1"/>
            <a:endCxn id="671" idx="3"/>
          </p:cNvCxnSpPr>
          <p:nvPr/>
        </p:nvCxnSpPr>
        <p:spPr>
          <a:xfrm flipH="1">
            <a:off x="5739233" y="2662659"/>
            <a:ext cx="1371600" cy="1399200"/>
          </a:xfrm>
          <a:prstGeom prst="straightConnector1">
            <a:avLst/>
          </a:prstGeom>
          <a:noFill/>
          <a:ln w="9525" cap="flat" cmpd="sng">
            <a:solidFill>
              <a:srgbClr val="AF3408"/>
            </a:solidFill>
            <a:prstDash val="solid"/>
            <a:miter lim="800000"/>
            <a:headEnd type="none" w="med" len="med"/>
            <a:tailEnd type="triangle" w="med" len="med"/>
          </a:ln>
        </p:spPr>
      </p:cxnSp>
      <p:cxnSp>
        <p:nvCxnSpPr>
          <p:cNvPr id="691" name="Google Shape;691;p96"/>
          <p:cNvCxnSpPr>
            <a:stCxn id="678" idx="2"/>
            <a:endCxn id="671" idx="0"/>
          </p:cNvCxnSpPr>
          <p:nvPr/>
        </p:nvCxnSpPr>
        <p:spPr>
          <a:xfrm>
            <a:off x="5638801" y="2905126"/>
            <a:ext cx="342900" cy="571500"/>
          </a:xfrm>
          <a:prstGeom prst="straightConnector1">
            <a:avLst/>
          </a:prstGeom>
          <a:noFill/>
          <a:ln w="9525" cap="flat" cmpd="sng">
            <a:solidFill>
              <a:srgbClr val="AF3408"/>
            </a:solidFill>
            <a:prstDash val="solid"/>
            <a:miter lim="800000"/>
            <a:headEnd type="none" w="med" len="med"/>
            <a:tailEnd type="triangle" w="med" len="med"/>
          </a:ln>
        </p:spPr>
      </p:cxnSp>
      <p:cxnSp>
        <p:nvCxnSpPr>
          <p:cNvPr id="692" name="Google Shape;692;p96"/>
          <p:cNvCxnSpPr>
            <a:stCxn id="679" idx="3"/>
            <a:endCxn id="671" idx="1"/>
          </p:cNvCxnSpPr>
          <p:nvPr/>
        </p:nvCxnSpPr>
        <p:spPr>
          <a:xfrm>
            <a:off x="4367633" y="3099967"/>
            <a:ext cx="1371600" cy="477000"/>
          </a:xfrm>
          <a:prstGeom prst="straightConnector1">
            <a:avLst/>
          </a:prstGeom>
          <a:noFill/>
          <a:ln w="9525" cap="flat" cmpd="sng">
            <a:solidFill>
              <a:srgbClr val="AF3408"/>
            </a:solidFill>
            <a:prstDash val="solid"/>
            <a:miter lim="800000"/>
            <a:headEnd type="none" w="med" len="med"/>
            <a:tailEnd type="triangle" w="med" len="med"/>
          </a:ln>
        </p:spPr>
      </p:cxnSp>
      <p:sp>
        <p:nvSpPr>
          <p:cNvPr id="693" name="Google Shape;693;p96"/>
          <p:cNvSpPr txBox="1"/>
          <p:nvPr/>
        </p:nvSpPr>
        <p:spPr>
          <a:xfrm>
            <a:off x="4953000" y="2667002"/>
            <a:ext cx="685800" cy="648512"/>
          </a:xfrm>
          <a:prstGeom prst="rect">
            <a:avLst/>
          </a:prstGeom>
          <a:noFill/>
          <a:ln>
            <a:noFill/>
          </a:ln>
        </p:spPr>
        <p:txBody>
          <a:bodyPr spcFirstLastPara="1" wrap="square" lIns="90000" tIns="46800" rIns="90000" bIns="46800" anchor="t" anchorCtr="0">
            <a:spAutoFit/>
          </a:bodyPr>
          <a:lstStyle/>
          <a:p>
            <a:pPr defTabSz="1219170">
              <a:buClr>
                <a:srgbClr val="000000"/>
              </a:buClr>
              <a:buSzPts val="1800"/>
            </a:pPr>
            <a:r>
              <a:rPr lang="en-GB" kern="0">
                <a:solidFill>
                  <a:srgbClr val="000000"/>
                </a:solidFill>
                <a:latin typeface="Libre Baskerville"/>
                <a:ea typeface="Libre Baskerville"/>
                <a:cs typeface="Libre Baskerville"/>
                <a:sym typeface="Libre Baskerville"/>
              </a:rPr>
              <a:t>. . . . . </a:t>
            </a:r>
            <a:endParaRPr sz="1400" kern="0">
              <a:solidFill>
                <a:srgbClr val="000000"/>
              </a:solidFill>
              <a:latin typeface="Arial"/>
              <a:cs typeface="Arial"/>
              <a:sym typeface="Arial"/>
            </a:endParaRPr>
          </a:p>
        </p:txBody>
      </p:sp>
      <p:sp>
        <p:nvSpPr>
          <p:cNvPr id="2" name="Date Placeholder 1">
            <a:extLst>
              <a:ext uri="{FF2B5EF4-FFF2-40B4-BE49-F238E27FC236}">
                <a16:creationId xmlns:a16="http://schemas.microsoft.com/office/drawing/2014/main" id="{303A1444-876B-A880-33A3-49D77B590477}"/>
              </a:ext>
            </a:extLst>
          </p:cNvPr>
          <p:cNvSpPr>
            <a:spLocks noGrp="1"/>
          </p:cNvSpPr>
          <p:nvPr>
            <p:ph type="dt" sz="half" idx="10"/>
          </p:nvPr>
        </p:nvSpPr>
        <p:spPr/>
        <p:txBody>
          <a:bodyPr/>
          <a:lstStyle/>
          <a:p>
            <a:pPr defTabSz="1219170">
              <a:buClr>
                <a:srgbClr val="000000"/>
              </a:buClr>
            </a:pPr>
            <a:fld id="{AC41CE0B-3293-40F2-A5F7-04C709BC3CA3}"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815B925F-EAF9-CEE7-9DD6-6C88B83FBE1E}"/>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19</a:t>
            </a:fld>
            <a:endParaRPr lang="en-US" kern="0" dirty="0">
              <a:latin typeface="Arial"/>
              <a:cs typeface="Arial"/>
              <a:sym typeface="Arial"/>
            </a:endParaRPr>
          </a:p>
        </p:txBody>
      </p:sp>
    </p:spTree>
    <p:extLst>
      <p:ext uri="{BB962C8B-B14F-4D97-AF65-F5344CB8AC3E}">
        <p14:creationId xmlns:p14="http://schemas.microsoft.com/office/powerpoint/2010/main" val="2233537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97"/>
          <p:cNvSpPr txBox="1"/>
          <p:nvPr/>
        </p:nvSpPr>
        <p:spPr>
          <a:xfrm>
            <a:off x="2209800" y="159274"/>
            <a:ext cx="7772400" cy="755128"/>
          </a:xfrm>
          <a:prstGeom prst="rect">
            <a:avLst/>
          </a:prstGeom>
          <a:noFill/>
          <a:ln>
            <a:noFill/>
          </a:ln>
        </p:spPr>
        <p:txBody>
          <a:bodyPr spcFirstLastPara="1" wrap="square" lIns="90000" tIns="46800" rIns="90000" bIns="91425" anchor="b" anchorCtr="0">
            <a:spAutoFit/>
          </a:bodyPr>
          <a:lstStyle/>
          <a:p>
            <a:pPr defTabSz="1219170">
              <a:buClr>
                <a:srgbClr val="696464"/>
              </a:buClr>
              <a:buSzPts val="4000"/>
            </a:pPr>
            <a:r>
              <a:rPr lang="en-GB" sz="4000" kern="0">
                <a:solidFill>
                  <a:srgbClr val="696464"/>
                </a:solidFill>
                <a:latin typeface="Times New Roman"/>
                <a:ea typeface="Times New Roman"/>
                <a:cs typeface="Times New Roman"/>
                <a:sym typeface="Times New Roman"/>
              </a:rPr>
              <a:t>How do ANNs work?</a:t>
            </a:r>
            <a:endParaRPr sz="1400" kern="0">
              <a:solidFill>
                <a:srgbClr val="000000"/>
              </a:solidFill>
              <a:latin typeface="Arial"/>
              <a:cs typeface="Arial"/>
              <a:sym typeface="Arial"/>
            </a:endParaRPr>
          </a:p>
        </p:txBody>
      </p:sp>
      <p:sp>
        <p:nvSpPr>
          <p:cNvPr id="699" name="Google Shape;699;p97"/>
          <p:cNvSpPr txBox="1"/>
          <p:nvPr/>
        </p:nvSpPr>
        <p:spPr>
          <a:xfrm>
            <a:off x="1905000" y="685802"/>
            <a:ext cx="8458200" cy="1079399"/>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3200"/>
            </a:pPr>
            <a:r>
              <a:rPr lang="en-GB" sz="3200" kern="0">
                <a:solidFill>
                  <a:srgbClr val="000000"/>
                </a:solidFill>
                <a:latin typeface="Libre Baskerville"/>
                <a:ea typeface="Libre Baskerville"/>
                <a:cs typeface="Libre Baskerville"/>
                <a:sym typeface="Libre Baskerville"/>
              </a:rPr>
              <a:t>The signal is not passed down to the</a:t>
            </a:r>
            <a:endParaRPr sz="1400" kern="0">
              <a:solidFill>
                <a:srgbClr val="000000"/>
              </a:solidFill>
              <a:latin typeface="Arial"/>
              <a:cs typeface="Arial"/>
              <a:sym typeface="Arial"/>
            </a:endParaRPr>
          </a:p>
          <a:p>
            <a:pPr algn="ctr" defTabSz="1219170">
              <a:buClr>
                <a:srgbClr val="000000"/>
              </a:buClr>
              <a:buSzPts val="3200"/>
            </a:pPr>
            <a:r>
              <a:rPr lang="en-GB" sz="3200" kern="0">
                <a:solidFill>
                  <a:srgbClr val="000000"/>
                </a:solidFill>
                <a:latin typeface="Libre Baskerville"/>
                <a:ea typeface="Libre Baskerville"/>
                <a:cs typeface="Libre Baskerville"/>
                <a:sym typeface="Libre Baskerville"/>
              </a:rPr>
              <a:t>next neuron verbatim</a:t>
            </a:r>
            <a:endParaRPr sz="1400" kern="0">
              <a:solidFill>
                <a:srgbClr val="000000"/>
              </a:solidFill>
              <a:latin typeface="Arial"/>
              <a:cs typeface="Arial"/>
              <a:sym typeface="Arial"/>
            </a:endParaRPr>
          </a:p>
        </p:txBody>
      </p:sp>
      <p:sp>
        <p:nvSpPr>
          <p:cNvPr id="700" name="Google Shape;700;p97"/>
          <p:cNvSpPr/>
          <p:nvPr/>
        </p:nvSpPr>
        <p:spPr>
          <a:xfrm>
            <a:off x="2133600" y="4648202"/>
            <a:ext cx="2438400" cy="866775"/>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19694" y="58322"/>
                </a:moveTo>
                <a:lnTo>
                  <a:pt x="168317" y="46861"/>
                </a:lnTo>
              </a:path>
            </a:pathLst>
          </a:custGeom>
          <a:solidFill>
            <a:srgbClr val="D9D9D9"/>
          </a:solidFill>
          <a:ln w="12600" cap="flat" cmpd="sng">
            <a:solidFill>
              <a:srgbClr val="69240C"/>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0D0D0D"/>
              </a:buClr>
              <a:buSzPts val="2000"/>
            </a:pPr>
            <a:r>
              <a:rPr lang="en-GB" sz="2000" kern="0">
                <a:solidFill>
                  <a:srgbClr val="0D0D0D"/>
                </a:solidFill>
                <a:latin typeface="Times New Roman"/>
                <a:ea typeface="Times New Roman"/>
                <a:cs typeface="Times New Roman"/>
                <a:sym typeface="Times New Roman"/>
              </a:rPr>
              <a:t>Transfer Function (Activation Function)</a:t>
            </a:r>
            <a:endParaRPr sz="1400" kern="0">
              <a:solidFill>
                <a:srgbClr val="000000"/>
              </a:solidFill>
              <a:latin typeface="Arial"/>
              <a:cs typeface="Arial"/>
              <a:sym typeface="Arial"/>
            </a:endParaRPr>
          </a:p>
        </p:txBody>
      </p:sp>
      <p:sp>
        <p:nvSpPr>
          <p:cNvPr id="701" name="Google Shape;701;p97"/>
          <p:cNvSpPr txBox="1"/>
          <p:nvPr/>
        </p:nvSpPr>
        <p:spPr>
          <a:xfrm>
            <a:off x="1524000" y="5715001"/>
            <a:ext cx="2133600" cy="586957"/>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3200"/>
            </a:pPr>
            <a:r>
              <a:rPr lang="en-GB" sz="3200" kern="0">
                <a:solidFill>
                  <a:srgbClr val="000000"/>
                </a:solidFill>
                <a:latin typeface="Times New Roman"/>
                <a:ea typeface="Times New Roman"/>
                <a:cs typeface="Times New Roman"/>
                <a:sym typeface="Times New Roman"/>
              </a:rPr>
              <a:t>Output</a:t>
            </a:r>
            <a:endParaRPr sz="1400" kern="0">
              <a:solidFill>
                <a:srgbClr val="000000"/>
              </a:solidFill>
              <a:latin typeface="Arial"/>
              <a:cs typeface="Arial"/>
              <a:sym typeface="Arial"/>
            </a:endParaRPr>
          </a:p>
        </p:txBody>
      </p:sp>
      <p:sp>
        <p:nvSpPr>
          <p:cNvPr id="702" name="Google Shape;702;p97"/>
          <p:cNvSpPr/>
          <p:nvPr/>
        </p:nvSpPr>
        <p:spPr>
          <a:xfrm>
            <a:off x="8001000" y="1857375"/>
            <a:ext cx="685800" cy="685800"/>
          </a:xfrm>
          <a:prstGeom prst="ellipse">
            <a:avLst/>
          </a:prstGeom>
          <a:solidFill>
            <a:srgbClr val="69240C"/>
          </a:solidFill>
          <a:ln w="12600" cap="flat" cmpd="sng">
            <a:solidFill>
              <a:srgbClr val="9B320E"/>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2400"/>
            </a:pPr>
            <a:r>
              <a:rPr lang="en-GB" sz="2400" kern="0">
                <a:solidFill>
                  <a:srgbClr val="FFFFFF"/>
                </a:solidFill>
                <a:latin typeface="Times New Roman"/>
                <a:ea typeface="Times New Roman"/>
                <a:cs typeface="Times New Roman"/>
                <a:sym typeface="Times New Roman"/>
              </a:rPr>
              <a:t>x</a:t>
            </a:r>
            <a:r>
              <a:rPr lang="en-GB" sz="1400" kern="0">
                <a:solidFill>
                  <a:srgbClr val="FFFFFF"/>
                </a:solidFill>
                <a:latin typeface="Times New Roman"/>
                <a:ea typeface="Times New Roman"/>
                <a:cs typeface="Times New Roman"/>
                <a:sym typeface="Times New Roman"/>
              </a:rPr>
              <a:t>1</a:t>
            </a:r>
            <a:endParaRPr sz="1400" kern="0">
              <a:solidFill>
                <a:srgbClr val="000000"/>
              </a:solidFill>
              <a:latin typeface="Arial"/>
              <a:cs typeface="Arial"/>
              <a:sym typeface="Arial"/>
            </a:endParaRPr>
          </a:p>
        </p:txBody>
      </p:sp>
      <p:sp>
        <p:nvSpPr>
          <p:cNvPr id="703" name="Google Shape;703;p97"/>
          <p:cNvSpPr/>
          <p:nvPr/>
        </p:nvSpPr>
        <p:spPr>
          <a:xfrm>
            <a:off x="5638800" y="1857375"/>
            <a:ext cx="685800" cy="685800"/>
          </a:xfrm>
          <a:prstGeom prst="ellipse">
            <a:avLst/>
          </a:prstGeom>
          <a:solidFill>
            <a:srgbClr val="69240C"/>
          </a:solidFill>
          <a:ln w="12600" cap="flat" cmpd="sng">
            <a:solidFill>
              <a:srgbClr val="69240C"/>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2400"/>
            </a:pPr>
            <a:r>
              <a:rPr lang="en-GB" sz="2400" kern="0">
                <a:solidFill>
                  <a:srgbClr val="FFFFFF"/>
                </a:solidFill>
                <a:latin typeface="Times New Roman"/>
                <a:ea typeface="Times New Roman"/>
                <a:cs typeface="Times New Roman"/>
                <a:sym typeface="Times New Roman"/>
              </a:rPr>
              <a:t>x</a:t>
            </a:r>
            <a:r>
              <a:rPr lang="en-GB" sz="1400" kern="0">
                <a:solidFill>
                  <a:srgbClr val="FFFFFF"/>
                </a:solidFill>
                <a:latin typeface="Times New Roman"/>
                <a:ea typeface="Times New Roman"/>
                <a:cs typeface="Times New Roman"/>
                <a:sym typeface="Times New Roman"/>
              </a:rPr>
              <a:t>2</a:t>
            </a:r>
            <a:endParaRPr sz="1400" kern="0">
              <a:solidFill>
                <a:srgbClr val="000000"/>
              </a:solidFill>
              <a:latin typeface="Arial"/>
              <a:cs typeface="Arial"/>
              <a:sym typeface="Arial"/>
            </a:endParaRPr>
          </a:p>
        </p:txBody>
      </p:sp>
      <p:sp>
        <p:nvSpPr>
          <p:cNvPr id="704" name="Google Shape;704;p97"/>
          <p:cNvSpPr/>
          <p:nvPr/>
        </p:nvSpPr>
        <p:spPr>
          <a:xfrm>
            <a:off x="3276600" y="1857375"/>
            <a:ext cx="685800" cy="685800"/>
          </a:xfrm>
          <a:prstGeom prst="ellipse">
            <a:avLst/>
          </a:prstGeom>
          <a:solidFill>
            <a:srgbClr val="69240C"/>
          </a:solidFill>
          <a:ln w="12600" cap="flat" cmpd="sng">
            <a:solidFill>
              <a:srgbClr val="69240C"/>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2400"/>
            </a:pPr>
            <a:r>
              <a:rPr lang="en-GB" sz="2400" kern="0">
                <a:solidFill>
                  <a:srgbClr val="FFFFFF"/>
                </a:solidFill>
                <a:latin typeface="Times New Roman"/>
                <a:ea typeface="Times New Roman"/>
                <a:cs typeface="Times New Roman"/>
                <a:sym typeface="Times New Roman"/>
              </a:rPr>
              <a:t>x</a:t>
            </a:r>
            <a:r>
              <a:rPr lang="en-GB" sz="1400" kern="0">
                <a:solidFill>
                  <a:srgbClr val="FFFFFF"/>
                </a:solidFill>
                <a:latin typeface="Times New Roman"/>
                <a:ea typeface="Times New Roman"/>
                <a:cs typeface="Times New Roman"/>
                <a:sym typeface="Times New Roman"/>
              </a:rPr>
              <a:t>m</a:t>
            </a:r>
            <a:endParaRPr sz="1400" kern="0">
              <a:solidFill>
                <a:srgbClr val="000000"/>
              </a:solidFill>
              <a:latin typeface="Arial"/>
              <a:cs typeface="Arial"/>
              <a:sym typeface="Arial"/>
            </a:endParaRPr>
          </a:p>
        </p:txBody>
      </p:sp>
      <p:sp>
        <p:nvSpPr>
          <p:cNvPr id="705" name="Google Shape;705;p97"/>
          <p:cNvSpPr/>
          <p:nvPr/>
        </p:nvSpPr>
        <p:spPr>
          <a:xfrm>
            <a:off x="5638800" y="3886200"/>
            <a:ext cx="685800" cy="685800"/>
          </a:xfrm>
          <a:prstGeom prst="ellipse">
            <a:avLst/>
          </a:prstGeom>
          <a:solidFill>
            <a:srgbClr val="742217"/>
          </a:solidFill>
          <a:ln w="12600" cap="flat" cmpd="sng">
            <a:solidFill>
              <a:srgbClr val="4E1610"/>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3200"/>
            </a:pPr>
            <a:r>
              <a:rPr lang="en-GB" sz="3200" kern="0">
                <a:solidFill>
                  <a:srgbClr val="FFFFFF"/>
                </a:solidFill>
                <a:latin typeface="Libre Baskerville"/>
                <a:ea typeface="Libre Baskerville"/>
                <a:cs typeface="Libre Baskerville"/>
                <a:sym typeface="Libre Baskerville"/>
              </a:rPr>
              <a:t>∑</a:t>
            </a:r>
            <a:endParaRPr sz="1400" kern="0">
              <a:solidFill>
                <a:srgbClr val="000000"/>
              </a:solidFill>
              <a:latin typeface="Arial"/>
              <a:cs typeface="Arial"/>
              <a:sym typeface="Arial"/>
            </a:endParaRPr>
          </a:p>
        </p:txBody>
      </p:sp>
      <p:sp>
        <p:nvSpPr>
          <p:cNvPr id="706" name="Google Shape;706;p97"/>
          <p:cNvSpPr/>
          <p:nvPr/>
        </p:nvSpPr>
        <p:spPr>
          <a:xfrm>
            <a:off x="5638800" y="5715000"/>
            <a:ext cx="685800" cy="685800"/>
          </a:xfrm>
          <a:prstGeom prst="ellipse">
            <a:avLst/>
          </a:prstGeom>
          <a:solidFill>
            <a:srgbClr val="7C6B4D"/>
          </a:solidFill>
          <a:ln w="12600" cap="flat" cmpd="sng">
            <a:solidFill>
              <a:srgbClr val="534733"/>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3600"/>
            </a:pPr>
            <a:r>
              <a:rPr lang="en-GB" sz="3600" kern="0">
                <a:solidFill>
                  <a:srgbClr val="FFFFFF"/>
                </a:solidFill>
                <a:latin typeface="Libre Baskerville"/>
                <a:ea typeface="Libre Baskerville"/>
                <a:cs typeface="Libre Baskerville"/>
                <a:sym typeface="Libre Baskerville"/>
              </a:rPr>
              <a:t>y</a:t>
            </a:r>
            <a:endParaRPr sz="1400" kern="0">
              <a:solidFill>
                <a:srgbClr val="000000"/>
              </a:solidFill>
              <a:latin typeface="Arial"/>
              <a:cs typeface="Arial"/>
              <a:sym typeface="Arial"/>
            </a:endParaRPr>
          </a:p>
        </p:txBody>
      </p:sp>
      <p:sp>
        <p:nvSpPr>
          <p:cNvPr id="707" name="Google Shape;707;p97"/>
          <p:cNvSpPr txBox="1"/>
          <p:nvPr/>
        </p:nvSpPr>
        <p:spPr>
          <a:xfrm>
            <a:off x="1524000" y="3886202"/>
            <a:ext cx="2209800" cy="586957"/>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3200"/>
            </a:pPr>
            <a:r>
              <a:rPr lang="en-GB" sz="3200" kern="0">
                <a:solidFill>
                  <a:srgbClr val="000000"/>
                </a:solidFill>
                <a:latin typeface="Times New Roman"/>
                <a:ea typeface="Times New Roman"/>
                <a:cs typeface="Times New Roman"/>
                <a:sym typeface="Times New Roman"/>
              </a:rPr>
              <a:t>Processing</a:t>
            </a:r>
            <a:endParaRPr sz="1400" kern="0">
              <a:solidFill>
                <a:srgbClr val="000000"/>
              </a:solidFill>
              <a:latin typeface="Arial"/>
              <a:cs typeface="Arial"/>
              <a:sym typeface="Arial"/>
            </a:endParaRPr>
          </a:p>
        </p:txBody>
      </p:sp>
      <p:sp>
        <p:nvSpPr>
          <p:cNvPr id="708" name="Google Shape;708;p97"/>
          <p:cNvSpPr txBox="1"/>
          <p:nvPr/>
        </p:nvSpPr>
        <p:spPr>
          <a:xfrm>
            <a:off x="1524000" y="2209801"/>
            <a:ext cx="1828800" cy="586957"/>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3200"/>
            </a:pPr>
            <a:r>
              <a:rPr lang="en-GB" sz="3200" kern="0">
                <a:solidFill>
                  <a:srgbClr val="000000"/>
                </a:solidFill>
                <a:latin typeface="Times New Roman"/>
                <a:ea typeface="Times New Roman"/>
                <a:cs typeface="Times New Roman"/>
                <a:sym typeface="Times New Roman"/>
              </a:rPr>
              <a:t>Input</a:t>
            </a:r>
            <a:endParaRPr sz="1400" kern="0">
              <a:solidFill>
                <a:srgbClr val="000000"/>
              </a:solidFill>
              <a:latin typeface="Arial"/>
              <a:cs typeface="Arial"/>
              <a:sym typeface="Arial"/>
            </a:endParaRPr>
          </a:p>
        </p:txBody>
      </p:sp>
      <p:cxnSp>
        <p:nvCxnSpPr>
          <p:cNvPr id="709" name="Google Shape;709;p97"/>
          <p:cNvCxnSpPr>
            <a:stCxn id="705" idx="2"/>
            <a:endCxn id="710" idx="0"/>
          </p:cNvCxnSpPr>
          <p:nvPr/>
        </p:nvCxnSpPr>
        <p:spPr>
          <a:xfrm>
            <a:off x="5638801" y="4229100"/>
            <a:ext cx="342900" cy="676200"/>
          </a:xfrm>
          <a:prstGeom prst="straightConnector1">
            <a:avLst/>
          </a:prstGeom>
          <a:noFill/>
          <a:ln w="9525" cap="flat" cmpd="sng">
            <a:solidFill>
              <a:srgbClr val="AF3408"/>
            </a:solidFill>
            <a:prstDash val="solid"/>
            <a:miter lim="800000"/>
            <a:headEnd type="none" w="med" len="med"/>
            <a:tailEnd type="triangle" w="med" len="med"/>
          </a:ln>
        </p:spPr>
      </p:cxnSp>
      <p:sp>
        <p:nvSpPr>
          <p:cNvPr id="711" name="Google Shape;711;p97"/>
          <p:cNvSpPr/>
          <p:nvPr/>
        </p:nvSpPr>
        <p:spPr>
          <a:xfrm>
            <a:off x="7010400" y="2971800"/>
            <a:ext cx="685800" cy="685800"/>
          </a:xfrm>
          <a:prstGeom prst="ellipse">
            <a:avLst/>
          </a:prstGeom>
          <a:solidFill>
            <a:srgbClr val="6E6263"/>
          </a:solidFill>
          <a:ln w="12600" cap="flat" cmpd="sng">
            <a:solidFill>
              <a:srgbClr val="9B320E"/>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2000"/>
            </a:pPr>
            <a:r>
              <a:rPr lang="en-GB" sz="2000" kern="0">
                <a:solidFill>
                  <a:srgbClr val="FFFFFF"/>
                </a:solidFill>
                <a:latin typeface="Libre Baskerville"/>
                <a:ea typeface="Libre Baskerville"/>
                <a:cs typeface="Libre Baskerville"/>
                <a:sym typeface="Libre Baskerville"/>
              </a:rPr>
              <a:t>w</a:t>
            </a:r>
            <a:r>
              <a:rPr lang="en-GB" sz="2400" kern="0" baseline="-25000">
                <a:solidFill>
                  <a:srgbClr val="FFFFFF"/>
                </a:solidFill>
                <a:latin typeface="Libre Baskerville"/>
                <a:ea typeface="Libre Baskerville"/>
                <a:cs typeface="Libre Baskerville"/>
                <a:sym typeface="Libre Baskerville"/>
              </a:rPr>
              <a:t>1</a:t>
            </a:r>
            <a:endParaRPr sz="1400" kern="0">
              <a:solidFill>
                <a:srgbClr val="000000"/>
              </a:solidFill>
              <a:latin typeface="Arial"/>
              <a:cs typeface="Arial"/>
              <a:sym typeface="Arial"/>
            </a:endParaRPr>
          </a:p>
        </p:txBody>
      </p:sp>
      <p:sp>
        <p:nvSpPr>
          <p:cNvPr id="712" name="Google Shape;712;p97"/>
          <p:cNvSpPr/>
          <p:nvPr/>
        </p:nvSpPr>
        <p:spPr>
          <a:xfrm>
            <a:off x="5638800" y="2971800"/>
            <a:ext cx="685800" cy="685800"/>
          </a:xfrm>
          <a:prstGeom prst="ellipse">
            <a:avLst/>
          </a:prstGeom>
          <a:solidFill>
            <a:srgbClr val="6E6263"/>
          </a:solidFill>
          <a:ln w="12600" cap="flat" cmpd="sng">
            <a:solidFill>
              <a:srgbClr val="69240C"/>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FFFFFF"/>
              </a:buClr>
              <a:buSzPts val="2000"/>
            </a:pPr>
            <a:r>
              <a:rPr lang="en-GB" sz="2000" kern="0">
                <a:solidFill>
                  <a:srgbClr val="FFFFFF"/>
                </a:solidFill>
                <a:latin typeface="Libre Baskerville"/>
                <a:ea typeface="Libre Baskerville"/>
                <a:cs typeface="Libre Baskerville"/>
                <a:sym typeface="Libre Baskerville"/>
              </a:rPr>
              <a:t>w</a:t>
            </a:r>
            <a:r>
              <a:rPr lang="en-GB" sz="2400" kern="0" baseline="-25000">
                <a:solidFill>
                  <a:srgbClr val="FFFFFF"/>
                </a:solidFill>
                <a:latin typeface="Libre Baskerville"/>
                <a:ea typeface="Libre Baskerville"/>
                <a:cs typeface="Libre Baskerville"/>
                <a:sym typeface="Libre Baskerville"/>
              </a:rPr>
              <a:t>2</a:t>
            </a:r>
            <a:endParaRPr sz="1400" kern="0">
              <a:solidFill>
                <a:srgbClr val="000000"/>
              </a:solidFill>
              <a:latin typeface="Arial"/>
              <a:cs typeface="Arial"/>
              <a:sym typeface="Arial"/>
            </a:endParaRPr>
          </a:p>
          <a:p>
            <a:pPr algn="ctr" defTabSz="1219170">
              <a:buClr>
                <a:srgbClr val="FFFFFF"/>
              </a:buClr>
              <a:buSzPts val="2400"/>
            </a:pPr>
            <a:endParaRPr sz="2400" kern="0" baseline="-25000">
              <a:solidFill>
                <a:srgbClr val="FFFFFF"/>
              </a:solidFill>
              <a:latin typeface="Libre Baskerville"/>
              <a:ea typeface="Libre Baskerville"/>
              <a:cs typeface="Libre Baskerville"/>
              <a:sym typeface="Libre Baskerville"/>
            </a:endParaRPr>
          </a:p>
        </p:txBody>
      </p:sp>
      <p:sp>
        <p:nvSpPr>
          <p:cNvPr id="713" name="Google Shape;713;p97"/>
          <p:cNvSpPr/>
          <p:nvPr/>
        </p:nvSpPr>
        <p:spPr>
          <a:xfrm>
            <a:off x="4267200" y="2924175"/>
            <a:ext cx="685800" cy="685800"/>
          </a:xfrm>
          <a:prstGeom prst="ellipse">
            <a:avLst/>
          </a:prstGeom>
          <a:solidFill>
            <a:srgbClr val="6E6263"/>
          </a:solidFill>
          <a:ln w="12600" cap="flat" cmpd="sng">
            <a:solidFill>
              <a:srgbClr val="69240C"/>
            </a:solidFill>
            <a:prstDash val="solid"/>
            <a:miter lim="800000"/>
            <a:headEnd type="none" w="sm" len="sm"/>
            <a:tailEnd type="none" w="sm" len="sm"/>
          </a:ln>
        </p:spPr>
        <p:txBody>
          <a:bodyPr spcFirstLastPara="1" wrap="square" lIns="90000" tIns="46800" rIns="90000" bIns="46800" anchor="ctr" anchorCtr="0">
            <a:noAutofit/>
          </a:bodyPr>
          <a:lstStyle/>
          <a:p>
            <a:pPr defTabSz="1219170">
              <a:buClr>
                <a:srgbClr val="FFFFFF"/>
              </a:buClr>
              <a:buSzPts val="2000"/>
            </a:pPr>
            <a:r>
              <a:rPr lang="en-GB" sz="2000" kern="0">
                <a:solidFill>
                  <a:srgbClr val="FFFFFF"/>
                </a:solidFill>
                <a:latin typeface="Libre Baskerville"/>
                <a:ea typeface="Libre Baskerville"/>
                <a:cs typeface="Libre Baskerville"/>
                <a:sym typeface="Libre Baskerville"/>
              </a:rPr>
              <a:t>w</a:t>
            </a:r>
            <a:r>
              <a:rPr lang="en-GB" sz="1400" kern="0" baseline="-25000">
                <a:solidFill>
                  <a:srgbClr val="FFFFFF"/>
                </a:solidFill>
                <a:latin typeface="Libre Baskerville"/>
                <a:ea typeface="Libre Baskerville"/>
                <a:cs typeface="Libre Baskerville"/>
                <a:sym typeface="Libre Baskerville"/>
              </a:rPr>
              <a:t>m</a:t>
            </a:r>
            <a:endParaRPr sz="1400" kern="0">
              <a:solidFill>
                <a:srgbClr val="000000"/>
              </a:solidFill>
              <a:latin typeface="Arial"/>
              <a:cs typeface="Arial"/>
              <a:sym typeface="Arial"/>
            </a:endParaRPr>
          </a:p>
        </p:txBody>
      </p:sp>
      <p:sp>
        <p:nvSpPr>
          <p:cNvPr id="714" name="Google Shape;714;p97"/>
          <p:cNvSpPr txBox="1"/>
          <p:nvPr/>
        </p:nvSpPr>
        <p:spPr>
          <a:xfrm>
            <a:off x="1524000" y="3073402"/>
            <a:ext cx="1828800" cy="586957"/>
          </a:xfrm>
          <a:prstGeom prst="rect">
            <a:avLst/>
          </a:prstGeom>
          <a:noFill/>
          <a:ln>
            <a:noFill/>
          </a:ln>
        </p:spPr>
        <p:txBody>
          <a:bodyPr spcFirstLastPara="1" wrap="square" lIns="90000" tIns="46800" rIns="90000" bIns="46800" anchor="t" anchorCtr="0">
            <a:spAutoFit/>
          </a:bodyPr>
          <a:lstStyle/>
          <a:p>
            <a:pPr algn="ctr" defTabSz="1219170">
              <a:buClr>
                <a:srgbClr val="000000"/>
              </a:buClr>
              <a:buSzPts val="3200"/>
            </a:pPr>
            <a:r>
              <a:rPr lang="en-GB" sz="3200" kern="0">
                <a:solidFill>
                  <a:srgbClr val="000000"/>
                </a:solidFill>
                <a:latin typeface="Times New Roman"/>
                <a:ea typeface="Times New Roman"/>
                <a:cs typeface="Times New Roman"/>
                <a:sym typeface="Times New Roman"/>
              </a:rPr>
              <a:t>weights</a:t>
            </a:r>
            <a:endParaRPr sz="1400" kern="0">
              <a:solidFill>
                <a:srgbClr val="000000"/>
              </a:solidFill>
              <a:latin typeface="Arial"/>
              <a:cs typeface="Arial"/>
              <a:sym typeface="Arial"/>
            </a:endParaRPr>
          </a:p>
        </p:txBody>
      </p:sp>
      <p:sp>
        <p:nvSpPr>
          <p:cNvPr id="715" name="Google Shape;715;p97"/>
          <p:cNvSpPr txBox="1"/>
          <p:nvPr/>
        </p:nvSpPr>
        <p:spPr>
          <a:xfrm>
            <a:off x="4038600" y="1933578"/>
            <a:ext cx="1447800" cy="648512"/>
          </a:xfrm>
          <a:prstGeom prst="rect">
            <a:avLst/>
          </a:prstGeom>
          <a:noFill/>
          <a:ln>
            <a:noFill/>
          </a:ln>
        </p:spPr>
        <p:txBody>
          <a:bodyPr spcFirstLastPara="1" wrap="square" lIns="90000" tIns="46800" rIns="90000" bIns="46800" anchor="t" anchorCtr="0">
            <a:spAutoFit/>
          </a:bodyPr>
          <a:lstStyle/>
          <a:p>
            <a:pPr defTabSz="1219170">
              <a:buClr>
                <a:srgbClr val="000000"/>
              </a:buClr>
              <a:buSzPts val="1800"/>
            </a:pPr>
            <a:r>
              <a:rPr lang="en-GB" kern="0">
                <a:solidFill>
                  <a:srgbClr val="000000"/>
                </a:solidFill>
                <a:latin typeface="Libre Baskerville"/>
                <a:ea typeface="Libre Baskerville"/>
                <a:cs typeface="Libre Baskerville"/>
                <a:sym typeface="Libre Baskerville"/>
              </a:rPr>
              <a:t>. . . . . . . . . . . . </a:t>
            </a:r>
            <a:endParaRPr sz="1400" kern="0">
              <a:solidFill>
                <a:srgbClr val="000000"/>
              </a:solidFill>
              <a:latin typeface="Arial"/>
              <a:cs typeface="Arial"/>
              <a:sym typeface="Arial"/>
            </a:endParaRPr>
          </a:p>
        </p:txBody>
      </p:sp>
      <p:cxnSp>
        <p:nvCxnSpPr>
          <p:cNvPr id="716" name="Google Shape;716;p97"/>
          <p:cNvCxnSpPr>
            <a:stCxn id="704" idx="3"/>
            <a:endCxn id="713" idx="1"/>
          </p:cNvCxnSpPr>
          <p:nvPr/>
        </p:nvCxnSpPr>
        <p:spPr>
          <a:xfrm>
            <a:off x="3377033" y="2442743"/>
            <a:ext cx="990600" cy="582000"/>
          </a:xfrm>
          <a:prstGeom prst="straightConnector1">
            <a:avLst/>
          </a:prstGeom>
          <a:noFill/>
          <a:ln w="9525" cap="flat" cmpd="sng">
            <a:solidFill>
              <a:srgbClr val="AF3408"/>
            </a:solidFill>
            <a:prstDash val="solid"/>
            <a:miter lim="800000"/>
            <a:headEnd type="none" w="med" len="med"/>
            <a:tailEnd type="triangle" w="med" len="med"/>
          </a:ln>
        </p:spPr>
      </p:cxnSp>
      <p:cxnSp>
        <p:nvCxnSpPr>
          <p:cNvPr id="717" name="Google Shape;717;p97"/>
          <p:cNvCxnSpPr>
            <a:stCxn id="703" idx="2"/>
            <a:endCxn id="712" idx="0"/>
          </p:cNvCxnSpPr>
          <p:nvPr/>
        </p:nvCxnSpPr>
        <p:spPr>
          <a:xfrm>
            <a:off x="5638801" y="2200275"/>
            <a:ext cx="342900" cy="771600"/>
          </a:xfrm>
          <a:prstGeom prst="straightConnector1">
            <a:avLst/>
          </a:prstGeom>
          <a:noFill/>
          <a:ln w="9525" cap="flat" cmpd="sng">
            <a:solidFill>
              <a:srgbClr val="AF3408"/>
            </a:solidFill>
            <a:prstDash val="solid"/>
            <a:miter lim="800000"/>
            <a:headEnd type="none" w="med" len="med"/>
            <a:tailEnd type="triangle" w="med" len="med"/>
          </a:ln>
        </p:spPr>
      </p:cxnSp>
      <p:cxnSp>
        <p:nvCxnSpPr>
          <p:cNvPr id="718" name="Google Shape;718;p97"/>
          <p:cNvCxnSpPr/>
          <p:nvPr/>
        </p:nvCxnSpPr>
        <p:spPr>
          <a:xfrm flipH="1">
            <a:off x="7696200" y="2543175"/>
            <a:ext cx="533400" cy="609600"/>
          </a:xfrm>
          <a:prstGeom prst="straightConnector1">
            <a:avLst/>
          </a:prstGeom>
          <a:noFill/>
          <a:ln w="9525" cap="flat" cmpd="sng">
            <a:solidFill>
              <a:srgbClr val="AF3408"/>
            </a:solidFill>
            <a:prstDash val="solid"/>
            <a:miter lim="800000"/>
            <a:headEnd type="none" w="med" len="med"/>
            <a:tailEnd type="triangle" w="med" len="med"/>
          </a:ln>
        </p:spPr>
      </p:cxnSp>
      <p:cxnSp>
        <p:nvCxnSpPr>
          <p:cNvPr id="719" name="Google Shape;719;p97"/>
          <p:cNvCxnSpPr>
            <a:stCxn id="711" idx="1"/>
            <a:endCxn id="705" idx="3"/>
          </p:cNvCxnSpPr>
          <p:nvPr/>
        </p:nvCxnSpPr>
        <p:spPr>
          <a:xfrm flipH="1">
            <a:off x="5739233" y="3072233"/>
            <a:ext cx="1371600" cy="1399200"/>
          </a:xfrm>
          <a:prstGeom prst="straightConnector1">
            <a:avLst/>
          </a:prstGeom>
          <a:noFill/>
          <a:ln w="9525" cap="flat" cmpd="sng">
            <a:solidFill>
              <a:srgbClr val="AF3408"/>
            </a:solidFill>
            <a:prstDash val="solid"/>
            <a:miter lim="800000"/>
            <a:headEnd type="none" w="med" len="med"/>
            <a:tailEnd type="triangle" w="med" len="med"/>
          </a:ln>
        </p:spPr>
      </p:cxnSp>
      <p:cxnSp>
        <p:nvCxnSpPr>
          <p:cNvPr id="720" name="Google Shape;720;p97"/>
          <p:cNvCxnSpPr>
            <a:stCxn id="712" idx="2"/>
            <a:endCxn id="705" idx="0"/>
          </p:cNvCxnSpPr>
          <p:nvPr/>
        </p:nvCxnSpPr>
        <p:spPr>
          <a:xfrm>
            <a:off x="5638801" y="3314701"/>
            <a:ext cx="342900" cy="571500"/>
          </a:xfrm>
          <a:prstGeom prst="straightConnector1">
            <a:avLst/>
          </a:prstGeom>
          <a:noFill/>
          <a:ln w="9525" cap="flat" cmpd="sng">
            <a:solidFill>
              <a:srgbClr val="AF3408"/>
            </a:solidFill>
            <a:prstDash val="solid"/>
            <a:miter lim="800000"/>
            <a:headEnd type="none" w="med" len="med"/>
            <a:tailEnd type="triangle" w="med" len="med"/>
          </a:ln>
        </p:spPr>
      </p:cxnSp>
      <p:cxnSp>
        <p:nvCxnSpPr>
          <p:cNvPr id="721" name="Google Shape;721;p97"/>
          <p:cNvCxnSpPr>
            <a:stCxn id="713" idx="3"/>
            <a:endCxn id="705" idx="1"/>
          </p:cNvCxnSpPr>
          <p:nvPr/>
        </p:nvCxnSpPr>
        <p:spPr>
          <a:xfrm>
            <a:off x="4367633" y="3509543"/>
            <a:ext cx="1371600" cy="477000"/>
          </a:xfrm>
          <a:prstGeom prst="straightConnector1">
            <a:avLst/>
          </a:prstGeom>
          <a:noFill/>
          <a:ln w="9525" cap="flat" cmpd="sng">
            <a:solidFill>
              <a:srgbClr val="AF3408"/>
            </a:solidFill>
            <a:prstDash val="solid"/>
            <a:miter lim="800000"/>
            <a:headEnd type="none" w="med" len="med"/>
            <a:tailEnd type="triangle" w="med" len="med"/>
          </a:ln>
        </p:spPr>
      </p:cxnSp>
      <p:sp>
        <p:nvSpPr>
          <p:cNvPr id="722" name="Google Shape;722;p97"/>
          <p:cNvSpPr/>
          <p:nvPr/>
        </p:nvSpPr>
        <p:spPr>
          <a:xfrm>
            <a:off x="1524000" y="0"/>
            <a:ext cx="9144000" cy="457200"/>
          </a:xfrm>
          <a:prstGeom prst="rect">
            <a:avLst/>
          </a:prstGeom>
          <a:noFill/>
          <a:ln>
            <a:noFill/>
          </a:ln>
        </p:spPr>
        <p:txBody>
          <a:bodyPr spcFirstLastPara="1" wrap="square" lIns="91425" tIns="45700" rIns="91425" bIns="45700" anchor="ctr" anchorCtr="0">
            <a:noAutofit/>
          </a:bodyPr>
          <a:lstStyle/>
          <a:p>
            <a:pPr defTabSz="1219170">
              <a:lnSpc>
                <a:spcPct val="102000"/>
              </a:lnSpc>
              <a:buClr>
                <a:srgbClr val="000000"/>
              </a:buClr>
              <a:buSzPts val="1800"/>
            </a:pPr>
            <a:endParaRPr kern="0">
              <a:solidFill>
                <a:prstClr val="white"/>
              </a:solidFill>
              <a:latin typeface="Libre Baskerville"/>
              <a:ea typeface="Libre Baskerville"/>
              <a:cs typeface="Libre Baskerville"/>
              <a:sym typeface="Libre Baskerville"/>
            </a:endParaRPr>
          </a:p>
        </p:txBody>
      </p:sp>
      <p:pic>
        <p:nvPicPr>
          <p:cNvPr id="723" name="Google Shape;723;p97"/>
          <p:cNvPicPr preferRelativeResize="0"/>
          <p:nvPr/>
        </p:nvPicPr>
        <p:blipFill rotWithShape="1">
          <a:blip r:embed="rId3">
            <a:alphaModFix/>
          </a:blip>
          <a:srcRect/>
          <a:stretch/>
        </p:blipFill>
        <p:spPr>
          <a:xfrm>
            <a:off x="6934200" y="4371978"/>
            <a:ext cx="1295400" cy="714375"/>
          </a:xfrm>
          <a:prstGeom prst="rect">
            <a:avLst/>
          </a:prstGeom>
          <a:solidFill>
            <a:srgbClr val="EF8C6A"/>
          </a:solidFill>
          <a:ln>
            <a:noFill/>
          </a:ln>
        </p:spPr>
      </p:pic>
      <p:sp>
        <p:nvSpPr>
          <p:cNvPr id="724" name="Google Shape;724;p97"/>
          <p:cNvSpPr/>
          <p:nvPr/>
        </p:nvSpPr>
        <p:spPr>
          <a:xfrm>
            <a:off x="1524000" y="942975"/>
            <a:ext cx="9144000" cy="457200"/>
          </a:xfrm>
          <a:prstGeom prst="rect">
            <a:avLst/>
          </a:prstGeom>
          <a:noFill/>
          <a:ln>
            <a:noFill/>
          </a:ln>
        </p:spPr>
        <p:txBody>
          <a:bodyPr spcFirstLastPara="1" wrap="square" lIns="91425" tIns="45700" rIns="91425" bIns="45700" anchor="ctr" anchorCtr="0">
            <a:noAutofit/>
          </a:bodyPr>
          <a:lstStyle/>
          <a:p>
            <a:pPr defTabSz="1219170">
              <a:lnSpc>
                <a:spcPct val="102000"/>
              </a:lnSpc>
              <a:buClr>
                <a:srgbClr val="000000"/>
              </a:buClr>
              <a:buSzPts val="1800"/>
            </a:pPr>
            <a:endParaRPr kern="0">
              <a:solidFill>
                <a:prstClr val="white"/>
              </a:solidFill>
              <a:latin typeface="Libre Baskerville"/>
              <a:ea typeface="Libre Baskerville"/>
              <a:cs typeface="Libre Baskerville"/>
              <a:sym typeface="Libre Baskerville"/>
            </a:endParaRPr>
          </a:p>
        </p:txBody>
      </p:sp>
      <p:sp>
        <p:nvSpPr>
          <p:cNvPr id="725" name="Google Shape;725;p97"/>
          <p:cNvSpPr/>
          <p:nvPr/>
        </p:nvSpPr>
        <p:spPr>
          <a:xfrm>
            <a:off x="1524000" y="0"/>
            <a:ext cx="9144000" cy="457200"/>
          </a:xfrm>
          <a:prstGeom prst="rect">
            <a:avLst/>
          </a:prstGeom>
          <a:noFill/>
          <a:ln>
            <a:noFill/>
          </a:ln>
        </p:spPr>
        <p:txBody>
          <a:bodyPr spcFirstLastPara="1" wrap="square" lIns="91425" tIns="45700" rIns="91425" bIns="45700" anchor="ctr" anchorCtr="0">
            <a:noAutofit/>
          </a:bodyPr>
          <a:lstStyle/>
          <a:p>
            <a:pPr defTabSz="1219170">
              <a:lnSpc>
                <a:spcPct val="102000"/>
              </a:lnSpc>
              <a:buClr>
                <a:srgbClr val="000000"/>
              </a:buClr>
              <a:buSzPts val="1800"/>
            </a:pPr>
            <a:endParaRPr kern="0">
              <a:solidFill>
                <a:prstClr val="white"/>
              </a:solidFill>
              <a:latin typeface="Libre Baskerville"/>
              <a:ea typeface="Libre Baskerville"/>
              <a:cs typeface="Libre Baskerville"/>
              <a:sym typeface="Libre Baskerville"/>
            </a:endParaRPr>
          </a:p>
        </p:txBody>
      </p:sp>
      <p:pic>
        <p:nvPicPr>
          <p:cNvPr id="726" name="Google Shape;726;p97"/>
          <p:cNvPicPr preferRelativeResize="0"/>
          <p:nvPr/>
        </p:nvPicPr>
        <p:blipFill rotWithShape="1">
          <a:blip r:embed="rId4">
            <a:alphaModFix/>
          </a:blip>
          <a:srcRect/>
          <a:stretch/>
        </p:blipFill>
        <p:spPr>
          <a:xfrm>
            <a:off x="6934200" y="5514975"/>
            <a:ext cx="1447800" cy="457200"/>
          </a:xfrm>
          <a:prstGeom prst="rect">
            <a:avLst/>
          </a:prstGeom>
          <a:solidFill>
            <a:srgbClr val="EF8C6A"/>
          </a:solidFill>
          <a:ln>
            <a:noFill/>
          </a:ln>
        </p:spPr>
      </p:pic>
      <p:sp>
        <p:nvSpPr>
          <p:cNvPr id="727" name="Google Shape;727;p97"/>
          <p:cNvSpPr/>
          <p:nvPr/>
        </p:nvSpPr>
        <p:spPr>
          <a:xfrm>
            <a:off x="1524000" y="647700"/>
            <a:ext cx="9144000" cy="457200"/>
          </a:xfrm>
          <a:prstGeom prst="rect">
            <a:avLst/>
          </a:prstGeom>
          <a:noFill/>
          <a:ln>
            <a:noFill/>
          </a:ln>
        </p:spPr>
        <p:txBody>
          <a:bodyPr spcFirstLastPara="1" wrap="square" lIns="91425" tIns="45700" rIns="91425" bIns="45700" anchor="ctr" anchorCtr="0">
            <a:noAutofit/>
          </a:bodyPr>
          <a:lstStyle/>
          <a:p>
            <a:pPr defTabSz="1219170">
              <a:lnSpc>
                <a:spcPct val="102000"/>
              </a:lnSpc>
              <a:buClr>
                <a:srgbClr val="000000"/>
              </a:buClr>
              <a:buSzPts val="1800"/>
            </a:pPr>
            <a:endParaRPr kern="0">
              <a:solidFill>
                <a:prstClr val="white"/>
              </a:solidFill>
              <a:latin typeface="Libre Baskerville"/>
              <a:ea typeface="Libre Baskerville"/>
              <a:cs typeface="Libre Baskerville"/>
              <a:sym typeface="Libre Baskerville"/>
            </a:endParaRPr>
          </a:p>
        </p:txBody>
      </p:sp>
      <p:sp>
        <p:nvSpPr>
          <p:cNvPr id="710" name="Google Shape;710;p97"/>
          <p:cNvSpPr/>
          <p:nvPr/>
        </p:nvSpPr>
        <p:spPr>
          <a:xfrm>
            <a:off x="5486400" y="4905375"/>
            <a:ext cx="990600" cy="457200"/>
          </a:xfrm>
          <a:prstGeom prst="rect">
            <a:avLst/>
          </a:prstGeom>
          <a:solidFill>
            <a:srgbClr val="6E6263"/>
          </a:solidFill>
          <a:ln w="12600" cap="flat" cmpd="sng">
            <a:solidFill>
              <a:srgbClr val="9B320E"/>
            </a:solidFill>
            <a:prstDash val="solid"/>
            <a:miter lim="800000"/>
            <a:headEnd type="none" w="sm" len="sm"/>
            <a:tailEnd type="none" w="sm" len="sm"/>
          </a:ln>
        </p:spPr>
        <p:txBody>
          <a:bodyPr spcFirstLastPara="1" wrap="square" lIns="90000" tIns="46800" rIns="90000" bIns="46800" anchor="ctr" anchorCtr="0">
            <a:noAutofit/>
          </a:bodyPr>
          <a:lstStyle/>
          <a:p>
            <a:pPr algn="ctr" defTabSz="1219170">
              <a:buClr>
                <a:srgbClr val="000000"/>
              </a:buClr>
              <a:buSzPts val="1800"/>
            </a:pPr>
            <a:r>
              <a:rPr lang="en-GB" kern="0">
                <a:solidFill>
                  <a:srgbClr val="000000"/>
                </a:solidFill>
                <a:latin typeface="Libre Baskerville"/>
                <a:ea typeface="Libre Baskerville"/>
                <a:cs typeface="Libre Baskerville"/>
                <a:sym typeface="Libre Baskerville"/>
              </a:rPr>
              <a:t>f(v</a:t>
            </a:r>
            <a:r>
              <a:rPr lang="en-GB" kern="0" baseline="-25000">
                <a:solidFill>
                  <a:srgbClr val="000000"/>
                </a:solidFill>
                <a:latin typeface="Libre Baskerville"/>
                <a:ea typeface="Libre Baskerville"/>
                <a:cs typeface="Libre Baskerville"/>
                <a:sym typeface="Libre Baskerville"/>
              </a:rPr>
              <a:t>k</a:t>
            </a:r>
            <a:r>
              <a:rPr lang="en-GB" kern="0">
                <a:solidFill>
                  <a:srgbClr val="000000"/>
                </a:solidFill>
                <a:latin typeface="Libre Baskerville"/>
                <a:ea typeface="Libre Baskerville"/>
                <a:cs typeface="Libre Baskerville"/>
                <a:sym typeface="Libre Baskerville"/>
              </a:rPr>
              <a:t>)</a:t>
            </a:r>
            <a:endParaRPr sz="1400" kern="0">
              <a:solidFill>
                <a:srgbClr val="000000"/>
              </a:solidFill>
              <a:latin typeface="Arial"/>
              <a:cs typeface="Arial"/>
              <a:sym typeface="Arial"/>
            </a:endParaRPr>
          </a:p>
        </p:txBody>
      </p:sp>
      <p:sp>
        <p:nvSpPr>
          <p:cNvPr id="728" name="Google Shape;728;p97"/>
          <p:cNvSpPr txBox="1"/>
          <p:nvPr/>
        </p:nvSpPr>
        <p:spPr>
          <a:xfrm>
            <a:off x="4953000" y="3076578"/>
            <a:ext cx="685800" cy="648512"/>
          </a:xfrm>
          <a:prstGeom prst="rect">
            <a:avLst/>
          </a:prstGeom>
          <a:noFill/>
          <a:ln>
            <a:noFill/>
          </a:ln>
        </p:spPr>
        <p:txBody>
          <a:bodyPr spcFirstLastPara="1" wrap="square" lIns="90000" tIns="46800" rIns="90000" bIns="46800" anchor="t" anchorCtr="0">
            <a:spAutoFit/>
          </a:bodyPr>
          <a:lstStyle/>
          <a:p>
            <a:pPr defTabSz="1219170">
              <a:buClr>
                <a:srgbClr val="000000"/>
              </a:buClr>
              <a:buSzPts val="1800"/>
            </a:pPr>
            <a:r>
              <a:rPr lang="en-GB" kern="0">
                <a:solidFill>
                  <a:srgbClr val="000000"/>
                </a:solidFill>
                <a:latin typeface="Libre Baskerville"/>
                <a:ea typeface="Libre Baskerville"/>
                <a:cs typeface="Libre Baskerville"/>
                <a:sym typeface="Libre Baskerville"/>
              </a:rPr>
              <a:t>. . . . . </a:t>
            </a:r>
            <a:endParaRPr sz="1400" kern="0">
              <a:solidFill>
                <a:srgbClr val="000000"/>
              </a:solidFill>
              <a:latin typeface="Arial"/>
              <a:cs typeface="Arial"/>
              <a:sym typeface="Arial"/>
            </a:endParaRPr>
          </a:p>
        </p:txBody>
      </p:sp>
      <p:cxnSp>
        <p:nvCxnSpPr>
          <p:cNvPr id="729" name="Google Shape;729;p97"/>
          <p:cNvCxnSpPr>
            <a:stCxn id="710" idx="2"/>
            <a:endCxn id="706" idx="0"/>
          </p:cNvCxnSpPr>
          <p:nvPr/>
        </p:nvCxnSpPr>
        <p:spPr>
          <a:xfrm>
            <a:off x="5981700" y="5362575"/>
            <a:ext cx="0" cy="352500"/>
          </a:xfrm>
          <a:prstGeom prst="straightConnector1">
            <a:avLst/>
          </a:prstGeom>
          <a:noFill/>
          <a:ln w="9525" cap="flat" cmpd="sng">
            <a:solidFill>
              <a:srgbClr val="AF3408"/>
            </a:solidFill>
            <a:prstDash val="solid"/>
            <a:miter lim="800000"/>
            <a:headEnd type="none" w="med" len="med"/>
            <a:tailEnd type="triangle" w="med" len="med"/>
          </a:ln>
        </p:spPr>
      </p:cxnSp>
      <p:sp>
        <p:nvSpPr>
          <p:cNvPr id="2" name="Date Placeholder 1">
            <a:extLst>
              <a:ext uri="{FF2B5EF4-FFF2-40B4-BE49-F238E27FC236}">
                <a16:creationId xmlns:a16="http://schemas.microsoft.com/office/drawing/2014/main" id="{FAAD8878-FF78-CAF7-1F48-D3F2B60F01FF}"/>
              </a:ext>
            </a:extLst>
          </p:cNvPr>
          <p:cNvSpPr>
            <a:spLocks noGrp="1"/>
          </p:cNvSpPr>
          <p:nvPr>
            <p:ph type="dt" sz="half" idx="10"/>
          </p:nvPr>
        </p:nvSpPr>
        <p:spPr/>
        <p:txBody>
          <a:bodyPr/>
          <a:lstStyle/>
          <a:p>
            <a:pPr defTabSz="1219170">
              <a:buClr>
                <a:srgbClr val="000000"/>
              </a:buClr>
            </a:pPr>
            <a:fld id="{8992689C-EC78-45C5-8725-8EBA3FBC1948}"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E74FC775-ABDC-09EA-53B4-0CEB55B37271}"/>
              </a:ext>
            </a:extLst>
          </p:cNvPr>
          <p:cNvSpPr>
            <a:spLocks noGrp="1"/>
          </p:cNvSpPr>
          <p:nvPr>
            <p:ph type="sldNum" sz="quarter" idx="12"/>
          </p:nvPr>
        </p:nvSpPr>
        <p:spPr/>
        <p:txBody>
          <a:bodyPr/>
          <a:lstStyle/>
          <a:p>
            <a:pPr defTabSz="1219170">
              <a:buClr>
                <a:srgbClr val="000000"/>
              </a:buClr>
            </a:pPr>
            <a:fld id="{4FAB73BC-B049-4115-A692-8D63A059BFB8}" type="slidenum">
              <a:rPr lang="en-US" kern="0" smtClean="0">
                <a:latin typeface="Arial"/>
                <a:cs typeface="Arial"/>
                <a:sym typeface="Arial"/>
              </a:rPr>
              <a:pPr defTabSz="1219170">
                <a:buClr>
                  <a:srgbClr val="000000"/>
                </a:buClr>
              </a:pPr>
              <a:t>20</a:t>
            </a:fld>
            <a:endParaRPr lang="en-US" kern="0" dirty="0">
              <a:latin typeface="Arial"/>
              <a:cs typeface="Arial"/>
              <a:sym typeface="Arial"/>
            </a:endParaRPr>
          </a:p>
        </p:txBody>
      </p:sp>
    </p:spTree>
    <p:extLst>
      <p:ext uri="{BB962C8B-B14F-4D97-AF65-F5344CB8AC3E}">
        <p14:creationId xmlns:p14="http://schemas.microsoft.com/office/powerpoint/2010/main" val="3285507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1120501" y="570077"/>
            <a:ext cx="7545388" cy="458788"/>
          </a:xfrm>
          <a:ln/>
          <a:extLst>
            <a:ext uri="{91240B29-F687-4F45-9708-019B960494DF}">
              <a14:hiddenLine xmlns:a14="http://schemas.microsoft.com/office/drawing/2010/main" w="9525">
                <a:solidFill>
                  <a:srgbClr val="000000"/>
                </a:solidFill>
                <a:round/>
                <a:headEnd/>
                <a:tailEnd/>
              </a14:hiddenLine>
            </a:ext>
          </a:extLst>
        </p:spPr>
        <p:txBody>
          <a:bodyPr spcFirstLastPara="1" vert="horz" wrap="square" lIns="0" tIns="0" rIns="0" bIns="0" rtlCol="0" anchor="ctr" anchorCtr="0">
            <a:normAutofit fontScale="90000"/>
          </a:bodyPr>
          <a:lstStyle/>
          <a:p>
            <a:pPr defTabSz="449251">
              <a:tabLst>
                <a:tab pos="723882" algn="l"/>
                <a:tab pos="1447764" algn="l"/>
                <a:tab pos="2171646" algn="l"/>
                <a:tab pos="2895528" algn="l"/>
                <a:tab pos="3619410" algn="l"/>
                <a:tab pos="4343291" algn="l"/>
                <a:tab pos="5067173" algn="l"/>
                <a:tab pos="5791055" algn="l"/>
                <a:tab pos="6514937" algn="l"/>
                <a:tab pos="7238819" algn="l"/>
                <a:tab pos="7962701" algn="l"/>
              </a:tabLst>
            </a:pPr>
            <a:r>
              <a:rPr lang="en-GB" altLang="en-US" dirty="0"/>
              <a:t>History</a:t>
            </a:r>
          </a:p>
        </p:txBody>
      </p:sp>
      <p:sp>
        <p:nvSpPr>
          <p:cNvPr id="63491" name="Rectangle 3"/>
          <p:cNvSpPr>
            <a:spLocks noGrp="1" noChangeArrowheads="1"/>
          </p:cNvSpPr>
          <p:nvPr>
            <p:ph type="body" idx="1"/>
          </p:nvPr>
        </p:nvSpPr>
        <p:spPr>
          <a:xfrm>
            <a:off x="415851" y="1342065"/>
            <a:ext cx="11577675" cy="5198139"/>
          </a:xfrm>
          <a:ln/>
          <a:extLst>
            <a:ext uri="{91240B29-F687-4F45-9708-019B960494DF}">
              <a14:hiddenLine xmlns:a14="http://schemas.microsoft.com/office/drawing/2010/main" w="9525">
                <a:solidFill>
                  <a:srgbClr val="000000"/>
                </a:solidFill>
                <a:round/>
                <a:headEnd/>
                <a:tailEnd/>
              </a14:hiddenLine>
            </a:ext>
          </a:extLst>
        </p:spPr>
        <p:txBody>
          <a:bodyPr spcFirstLastPara="1" vert="horz" wrap="square" lIns="0" tIns="0" rIns="0" bIns="0" rtlCol="0" anchor="t" anchorCtr="0">
            <a:normAutofit fontScale="85000" lnSpcReduction="20000"/>
          </a:bodyPr>
          <a:lstStyle/>
          <a:p>
            <a:pPr marL="107947" indent="0" algn="just" defTabSz="449251">
              <a:buNone/>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GB" altLang="en-US" sz="2667" dirty="0"/>
              <a:t>late-1800's </a:t>
            </a:r>
          </a:p>
          <a:p>
            <a:pPr marL="863578" lvl="1" indent="-287331" algn="just" defTabSz="449251">
              <a:lnSpc>
                <a:spcPct val="100000"/>
              </a:lnSpc>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GB" altLang="en-US" sz="2667" dirty="0"/>
              <a:t>I</a:t>
            </a:r>
            <a:r>
              <a:rPr lang="en-US" altLang="en-US" sz="2400" dirty="0"/>
              <a:t>n the late 1800s, scientists studying the human brain and nervous system proposed that intelligence arises from interconnected biological neurons. At this stage, neural networks were conceptual models, not computational systems, because computers did not yet exist.</a:t>
            </a:r>
          </a:p>
          <a:p>
            <a:pPr marL="107947" indent="0" defTabSz="449251">
              <a:buNone/>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GB" altLang="en-US" sz="2667" dirty="0"/>
              <a:t>1960's and 70's – Simple neural networks appear</a:t>
            </a:r>
          </a:p>
          <a:p>
            <a:pPr marL="863578" lvl="1" indent="-287331" defTabSz="449251">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US" altLang="en-US" sz="2400" dirty="0"/>
              <a:t>With the advent of early computers, </a:t>
            </a:r>
            <a:r>
              <a:rPr lang="en-US" altLang="en-US" sz="2400" dirty="0">
                <a:solidFill>
                  <a:srgbClr val="FF0000"/>
                </a:solidFill>
              </a:rPr>
              <a:t>researchers began developing simple artificial neural networks</a:t>
            </a:r>
            <a:r>
              <a:rPr lang="en-US" altLang="en-US" sz="2400" dirty="0"/>
              <a:t>, most notably the perceptron. These models could perform basic pattern recognition and classification tasks. However, they were limited to linearly separable problems.</a:t>
            </a:r>
          </a:p>
          <a:p>
            <a:pPr marL="863578" lvl="1" indent="-287331" defTabSz="449251">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US" altLang="en-US" sz="2400" dirty="0"/>
              <a:t>Neural networks fell out of favor in the late 1960s and 1970s because: A single-layer perceptron was not powerful enough to model complex patterns.</a:t>
            </a:r>
          </a:p>
          <a:p>
            <a:pPr marL="863578" lvl="1" indent="-287331" defTabSz="449251">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US" altLang="en-US" sz="2400" dirty="0"/>
              <a:t>There were no effective training algorithms for multilayer neural networks. Research showed theoretical limitations of </a:t>
            </a:r>
            <a:r>
              <a:rPr lang="en-US" altLang="en-US" sz="2400" dirty="0" err="1"/>
              <a:t>perceptrons</a:t>
            </a:r>
            <a:r>
              <a:rPr lang="en-US" altLang="en-US" sz="2400" dirty="0"/>
              <a:t>, leading to reduced funding and interest. This is called </a:t>
            </a:r>
            <a:r>
              <a:rPr lang="en-US" altLang="en-US" sz="2400" b="1" dirty="0"/>
              <a:t>AI winter</a:t>
            </a:r>
            <a:r>
              <a:rPr lang="en-US" altLang="en-US" sz="2400" dirty="0"/>
              <a:t>.</a:t>
            </a:r>
          </a:p>
          <a:p>
            <a:pPr marL="283646" indent="0" defTabSz="449251">
              <a:buNone/>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GB" altLang="en-US" sz="2867" dirty="0"/>
              <a:t>1986 – Backpropagation algorithm appears</a:t>
            </a:r>
          </a:p>
          <a:p>
            <a:pPr marL="863578" lvl="1" indent="-287331" defTabSz="449251">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US" altLang="en-US" sz="2400" dirty="0"/>
              <a:t>the backpropagation algorithm was introduced and popularized, providing an efficient method to train multilayer neural networks by adjusting weights using gradient descent.</a:t>
            </a:r>
          </a:p>
          <a:p>
            <a:pPr marL="863578" lvl="1" indent="-287331" defTabSz="449251">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US" altLang="en-US" sz="2400" dirty="0"/>
              <a:t>Neural networks regained popularity due to their ability to solve non-linear and complex problems.</a:t>
            </a:r>
          </a:p>
          <a:p>
            <a:pPr marL="863578" lvl="1" indent="-287331" defTabSz="449251">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US" altLang="en-US" sz="2400" dirty="0"/>
              <a:t>Researchers successfully applied them to speech recognition, image processing, and pattern recognition.</a:t>
            </a:r>
            <a:endParaRPr lang="en-GB" altLang="en-US" sz="2400" dirty="0"/>
          </a:p>
        </p:txBody>
      </p:sp>
      <p:sp>
        <p:nvSpPr>
          <p:cNvPr id="2" name="Date Placeholder 1">
            <a:extLst>
              <a:ext uri="{FF2B5EF4-FFF2-40B4-BE49-F238E27FC236}">
                <a16:creationId xmlns:a16="http://schemas.microsoft.com/office/drawing/2014/main" id="{81642A3A-EE14-8602-7657-4E94B8CC7D56}"/>
              </a:ext>
            </a:extLst>
          </p:cNvPr>
          <p:cNvSpPr>
            <a:spLocks noGrp="1"/>
          </p:cNvSpPr>
          <p:nvPr>
            <p:ph type="dt" sz="half" idx="10"/>
          </p:nvPr>
        </p:nvSpPr>
        <p:spPr/>
        <p:txBody>
          <a:bodyPr/>
          <a:lstStyle/>
          <a:p>
            <a:pPr defTabSz="1219170">
              <a:buClr>
                <a:srgbClr val="000000"/>
              </a:buClr>
            </a:pPr>
            <a:fld id="{1554ED89-B288-494C-80A4-909CB597553E}"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4417BE42-EB53-388C-1011-929C05C15920}"/>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21</a:t>
            </a:fld>
            <a:endParaRPr lang="en-US" kern="0" dirty="0">
              <a:latin typeface="Arial"/>
              <a:cs typeface="Arial"/>
              <a:sym typeface="Arial"/>
            </a:endParaRPr>
          </a:p>
        </p:txBody>
      </p:sp>
    </p:spTree>
    <p:extLst>
      <p:ext uri="{BB962C8B-B14F-4D97-AF65-F5344CB8AC3E}">
        <p14:creationId xmlns:p14="http://schemas.microsoft.com/office/powerpoint/2010/main" val="4247720652"/>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838200" y="591953"/>
            <a:ext cx="10515600" cy="530803"/>
          </a:xfrm>
        </p:spPr>
        <p:txBody>
          <a:bodyPr>
            <a:normAutofit fontScale="90000"/>
          </a:bodyPr>
          <a:lstStyle/>
          <a:p>
            <a:r>
              <a:rPr lang="en-AU" altLang="en-US" dirty="0"/>
              <a:t>Applications of ANNs</a:t>
            </a:r>
          </a:p>
        </p:txBody>
      </p:sp>
      <p:sp>
        <p:nvSpPr>
          <p:cNvPr id="61443" name="Rectangle 3"/>
          <p:cNvSpPr>
            <a:spLocks noGrp="1" noChangeArrowheads="1"/>
          </p:cNvSpPr>
          <p:nvPr>
            <p:ph type="body" idx="1"/>
          </p:nvPr>
        </p:nvSpPr>
        <p:spPr>
          <a:xfrm>
            <a:off x="965200" y="1487110"/>
            <a:ext cx="10388600" cy="5021263"/>
          </a:xfrm>
        </p:spPr>
        <p:txBody>
          <a:bodyPr>
            <a:normAutofit/>
          </a:bodyPr>
          <a:lstStyle/>
          <a:p>
            <a:pPr marL="76198" indent="0" algn="just">
              <a:buNone/>
            </a:pPr>
            <a:r>
              <a:rPr lang="en-AU" altLang="en-US" sz="4267" b="1" dirty="0"/>
              <a:t>Pattern recognition: </a:t>
            </a:r>
            <a:r>
              <a:rPr lang="en-GB" sz="2400" dirty="0"/>
              <a:t>ANNs can identify and classify patterns in data, making them highly useful in </a:t>
            </a:r>
            <a:r>
              <a:rPr lang="en-GB" sz="2400" b="1" dirty="0"/>
              <a:t>image processing, speech recognition, and handwriting recognition</a:t>
            </a:r>
            <a:r>
              <a:rPr lang="en-GB" sz="2400" dirty="0"/>
              <a:t>.</a:t>
            </a:r>
          </a:p>
          <a:p>
            <a:pPr marL="50799" indent="0" algn="just">
              <a:buNone/>
            </a:pPr>
            <a:r>
              <a:rPr lang="en-GB" sz="2400" b="1" dirty="0"/>
              <a:t>Examples:</a:t>
            </a:r>
          </a:p>
          <a:p>
            <a:pPr algn="just"/>
            <a:r>
              <a:rPr lang="en-GB" sz="2400" b="1" dirty="0"/>
              <a:t>Image Recognition:</a:t>
            </a:r>
            <a:r>
              <a:rPr lang="en-GB" sz="2400" dirty="0"/>
              <a:t> ANNs are used in facial recognition, medical image analysis (</a:t>
            </a:r>
            <a:r>
              <a:rPr lang="en-GB" sz="2400" dirty="0" err="1"/>
              <a:t>tumor</a:t>
            </a:r>
            <a:r>
              <a:rPr lang="en-GB" sz="2400" dirty="0"/>
              <a:t> detection), and object recognition in autonomous vehicles.</a:t>
            </a:r>
          </a:p>
          <a:p>
            <a:pPr algn="just"/>
            <a:r>
              <a:rPr lang="en-GB" sz="2400" b="1" dirty="0"/>
              <a:t>Speech Recognition:</a:t>
            </a:r>
            <a:r>
              <a:rPr lang="en-GB" sz="2400" dirty="0"/>
              <a:t> Voice assistants like Siri, Google Assistant, and Alexa use ANNs to understand spoken commands.</a:t>
            </a:r>
          </a:p>
          <a:p>
            <a:pPr algn="just"/>
            <a:r>
              <a:rPr lang="en-GB" sz="2400" b="1" dirty="0"/>
              <a:t>Handwriting Recognition:</a:t>
            </a:r>
            <a:r>
              <a:rPr lang="en-GB" sz="2400" dirty="0"/>
              <a:t> ANNs help convert handwritten text into digital text, used in postal services and banking (check processing).</a:t>
            </a:r>
          </a:p>
          <a:p>
            <a:pPr marL="533387" lvl="1" indent="0">
              <a:buNone/>
            </a:pPr>
            <a:endParaRPr lang="en-AU" altLang="en-US" dirty="0"/>
          </a:p>
          <a:p>
            <a:pPr lvl="1">
              <a:buFont typeface="Wingdings" panose="05000000000000000000" pitchFamily="2" charset="2"/>
              <a:buNone/>
            </a:pPr>
            <a:endParaRPr lang="en-AU" altLang="en-US" dirty="0"/>
          </a:p>
          <a:p>
            <a:pPr lvl="1"/>
            <a:endParaRPr lang="en-AU" altLang="en-US" dirty="0"/>
          </a:p>
        </p:txBody>
      </p:sp>
      <p:sp>
        <p:nvSpPr>
          <p:cNvPr id="2" name="Date Placeholder 1">
            <a:extLst>
              <a:ext uri="{FF2B5EF4-FFF2-40B4-BE49-F238E27FC236}">
                <a16:creationId xmlns:a16="http://schemas.microsoft.com/office/drawing/2014/main" id="{8404D638-542A-FCD2-D67C-4FB975E577C6}"/>
              </a:ext>
            </a:extLst>
          </p:cNvPr>
          <p:cNvSpPr>
            <a:spLocks noGrp="1"/>
          </p:cNvSpPr>
          <p:nvPr>
            <p:ph type="dt" sz="half" idx="10"/>
          </p:nvPr>
        </p:nvSpPr>
        <p:spPr/>
        <p:txBody>
          <a:bodyPr/>
          <a:lstStyle/>
          <a:p>
            <a:pPr defTabSz="1219170">
              <a:buClr>
                <a:srgbClr val="000000"/>
              </a:buClr>
            </a:pPr>
            <a:fld id="{6C1FB7CC-8A01-480F-BB34-4A597ECB9CF6}"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30C0CD72-4922-E1A6-875E-F7785814B29C}"/>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22</a:t>
            </a:fld>
            <a:endParaRPr lang="en-US" kern="0" dirty="0">
              <a:latin typeface="Arial"/>
              <a:cs typeface="Arial"/>
              <a:sym typeface="Arial"/>
            </a:endParaRPr>
          </a:p>
        </p:txBody>
      </p:sp>
    </p:spTree>
    <p:extLst>
      <p:ext uri="{BB962C8B-B14F-4D97-AF65-F5344CB8AC3E}">
        <p14:creationId xmlns:p14="http://schemas.microsoft.com/office/powerpoint/2010/main" val="21597287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838200" y="365125"/>
            <a:ext cx="10515600" cy="530803"/>
          </a:xfrm>
        </p:spPr>
        <p:txBody>
          <a:bodyPr>
            <a:normAutofit fontScale="90000"/>
          </a:bodyPr>
          <a:lstStyle/>
          <a:p>
            <a:r>
              <a:rPr lang="en-AU" altLang="en-US" dirty="0"/>
              <a:t>Applications of ANNs</a:t>
            </a:r>
          </a:p>
        </p:txBody>
      </p:sp>
      <p:sp>
        <p:nvSpPr>
          <p:cNvPr id="61443" name="Rectangle 3"/>
          <p:cNvSpPr>
            <a:spLocks noGrp="1" noChangeArrowheads="1"/>
          </p:cNvSpPr>
          <p:nvPr>
            <p:ph type="body" idx="1"/>
          </p:nvPr>
        </p:nvSpPr>
        <p:spPr>
          <a:xfrm>
            <a:off x="901700" y="1572170"/>
            <a:ext cx="10388600" cy="5021263"/>
          </a:xfrm>
        </p:spPr>
        <p:txBody>
          <a:bodyPr>
            <a:normAutofit/>
          </a:bodyPr>
          <a:lstStyle/>
          <a:p>
            <a:pPr marL="50799" indent="0" algn="just">
              <a:buNone/>
            </a:pPr>
            <a:r>
              <a:rPr lang="en-GB" sz="2667" b="1" dirty="0"/>
              <a:t>Function Approximation: </a:t>
            </a:r>
            <a:r>
              <a:rPr lang="en-GB" sz="2667" dirty="0"/>
              <a:t>ANNs can approximate complex mathematical functions based on input-output data, making them useful for </a:t>
            </a:r>
            <a:r>
              <a:rPr lang="en-GB" sz="2667" b="1" dirty="0"/>
              <a:t>predictive </a:t>
            </a:r>
            <a:r>
              <a:rPr lang="en-GB" sz="2667" b="1" dirty="0" err="1"/>
              <a:t>modeling</a:t>
            </a:r>
            <a:r>
              <a:rPr lang="en-GB" sz="2667" b="1" dirty="0"/>
              <a:t> and simulations</a:t>
            </a:r>
            <a:r>
              <a:rPr lang="en-GB" sz="2667" dirty="0"/>
              <a:t>.</a:t>
            </a:r>
          </a:p>
          <a:p>
            <a:pPr marL="50799" indent="0">
              <a:buNone/>
            </a:pPr>
            <a:r>
              <a:rPr lang="en-GB" sz="2667" b="1" dirty="0"/>
              <a:t>Examples:</a:t>
            </a:r>
            <a:endParaRPr lang="en-GB" sz="2667" dirty="0"/>
          </a:p>
          <a:p>
            <a:pPr lvl="1" algn="just"/>
            <a:r>
              <a:rPr lang="en-GB" sz="2400" b="1" dirty="0"/>
              <a:t>Stock Market Prediction:</a:t>
            </a:r>
            <a:r>
              <a:rPr lang="en-GB" sz="2400" dirty="0"/>
              <a:t> ANNs </a:t>
            </a:r>
            <a:r>
              <a:rPr lang="en-GB" sz="2400" dirty="0" err="1"/>
              <a:t>analyze</a:t>
            </a:r>
            <a:r>
              <a:rPr lang="en-GB" sz="2400" dirty="0"/>
              <a:t> historical data to predict future stock trends.</a:t>
            </a:r>
          </a:p>
          <a:p>
            <a:pPr lvl="1" algn="just"/>
            <a:r>
              <a:rPr lang="en-GB" sz="2400" b="1" dirty="0"/>
              <a:t>Weather Forecasting:</a:t>
            </a:r>
            <a:r>
              <a:rPr lang="en-GB" sz="2400" dirty="0"/>
              <a:t> Neural networks help predict weather conditions based on historical climate data.</a:t>
            </a:r>
          </a:p>
          <a:p>
            <a:pPr lvl="1" algn="just"/>
            <a:r>
              <a:rPr lang="en-GB" sz="2400" b="1" dirty="0"/>
              <a:t>Engineering &amp; Control Systems:</a:t>
            </a:r>
            <a:r>
              <a:rPr lang="en-GB" sz="2400" dirty="0"/>
              <a:t> Used in robotics and industrial automation to model complex physical systems.</a:t>
            </a:r>
          </a:p>
          <a:p>
            <a:pPr marL="533387" lvl="1" indent="0">
              <a:buNone/>
            </a:pPr>
            <a:endParaRPr lang="en-AU" altLang="en-US" dirty="0"/>
          </a:p>
          <a:p>
            <a:pPr lvl="1">
              <a:buFont typeface="Wingdings" panose="05000000000000000000" pitchFamily="2" charset="2"/>
              <a:buNone/>
            </a:pPr>
            <a:endParaRPr lang="en-AU" altLang="en-US" dirty="0"/>
          </a:p>
          <a:p>
            <a:pPr lvl="1"/>
            <a:endParaRPr lang="en-AU" altLang="en-US" dirty="0"/>
          </a:p>
        </p:txBody>
      </p:sp>
      <p:sp>
        <p:nvSpPr>
          <p:cNvPr id="2" name="Date Placeholder 1">
            <a:extLst>
              <a:ext uri="{FF2B5EF4-FFF2-40B4-BE49-F238E27FC236}">
                <a16:creationId xmlns:a16="http://schemas.microsoft.com/office/drawing/2014/main" id="{99961861-6EC0-D325-F93D-D3E3B320B5F8}"/>
              </a:ext>
            </a:extLst>
          </p:cNvPr>
          <p:cNvSpPr>
            <a:spLocks noGrp="1"/>
          </p:cNvSpPr>
          <p:nvPr>
            <p:ph type="dt" sz="half" idx="10"/>
          </p:nvPr>
        </p:nvSpPr>
        <p:spPr/>
        <p:txBody>
          <a:bodyPr/>
          <a:lstStyle/>
          <a:p>
            <a:pPr defTabSz="1219170">
              <a:buClr>
                <a:srgbClr val="000000"/>
              </a:buClr>
            </a:pPr>
            <a:fld id="{CB71AAAC-FF86-4C9B-BD3B-16EB8A12031F}"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0DBC3BAD-1B32-9EE6-2B21-2C1F7A0FEF9B}"/>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23</a:t>
            </a:fld>
            <a:endParaRPr lang="en-US" kern="0" dirty="0">
              <a:latin typeface="Arial"/>
              <a:cs typeface="Arial"/>
              <a:sym typeface="Arial"/>
            </a:endParaRPr>
          </a:p>
        </p:txBody>
      </p:sp>
    </p:spTree>
    <p:extLst>
      <p:ext uri="{BB962C8B-B14F-4D97-AF65-F5344CB8AC3E}">
        <p14:creationId xmlns:p14="http://schemas.microsoft.com/office/powerpoint/2010/main" val="21352617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838200" y="365125"/>
            <a:ext cx="10515600" cy="530803"/>
          </a:xfrm>
        </p:spPr>
        <p:txBody>
          <a:bodyPr>
            <a:normAutofit fontScale="90000"/>
          </a:bodyPr>
          <a:lstStyle/>
          <a:p>
            <a:r>
              <a:rPr lang="en-AU" altLang="en-US" dirty="0"/>
              <a:t>Applications of ANNs</a:t>
            </a:r>
          </a:p>
        </p:txBody>
      </p:sp>
      <p:sp>
        <p:nvSpPr>
          <p:cNvPr id="61443" name="Rectangle 3"/>
          <p:cNvSpPr>
            <a:spLocks noGrp="1" noChangeArrowheads="1"/>
          </p:cNvSpPr>
          <p:nvPr>
            <p:ph type="body" idx="1"/>
          </p:nvPr>
        </p:nvSpPr>
        <p:spPr>
          <a:xfrm>
            <a:off x="838200" y="1562721"/>
            <a:ext cx="10388600" cy="5021263"/>
          </a:xfrm>
        </p:spPr>
        <p:txBody>
          <a:bodyPr>
            <a:normAutofit/>
          </a:bodyPr>
          <a:lstStyle/>
          <a:p>
            <a:pPr marL="50799" indent="0">
              <a:buNone/>
            </a:pPr>
            <a:r>
              <a:rPr lang="en-GB" sz="2667" b="1" dirty="0"/>
              <a:t>Associative Memory: </a:t>
            </a:r>
            <a:r>
              <a:rPr lang="en-GB" sz="2667" dirty="0"/>
              <a:t>ANNs can store and recall information based on learned associations, similar to how the human brain remembers related concepts.</a:t>
            </a:r>
          </a:p>
          <a:p>
            <a:r>
              <a:rPr lang="en-GB" sz="2667" b="1" dirty="0"/>
              <a:t>Examples:</a:t>
            </a:r>
            <a:endParaRPr lang="en-GB" sz="2667" dirty="0"/>
          </a:p>
          <a:p>
            <a:pPr lvl="1" algn="just"/>
            <a:r>
              <a:rPr lang="en-GB" sz="2400" b="1" dirty="0"/>
              <a:t>Content Recommendation:</a:t>
            </a:r>
            <a:r>
              <a:rPr lang="en-GB" sz="2400" dirty="0"/>
              <a:t> Streaming platforms like Netflix and Spotify use ANNs to associate user preferences with relevant content.</a:t>
            </a:r>
          </a:p>
          <a:p>
            <a:pPr lvl="1" algn="just"/>
            <a:r>
              <a:rPr lang="en-GB" sz="2400" b="1" dirty="0"/>
              <a:t>Medical Diagnosis:</a:t>
            </a:r>
            <a:r>
              <a:rPr lang="en-GB" sz="2400" dirty="0"/>
              <a:t> ANNs store patterns of symptoms and diseases to assist doctors in diagnosing illnesses.</a:t>
            </a:r>
          </a:p>
          <a:p>
            <a:pPr lvl="1" algn="just"/>
            <a:r>
              <a:rPr lang="en-GB" sz="2400" b="1" dirty="0"/>
              <a:t>Cognitive Computing:</a:t>
            </a:r>
            <a:r>
              <a:rPr lang="en-GB" sz="2400" dirty="0"/>
              <a:t> Used in AI systems to mimic human memory, like recognizing faces or recalling user preferences in smart assistants.</a:t>
            </a:r>
          </a:p>
          <a:p>
            <a:pPr marL="533387" lvl="1" indent="0">
              <a:buNone/>
            </a:pPr>
            <a:endParaRPr lang="en-AU" altLang="en-US" dirty="0"/>
          </a:p>
          <a:p>
            <a:pPr lvl="1">
              <a:buFont typeface="Wingdings" panose="05000000000000000000" pitchFamily="2" charset="2"/>
              <a:buNone/>
            </a:pPr>
            <a:endParaRPr lang="en-AU" altLang="en-US" dirty="0"/>
          </a:p>
          <a:p>
            <a:pPr lvl="1"/>
            <a:endParaRPr lang="en-AU" altLang="en-US" dirty="0"/>
          </a:p>
        </p:txBody>
      </p:sp>
      <p:sp>
        <p:nvSpPr>
          <p:cNvPr id="2" name="Date Placeholder 1">
            <a:extLst>
              <a:ext uri="{FF2B5EF4-FFF2-40B4-BE49-F238E27FC236}">
                <a16:creationId xmlns:a16="http://schemas.microsoft.com/office/drawing/2014/main" id="{B60C24DF-89C3-0199-2C1D-29E8C8EDAB72}"/>
              </a:ext>
            </a:extLst>
          </p:cNvPr>
          <p:cNvSpPr>
            <a:spLocks noGrp="1"/>
          </p:cNvSpPr>
          <p:nvPr>
            <p:ph type="dt" sz="half" idx="10"/>
          </p:nvPr>
        </p:nvSpPr>
        <p:spPr/>
        <p:txBody>
          <a:bodyPr/>
          <a:lstStyle/>
          <a:p>
            <a:pPr defTabSz="1219170">
              <a:buClr>
                <a:srgbClr val="000000"/>
              </a:buClr>
            </a:pPr>
            <a:fld id="{C4FD08A1-56E7-47D8-A806-DE46DFF23B8C}"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27383498-E255-EDC9-3294-09F1B9B6B56B}"/>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24</a:t>
            </a:fld>
            <a:endParaRPr lang="en-US" kern="0" dirty="0">
              <a:latin typeface="Arial"/>
              <a:cs typeface="Arial"/>
              <a:sym typeface="Arial"/>
            </a:endParaRPr>
          </a:p>
        </p:txBody>
      </p:sp>
    </p:spTree>
    <p:extLst>
      <p:ext uri="{BB962C8B-B14F-4D97-AF65-F5344CB8AC3E}">
        <p14:creationId xmlns:p14="http://schemas.microsoft.com/office/powerpoint/2010/main" val="3243526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1335682" y="661940"/>
            <a:ext cx="7545388" cy="457200"/>
          </a:xfrm>
          <a:ln/>
          <a:extLst>
            <a:ext uri="{91240B29-F687-4F45-9708-019B960494DF}">
              <a14:hiddenLine xmlns:a14="http://schemas.microsoft.com/office/drawing/2010/main" w="9525">
                <a:solidFill>
                  <a:srgbClr val="000000"/>
                </a:solidFill>
                <a:round/>
                <a:headEnd/>
                <a:tailEnd/>
              </a14:hiddenLine>
            </a:ext>
          </a:extLst>
        </p:spPr>
        <p:txBody>
          <a:bodyPr spcFirstLastPara="1" vert="horz" wrap="square" lIns="0" tIns="0" rIns="0" bIns="0" rtlCol="0" anchor="ctr" anchorCtr="0">
            <a:normAutofit fontScale="90000"/>
          </a:bodyPr>
          <a:lstStyle/>
          <a:p>
            <a:pPr defTabSz="449251">
              <a:tabLst>
                <a:tab pos="723882" algn="l"/>
                <a:tab pos="1447764" algn="l"/>
                <a:tab pos="2171646" algn="l"/>
                <a:tab pos="2895528" algn="l"/>
                <a:tab pos="3619410" algn="l"/>
                <a:tab pos="4343291" algn="l"/>
                <a:tab pos="5067173" algn="l"/>
                <a:tab pos="5791055" algn="l"/>
                <a:tab pos="6514937" algn="l"/>
                <a:tab pos="7238819" algn="l"/>
                <a:tab pos="7962701" algn="l"/>
              </a:tabLst>
            </a:pPr>
            <a:r>
              <a:rPr lang="en-GB" altLang="en-US"/>
              <a:t>Properties</a:t>
            </a:r>
          </a:p>
        </p:txBody>
      </p:sp>
      <p:sp>
        <p:nvSpPr>
          <p:cNvPr id="65539" name="Rectangle 3"/>
          <p:cNvSpPr>
            <a:spLocks noGrp="1" noChangeArrowheads="1"/>
          </p:cNvSpPr>
          <p:nvPr>
            <p:ph type="body" idx="1"/>
          </p:nvPr>
        </p:nvSpPr>
        <p:spPr>
          <a:xfrm>
            <a:off x="1122111" y="1368647"/>
            <a:ext cx="10307783" cy="5176839"/>
          </a:xfrm>
          <a:ln/>
          <a:extLst>
            <a:ext uri="{91240B29-F687-4F45-9708-019B960494DF}">
              <a14:hiddenLine xmlns:a14="http://schemas.microsoft.com/office/drawing/2010/main" w="9525">
                <a:solidFill>
                  <a:srgbClr val="000000"/>
                </a:solidFill>
                <a:round/>
                <a:headEnd/>
                <a:tailEnd/>
              </a14:hiddenLine>
            </a:ext>
          </a:extLst>
        </p:spPr>
        <p:txBody>
          <a:bodyPr spcFirstLastPara="1" vert="horz" wrap="square" lIns="0" tIns="0" rIns="0" bIns="0" rtlCol="0" anchor="t" anchorCtr="0">
            <a:normAutofit/>
          </a:bodyPr>
          <a:lstStyle/>
          <a:p>
            <a:pPr marL="565135" indent="-457189" defTabSz="449251">
              <a:buFont typeface="Wingdings" panose="05000000000000000000" pitchFamily="2" charset="2"/>
              <a:buChar char="Ø"/>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GB" altLang="en-US" sz="2600" dirty="0"/>
              <a:t>Inputs are flexible </a:t>
            </a:r>
          </a:p>
          <a:p>
            <a:pPr marL="957237" lvl="1" indent="-380990" defTabSz="449251">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GB" altLang="en-US" sz="2200" dirty="0"/>
              <a:t>any real values</a:t>
            </a:r>
          </a:p>
          <a:p>
            <a:pPr marL="957237" lvl="1" indent="-380990" defTabSz="449251">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GB" altLang="en-US" sz="2200" dirty="0"/>
              <a:t>Highly correlated or independent</a:t>
            </a:r>
          </a:p>
          <a:p>
            <a:pPr marL="565135" indent="-457189" defTabSz="449251">
              <a:buFont typeface="Wingdings" panose="05000000000000000000" pitchFamily="2" charset="2"/>
              <a:buChar char="Ø"/>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GB" altLang="en-US" sz="2600" dirty="0"/>
              <a:t>Target function may be discrete-valued, real-valued, or vectors of discrete or real values</a:t>
            </a:r>
          </a:p>
          <a:p>
            <a:pPr marL="957237" lvl="1" indent="-380990" defTabSz="449251">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GB" altLang="en-US" sz="2200" dirty="0"/>
              <a:t>Outputs are real numbers between 0 and 1</a:t>
            </a:r>
          </a:p>
          <a:p>
            <a:pPr marL="565135" indent="-457189" defTabSz="449251">
              <a:buFont typeface="Wingdings" panose="05000000000000000000" pitchFamily="2" charset="2"/>
              <a:buChar char="Ø"/>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GB" altLang="en-US" sz="2600" dirty="0"/>
              <a:t>Resistant to errors in the training data</a:t>
            </a:r>
          </a:p>
          <a:p>
            <a:pPr marL="565135" indent="-457189" defTabSz="449251">
              <a:buFont typeface="Wingdings" panose="05000000000000000000" pitchFamily="2" charset="2"/>
              <a:buChar char="Ø"/>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GB" altLang="en-US" sz="2600" dirty="0"/>
              <a:t>Long training time</a:t>
            </a:r>
          </a:p>
          <a:p>
            <a:pPr marL="565135" indent="-457189" defTabSz="449251">
              <a:buFont typeface="Wingdings" panose="05000000000000000000" pitchFamily="2" charset="2"/>
              <a:buChar char="Ø"/>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GB" altLang="en-US" sz="2600" dirty="0"/>
              <a:t>Fast evaluation</a:t>
            </a:r>
          </a:p>
          <a:p>
            <a:pPr marL="565135" indent="-457189" defTabSz="449251">
              <a:buFont typeface="Wingdings" panose="05000000000000000000" pitchFamily="2" charset="2"/>
              <a:buChar char="Ø"/>
              <a:tabLst>
                <a:tab pos="723882" algn="l"/>
                <a:tab pos="1447764" algn="l"/>
                <a:tab pos="2171646" algn="l"/>
                <a:tab pos="2895528" algn="l"/>
                <a:tab pos="3619410" algn="l"/>
                <a:tab pos="4343291" algn="l"/>
                <a:tab pos="5067173" algn="l"/>
                <a:tab pos="5791055" algn="l"/>
                <a:tab pos="6514937" algn="l"/>
                <a:tab pos="7238819" algn="l"/>
                <a:tab pos="7962701" algn="l"/>
                <a:tab pos="8686583" algn="l"/>
              </a:tabLst>
            </a:pPr>
            <a:r>
              <a:rPr lang="en-GB" altLang="en-US" sz="2600" dirty="0"/>
              <a:t>The function produced can be difficult for humans to interpret</a:t>
            </a:r>
          </a:p>
        </p:txBody>
      </p:sp>
      <p:sp>
        <p:nvSpPr>
          <p:cNvPr id="2" name="Date Placeholder 1">
            <a:extLst>
              <a:ext uri="{FF2B5EF4-FFF2-40B4-BE49-F238E27FC236}">
                <a16:creationId xmlns:a16="http://schemas.microsoft.com/office/drawing/2014/main" id="{F7EFAE27-CD68-9BD5-ACB0-10650D934CE8}"/>
              </a:ext>
            </a:extLst>
          </p:cNvPr>
          <p:cNvSpPr>
            <a:spLocks noGrp="1"/>
          </p:cNvSpPr>
          <p:nvPr>
            <p:ph type="dt" sz="half" idx="10"/>
          </p:nvPr>
        </p:nvSpPr>
        <p:spPr/>
        <p:txBody>
          <a:bodyPr/>
          <a:lstStyle/>
          <a:p>
            <a:pPr defTabSz="1219170">
              <a:buClr>
                <a:srgbClr val="000000"/>
              </a:buClr>
            </a:pPr>
            <a:fld id="{852319D1-F105-4680-A60C-112A28A8B7D9}"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500DAC0F-560E-5BD3-DABA-67B9EECFD4ED}"/>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25</a:t>
            </a:fld>
            <a:endParaRPr lang="en-US" kern="0" dirty="0">
              <a:latin typeface="Arial"/>
              <a:cs typeface="Arial"/>
              <a:sym typeface="Arial"/>
            </a:endParaRPr>
          </a:p>
        </p:txBody>
      </p:sp>
    </p:spTree>
    <p:extLst>
      <p:ext uri="{BB962C8B-B14F-4D97-AF65-F5344CB8AC3E}">
        <p14:creationId xmlns:p14="http://schemas.microsoft.com/office/powerpoint/2010/main" val="786679266"/>
      </p:ext>
    </p:extLst>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838200" y="171164"/>
            <a:ext cx="10515600" cy="1133097"/>
          </a:xfrm>
        </p:spPr>
        <p:txBody>
          <a:bodyPr/>
          <a:lstStyle/>
          <a:p>
            <a:r>
              <a:rPr lang="en-US" altLang="en-US" sz="3100" dirty="0"/>
              <a:t>When to consider neural networks</a:t>
            </a:r>
          </a:p>
        </p:txBody>
      </p:sp>
      <p:sp>
        <p:nvSpPr>
          <p:cNvPr id="73731" name="Rectangle 3"/>
          <p:cNvSpPr>
            <a:spLocks noGrp="1" noChangeArrowheads="1"/>
          </p:cNvSpPr>
          <p:nvPr>
            <p:ph type="body" idx="1"/>
          </p:nvPr>
        </p:nvSpPr>
        <p:spPr>
          <a:xfrm>
            <a:off x="1178441" y="1478727"/>
            <a:ext cx="10515600" cy="4351339"/>
          </a:xfrm>
        </p:spPr>
        <p:txBody>
          <a:bodyPr>
            <a:noAutofit/>
          </a:bodyPr>
          <a:lstStyle/>
          <a:p>
            <a:pPr>
              <a:lnSpc>
                <a:spcPct val="90000"/>
              </a:lnSpc>
              <a:buFont typeface="Wingdings" panose="05000000000000000000" pitchFamily="2" charset="2"/>
              <a:buChar char="Ø"/>
            </a:pPr>
            <a:r>
              <a:rPr lang="en-US" altLang="en-US" sz="2133" dirty="0"/>
              <a:t>Input is high-dimensional discrete or raw-valued</a:t>
            </a:r>
          </a:p>
          <a:p>
            <a:pPr>
              <a:lnSpc>
                <a:spcPct val="90000"/>
              </a:lnSpc>
              <a:buFont typeface="Wingdings" panose="05000000000000000000" pitchFamily="2" charset="2"/>
              <a:buChar char="Ø"/>
            </a:pPr>
            <a:r>
              <a:rPr lang="en-US" altLang="en-US" sz="2133" dirty="0"/>
              <a:t>Output is discrete or real-valued</a:t>
            </a:r>
          </a:p>
          <a:p>
            <a:pPr>
              <a:lnSpc>
                <a:spcPct val="90000"/>
              </a:lnSpc>
              <a:buFont typeface="Wingdings" panose="05000000000000000000" pitchFamily="2" charset="2"/>
              <a:buChar char="Ø"/>
            </a:pPr>
            <a:r>
              <a:rPr lang="en-US" altLang="en-US" sz="2133" dirty="0"/>
              <a:t>Output is a vector of values</a:t>
            </a:r>
          </a:p>
          <a:p>
            <a:pPr>
              <a:lnSpc>
                <a:spcPct val="90000"/>
              </a:lnSpc>
              <a:buFont typeface="Wingdings" panose="05000000000000000000" pitchFamily="2" charset="2"/>
              <a:buChar char="Ø"/>
            </a:pPr>
            <a:r>
              <a:rPr lang="en-US" altLang="en-US" sz="2133" dirty="0"/>
              <a:t>Possibly noisy data</a:t>
            </a:r>
          </a:p>
          <a:p>
            <a:pPr>
              <a:lnSpc>
                <a:spcPct val="90000"/>
              </a:lnSpc>
              <a:buFont typeface="Wingdings" panose="05000000000000000000" pitchFamily="2" charset="2"/>
              <a:buChar char="Ø"/>
            </a:pPr>
            <a:r>
              <a:rPr lang="en-US" altLang="en-US" sz="2133" dirty="0"/>
              <a:t>Form of target function is unknown</a:t>
            </a:r>
          </a:p>
          <a:p>
            <a:pPr>
              <a:lnSpc>
                <a:spcPct val="90000"/>
              </a:lnSpc>
              <a:buFont typeface="Wingdings" panose="05000000000000000000" pitchFamily="2" charset="2"/>
              <a:buChar char="Ø"/>
            </a:pPr>
            <a:r>
              <a:rPr lang="en-US" altLang="en-US" sz="2133" dirty="0"/>
              <a:t>Human readability of the result is not important</a:t>
            </a:r>
          </a:p>
          <a:p>
            <a:pPr marL="0" indent="0">
              <a:buNone/>
            </a:pPr>
            <a:r>
              <a:rPr lang="en-US" altLang="en-US" sz="2133" b="1" dirty="0"/>
              <a:t>Examples:</a:t>
            </a:r>
          </a:p>
          <a:p>
            <a:pPr>
              <a:lnSpc>
                <a:spcPct val="90000"/>
              </a:lnSpc>
              <a:buFont typeface="Wingdings" panose="05000000000000000000" pitchFamily="2" charset="2"/>
              <a:buChar char="Ø"/>
            </a:pPr>
            <a:r>
              <a:rPr lang="en-US" altLang="en-US" sz="2133" dirty="0"/>
              <a:t>Speech phoneme recognition</a:t>
            </a:r>
          </a:p>
          <a:p>
            <a:pPr>
              <a:lnSpc>
                <a:spcPct val="90000"/>
              </a:lnSpc>
              <a:buFont typeface="Wingdings" panose="05000000000000000000" pitchFamily="2" charset="2"/>
              <a:buChar char="Ø"/>
            </a:pPr>
            <a:r>
              <a:rPr lang="en-US" altLang="en-US" sz="2133" dirty="0"/>
              <a:t>Image classification</a:t>
            </a:r>
          </a:p>
          <a:p>
            <a:pPr>
              <a:lnSpc>
                <a:spcPct val="90000"/>
              </a:lnSpc>
              <a:buFont typeface="Wingdings" panose="05000000000000000000" pitchFamily="2" charset="2"/>
              <a:buChar char="Ø"/>
            </a:pPr>
            <a:r>
              <a:rPr lang="en-US" altLang="en-US" sz="2133" dirty="0"/>
              <a:t>Financial prediction</a:t>
            </a:r>
          </a:p>
        </p:txBody>
      </p:sp>
      <p:sp>
        <p:nvSpPr>
          <p:cNvPr id="2" name="Date Placeholder 1">
            <a:extLst>
              <a:ext uri="{FF2B5EF4-FFF2-40B4-BE49-F238E27FC236}">
                <a16:creationId xmlns:a16="http://schemas.microsoft.com/office/drawing/2014/main" id="{F766E6FE-26D2-2C7D-F52D-769A17AF9A41}"/>
              </a:ext>
            </a:extLst>
          </p:cNvPr>
          <p:cNvSpPr>
            <a:spLocks noGrp="1"/>
          </p:cNvSpPr>
          <p:nvPr>
            <p:ph type="dt" sz="half" idx="10"/>
          </p:nvPr>
        </p:nvSpPr>
        <p:spPr/>
        <p:txBody>
          <a:bodyPr/>
          <a:lstStyle/>
          <a:p>
            <a:pPr defTabSz="1219170">
              <a:buClr>
                <a:srgbClr val="000000"/>
              </a:buClr>
            </a:pPr>
            <a:fld id="{DBB99EEF-51D7-4B29-BB94-69DB5723425C}"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6DA74650-B962-3308-91F8-5C49C878B988}"/>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26</a:t>
            </a:fld>
            <a:endParaRPr lang="en-US" kern="0" dirty="0">
              <a:latin typeface="Arial"/>
              <a:cs typeface="Arial"/>
              <a:sym typeface="Arial"/>
            </a:endParaRPr>
          </a:p>
        </p:txBody>
      </p:sp>
    </p:spTree>
    <p:extLst>
      <p:ext uri="{BB962C8B-B14F-4D97-AF65-F5344CB8AC3E}">
        <p14:creationId xmlns:p14="http://schemas.microsoft.com/office/powerpoint/2010/main" val="6596503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McCulloch–Pitts (MCP) Neuron</a:t>
            </a:r>
            <a:endParaRPr lang="en-US" dirty="0"/>
          </a:p>
        </p:txBody>
      </p:sp>
      <p:sp>
        <p:nvSpPr>
          <p:cNvPr id="3" name="Content Placeholder 2"/>
          <p:cNvSpPr>
            <a:spLocks noGrp="1"/>
          </p:cNvSpPr>
          <p:nvPr>
            <p:ph idx="1"/>
          </p:nvPr>
        </p:nvSpPr>
        <p:spPr>
          <a:xfrm>
            <a:off x="967999" y="1527880"/>
            <a:ext cx="10058400" cy="4023360"/>
          </a:xfrm>
        </p:spPr>
        <p:txBody>
          <a:bodyPr/>
          <a:lstStyle/>
          <a:p>
            <a:pPr algn="just">
              <a:buFont typeface="Wingdings" panose="05000000000000000000" pitchFamily="2" charset="2"/>
              <a:buChar char="Ø"/>
            </a:pPr>
            <a:r>
              <a:rPr lang="en-US" dirty="0"/>
              <a:t>The </a:t>
            </a:r>
            <a:r>
              <a:rPr lang="en-US" b="1" dirty="0"/>
              <a:t>McCulloch–Pitts neuron</a:t>
            </a:r>
            <a:r>
              <a:rPr lang="en-US" dirty="0"/>
              <a:t> model (more commonly called the MCP model) is one of the earliest mathematical models of a single artificial neuron, proposed in 1943 by McCulloch and Pitts. It explains how a neuron makes a binary decision: fire or not fire.</a:t>
            </a:r>
          </a:p>
          <a:p>
            <a:pPr>
              <a:buFont typeface="Wingdings" panose="05000000000000000000" pitchFamily="2" charset="2"/>
              <a:buChar char="Ø"/>
            </a:pPr>
            <a:r>
              <a:rPr lang="en-US" dirty="0"/>
              <a:t>A neuron fires </a:t>
            </a:r>
            <a:r>
              <a:rPr lang="en-US" b="1" dirty="0"/>
              <a:t>only if</a:t>
            </a:r>
            <a:r>
              <a:rPr lang="en-US" dirty="0"/>
              <a:t> the total input signal crosses a fixed </a:t>
            </a:r>
            <a:r>
              <a:rPr lang="en-US" b="1" dirty="0"/>
              <a:t>threshold</a:t>
            </a:r>
          </a:p>
          <a:p>
            <a:pPr>
              <a:buFont typeface="Wingdings" panose="05000000000000000000" pitchFamily="2" charset="2"/>
              <a:buChar char="Ø"/>
            </a:pPr>
            <a:r>
              <a:rPr lang="en-US" dirty="0"/>
              <a:t>It is a </a:t>
            </a:r>
            <a:r>
              <a:rPr lang="en-US" b="1" dirty="0"/>
              <a:t>binary decision-making unit</a:t>
            </a:r>
            <a:r>
              <a:rPr lang="en-US" dirty="0"/>
              <a:t>, not a learning unit.</a:t>
            </a:r>
          </a:p>
        </p:txBody>
      </p:sp>
      <p:sp>
        <p:nvSpPr>
          <p:cNvPr id="4" name="Date Placeholder 3"/>
          <p:cNvSpPr>
            <a:spLocks noGrp="1"/>
          </p:cNvSpPr>
          <p:nvPr>
            <p:ph type="dt" sz="half" idx="10"/>
          </p:nvPr>
        </p:nvSpPr>
        <p:spPr/>
        <p:txBody>
          <a:bodyPr/>
          <a:lstStyle/>
          <a:p>
            <a:pPr defTabSz="1219170">
              <a:buClr>
                <a:srgbClr val="000000"/>
              </a:buClr>
            </a:pPr>
            <a:fld id="{D03E1D0D-0732-44D1-A98F-15FEFAA537E2}"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27</a:t>
            </a:fld>
            <a:endParaRPr lang="en-US" kern="0" dirty="0">
              <a:latin typeface="Arial"/>
              <a:cs typeface="Arial"/>
              <a:sym typeface="Arial"/>
            </a:endParaRPr>
          </a:p>
        </p:txBody>
      </p:sp>
      <p:pic>
        <p:nvPicPr>
          <p:cNvPr id="7" name="Picture 6"/>
          <p:cNvPicPr>
            <a:picLocks noChangeAspect="1"/>
          </p:cNvPicPr>
          <p:nvPr/>
        </p:nvPicPr>
        <p:blipFill>
          <a:blip r:embed="rId2"/>
          <a:stretch>
            <a:fillRect/>
          </a:stretch>
        </p:blipFill>
        <p:spPr>
          <a:xfrm>
            <a:off x="2951336" y="3539560"/>
            <a:ext cx="5118845" cy="2589635"/>
          </a:xfrm>
          <a:prstGeom prst="rect">
            <a:avLst/>
          </a:prstGeom>
        </p:spPr>
      </p:pic>
    </p:spTree>
    <p:extLst>
      <p:ext uri="{BB962C8B-B14F-4D97-AF65-F5344CB8AC3E}">
        <p14:creationId xmlns:p14="http://schemas.microsoft.com/office/powerpoint/2010/main" val="19515552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McCulloch–Pitts (MCP) Neuron</a:t>
            </a:r>
            <a:endParaRPr lang="en-US" dirty="0"/>
          </a:p>
        </p:txBody>
      </p:sp>
      <p:sp>
        <p:nvSpPr>
          <p:cNvPr id="3" name="Content Placeholder 2"/>
          <p:cNvSpPr>
            <a:spLocks noGrp="1"/>
          </p:cNvSpPr>
          <p:nvPr>
            <p:ph idx="1"/>
          </p:nvPr>
        </p:nvSpPr>
        <p:spPr>
          <a:xfrm>
            <a:off x="967999" y="1403702"/>
            <a:ext cx="10058400" cy="4827764"/>
          </a:xfrm>
        </p:spPr>
        <p:txBody>
          <a:bodyPr>
            <a:normAutofit lnSpcReduction="10000"/>
          </a:bodyPr>
          <a:lstStyle/>
          <a:p>
            <a:pPr marL="0" indent="0" algn="just">
              <a:buNone/>
            </a:pPr>
            <a:r>
              <a:rPr lang="en-US" b="1" dirty="0"/>
              <a:t>Basic Assumptions of MCP Model</a:t>
            </a:r>
          </a:p>
          <a:p>
            <a:pPr lvl="1" algn="just"/>
            <a:r>
              <a:rPr lang="en-US" sz="1867" dirty="0"/>
              <a:t>The MCP neuron works under these assumptions:</a:t>
            </a:r>
          </a:p>
          <a:p>
            <a:pPr lvl="1" algn="just"/>
            <a:r>
              <a:rPr lang="en-US" sz="1867" dirty="0"/>
              <a:t>Inputs are binary → 0 or 1</a:t>
            </a:r>
          </a:p>
          <a:p>
            <a:pPr lvl="1" algn="just"/>
            <a:r>
              <a:rPr lang="en-US" sz="1867" dirty="0"/>
              <a:t>Output is binary → 0 or 1</a:t>
            </a:r>
          </a:p>
          <a:p>
            <a:pPr lvl="1" algn="just"/>
            <a:r>
              <a:rPr lang="en-US" sz="1867" dirty="0"/>
              <a:t>Weights are fixed</a:t>
            </a:r>
          </a:p>
          <a:p>
            <a:pPr lvl="1" algn="just"/>
            <a:r>
              <a:rPr lang="en-US" sz="1867" dirty="0"/>
              <a:t>Uses a hard threshold (step) function</a:t>
            </a:r>
          </a:p>
          <a:p>
            <a:pPr lvl="1" algn="just"/>
            <a:r>
              <a:rPr lang="en-US" sz="1867" b="1" dirty="0"/>
              <a:t>No learning, no backpropagation</a:t>
            </a:r>
          </a:p>
          <a:p>
            <a:pPr marL="0" algn="just">
              <a:buNone/>
            </a:pPr>
            <a:r>
              <a:rPr lang="en-US" sz="2067" b="1" dirty="0"/>
              <a:t>Structure of MCP Neuron</a:t>
            </a:r>
          </a:p>
          <a:p>
            <a:r>
              <a:rPr lang="en-US" b="1" dirty="0"/>
              <a:t>Components</a:t>
            </a:r>
          </a:p>
          <a:p>
            <a:pPr lvl="1"/>
            <a:r>
              <a:rPr lang="en-US" b="1" dirty="0"/>
              <a:t>Inputs</a:t>
            </a:r>
            <a:r>
              <a:rPr lang="en-US" dirty="0"/>
              <a:t>: x1, x2,...,</a:t>
            </a:r>
            <a:r>
              <a:rPr lang="en-US" dirty="0" err="1"/>
              <a:t>xn</a:t>
            </a:r>
            <a:r>
              <a:rPr lang="en-US" dirty="0"/>
              <a:t> </a:t>
            </a:r>
          </a:p>
          <a:p>
            <a:pPr lvl="1"/>
            <a:r>
              <a:rPr lang="en-US" b="1" dirty="0"/>
              <a:t>Weights</a:t>
            </a:r>
            <a:r>
              <a:rPr lang="en-US" dirty="0"/>
              <a:t>: w1,w2,...,</a:t>
            </a:r>
            <a:r>
              <a:rPr lang="en-US" dirty="0" err="1"/>
              <a:t>wn</a:t>
            </a:r>
            <a:endParaRPr lang="en-US" dirty="0"/>
          </a:p>
          <a:p>
            <a:pPr lvl="1"/>
            <a:r>
              <a:rPr lang="en-US" b="1" dirty="0"/>
              <a:t>Threshold</a:t>
            </a:r>
            <a:r>
              <a:rPr lang="en-US" dirty="0"/>
              <a:t>: </a:t>
            </a:r>
            <a:r>
              <a:rPr lang="el-GR" dirty="0"/>
              <a:t>θ</a:t>
            </a:r>
            <a:endParaRPr lang="en-US" dirty="0"/>
          </a:p>
          <a:p>
            <a:pPr lvl="1"/>
            <a:r>
              <a:rPr lang="en-US" b="1" dirty="0"/>
              <a:t>Activation function</a:t>
            </a:r>
            <a:r>
              <a:rPr lang="en-US" dirty="0"/>
              <a:t>: Step function</a:t>
            </a:r>
          </a:p>
          <a:p>
            <a:pPr lvl="1"/>
            <a:r>
              <a:rPr lang="en-US" b="1" dirty="0"/>
              <a:t>Output</a:t>
            </a:r>
            <a:r>
              <a:rPr lang="en-US" dirty="0"/>
              <a:t>: y</a:t>
            </a:r>
          </a:p>
          <a:p>
            <a:pPr marL="0" algn="just">
              <a:buNone/>
            </a:pPr>
            <a:endParaRPr lang="en-US" sz="2067" b="1" dirty="0"/>
          </a:p>
        </p:txBody>
      </p:sp>
      <p:sp>
        <p:nvSpPr>
          <p:cNvPr id="4" name="Date Placeholder 3"/>
          <p:cNvSpPr>
            <a:spLocks noGrp="1"/>
          </p:cNvSpPr>
          <p:nvPr>
            <p:ph type="dt" sz="half" idx="10"/>
          </p:nvPr>
        </p:nvSpPr>
        <p:spPr/>
        <p:txBody>
          <a:bodyPr/>
          <a:lstStyle/>
          <a:p>
            <a:pPr defTabSz="1219170">
              <a:buClr>
                <a:srgbClr val="000000"/>
              </a:buClr>
            </a:pPr>
            <a:fld id="{4D01E515-85F6-423D-B326-9158C2024A50}"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28</a:t>
            </a:fld>
            <a:endParaRPr lang="en-US" kern="0" dirty="0">
              <a:latin typeface="Arial"/>
              <a:cs typeface="Arial"/>
              <a:sym typeface="Arial"/>
            </a:endParaRPr>
          </a:p>
        </p:txBody>
      </p:sp>
      <p:pic>
        <p:nvPicPr>
          <p:cNvPr id="8" name="Picture 7"/>
          <p:cNvPicPr>
            <a:picLocks noChangeAspect="1"/>
          </p:cNvPicPr>
          <p:nvPr/>
        </p:nvPicPr>
        <p:blipFill>
          <a:blip r:embed="rId2"/>
          <a:stretch>
            <a:fillRect/>
          </a:stretch>
        </p:blipFill>
        <p:spPr>
          <a:xfrm>
            <a:off x="5252155" y="3496735"/>
            <a:ext cx="6135613" cy="2734731"/>
          </a:xfrm>
          <a:prstGeom prst="rect">
            <a:avLst/>
          </a:prstGeom>
        </p:spPr>
      </p:pic>
    </p:spTree>
    <p:extLst>
      <p:ext uri="{BB962C8B-B14F-4D97-AF65-F5344CB8AC3E}">
        <p14:creationId xmlns:p14="http://schemas.microsoft.com/office/powerpoint/2010/main" val="27579211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McCulloch–Pitts (MCP) Neuron</a:t>
            </a:r>
            <a:endParaRPr lang="en-US" dirty="0"/>
          </a:p>
        </p:txBody>
      </p:sp>
      <p:sp>
        <p:nvSpPr>
          <p:cNvPr id="3" name="Content Placeholder 2"/>
          <p:cNvSpPr>
            <a:spLocks noGrp="1"/>
          </p:cNvSpPr>
          <p:nvPr>
            <p:ph idx="1"/>
          </p:nvPr>
        </p:nvSpPr>
        <p:spPr>
          <a:xfrm>
            <a:off x="967999" y="1403702"/>
            <a:ext cx="10058400" cy="4827764"/>
          </a:xfrm>
        </p:spPr>
        <p:txBody>
          <a:bodyPr>
            <a:normAutofit/>
          </a:bodyPr>
          <a:lstStyle/>
          <a:p>
            <a:pPr marL="0" indent="0" algn="just">
              <a:buNone/>
            </a:pPr>
            <a:r>
              <a:rPr lang="en-US" b="1" dirty="0"/>
              <a:t>Mathematical Model</a:t>
            </a:r>
          </a:p>
          <a:p>
            <a:pPr marL="475476" lvl="2" indent="0" algn="just">
              <a:buNone/>
            </a:pPr>
            <a:r>
              <a:rPr lang="en-US" b="1" dirty="0"/>
              <a:t>		</a:t>
            </a:r>
            <a:r>
              <a:rPr lang="en-US" sz="2133" b="1" dirty="0"/>
              <a:t>Net Input</a:t>
            </a:r>
          </a:p>
          <a:p>
            <a:pPr marL="0" indent="0" algn="just">
              <a:buNone/>
            </a:pPr>
            <a:endParaRPr lang="en-US" b="1" dirty="0"/>
          </a:p>
          <a:p>
            <a:pPr marL="0" indent="0" algn="just">
              <a:buNone/>
            </a:pPr>
            <a:endParaRPr lang="en-US" sz="2067" b="1" dirty="0"/>
          </a:p>
          <a:p>
            <a:pPr marL="0" algn="just">
              <a:buNone/>
            </a:pPr>
            <a:r>
              <a:rPr lang="en-US" sz="2067" b="1" dirty="0"/>
              <a:t>		</a:t>
            </a:r>
            <a:r>
              <a:rPr lang="en-US" b="1" dirty="0"/>
              <a:t>Activation Function</a:t>
            </a:r>
          </a:p>
          <a:p>
            <a:pPr marL="0" algn="just">
              <a:buNone/>
            </a:pPr>
            <a:endParaRPr lang="en-US" sz="2067" b="1" dirty="0"/>
          </a:p>
        </p:txBody>
      </p:sp>
      <p:sp>
        <p:nvSpPr>
          <p:cNvPr id="4" name="Date Placeholder 3"/>
          <p:cNvSpPr>
            <a:spLocks noGrp="1"/>
          </p:cNvSpPr>
          <p:nvPr>
            <p:ph type="dt" sz="half" idx="10"/>
          </p:nvPr>
        </p:nvSpPr>
        <p:spPr/>
        <p:txBody>
          <a:bodyPr/>
          <a:lstStyle/>
          <a:p>
            <a:pPr defTabSz="1219170">
              <a:buClr>
                <a:srgbClr val="000000"/>
              </a:buClr>
            </a:pPr>
            <a:fld id="{41859335-7910-4919-A30E-E5A679CEE482}"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29</a:t>
            </a:fld>
            <a:endParaRPr lang="en-US" kern="0" dirty="0">
              <a:latin typeface="Arial"/>
              <a:cs typeface="Arial"/>
              <a:sym typeface="Arial"/>
            </a:endParaRPr>
          </a:p>
        </p:txBody>
      </p:sp>
      <p:pic>
        <p:nvPicPr>
          <p:cNvPr id="7" name="Picture 6"/>
          <p:cNvPicPr>
            <a:picLocks noChangeAspect="1"/>
          </p:cNvPicPr>
          <p:nvPr/>
        </p:nvPicPr>
        <p:blipFill>
          <a:blip r:embed="rId2"/>
          <a:stretch>
            <a:fillRect/>
          </a:stretch>
        </p:blipFill>
        <p:spPr>
          <a:xfrm>
            <a:off x="3986220" y="1611088"/>
            <a:ext cx="2413337" cy="1308283"/>
          </a:xfrm>
          <a:prstGeom prst="rect">
            <a:avLst/>
          </a:prstGeom>
        </p:spPr>
      </p:pic>
      <p:pic>
        <p:nvPicPr>
          <p:cNvPr id="9" name="Picture 8"/>
          <p:cNvPicPr>
            <a:picLocks noChangeAspect="1"/>
          </p:cNvPicPr>
          <p:nvPr/>
        </p:nvPicPr>
        <p:blipFill>
          <a:blip r:embed="rId3"/>
          <a:stretch>
            <a:fillRect/>
          </a:stretch>
        </p:blipFill>
        <p:spPr>
          <a:xfrm>
            <a:off x="4331881" y="3678683"/>
            <a:ext cx="2946811" cy="1193967"/>
          </a:xfrm>
          <a:prstGeom prst="rect">
            <a:avLst/>
          </a:prstGeom>
        </p:spPr>
      </p:pic>
      <p:sp>
        <p:nvSpPr>
          <p:cNvPr id="10" name="Rectangle 9"/>
          <p:cNvSpPr/>
          <p:nvPr/>
        </p:nvSpPr>
        <p:spPr>
          <a:xfrm>
            <a:off x="835378" y="5203245"/>
            <a:ext cx="10320303" cy="666977"/>
          </a:xfrm>
          <a:prstGeom prst="rect">
            <a:avLst/>
          </a:prstGeom>
        </p:spPr>
        <p:txBody>
          <a:bodyPr wrap="square">
            <a:spAutoFit/>
          </a:bodyPr>
          <a:lstStyle/>
          <a:p>
            <a:pPr marL="380990" indent="-380990" defTabSz="1219170">
              <a:buClr>
                <a:srgbClr val="000000"/>
              </a:buClr>
              <a:buFont typeface="Wingdings" panose="05000000000000000000" pitchFamily="2" charset="2"/>
              <a:buChar char="Ø"/>
            </a:pPr>
            <a:r>
              <a:rPr lang="en-US" sz="1867" b="1" kern="0" dirty="0">
                <a:solidFill>
                  <a:srgbClr val="FF0000"/>
                </a:solidFill>
                <a:latin typeface="Arial"/>
                <a:cs typeface="Arial"/>
                <a:sym typeface="Arial"/>
              </a:rPr>
              <a:t>MCP neuron does NOT learn, We manually choose weights and threshold to implement logic.</a:t>
            </a:r>
          </a:p>
        </p:txBody>
      </p:sp>
    </p:spTree>
    <p:extLst>
      <p:ext uri="{BB962C8B-B14F-4D97-AF65-F5344CB8AC3E}">
        <p14:creationId xmlns:p14="http://schemas.microsoft.com/office/powerpoint/2010/main" val="3352237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6328" y="436659"/>
            <a:ext cx="10058400" cy="794773"/>
          </a:xfrm>
        </p:spPr>
        <p:txBody>
          <a:bodyPr>
            <a:noAutofit/>
          </a:bodyPr>
          <a:lstStyle/>
          <a:p>
            <a:r>
              <a:rPr lang="en-US" sz="3467" b="1" dirty="0"/>
              <a:t>IMPLEMENTATION OF LOGIC GATES USING MCP NEURON</a:t>
            </a:r>
          </a:p>
        </p:txBody>
      </p:sp>
      <p:sp>
        <p:nvSpPr>
          <p:cNvPr id="3" name="Content Placeholder 2"/>
          <p:cNvSpPr>
            <a:spLocks noGrp="1"/>
          </p:cNvSpPr>
          <p:nvPr>
            <p:ph idx="1"/>
          </p:nvPr>
        </p:nvSpPr>
        <p:spPr>
          <a:xfrm>
            <a:off x="699911" y="1403702"/>
            <a:ext cx="10326488" cy="5056084"/>
          </a:xfrm>
        </p:spPr>
        <p:txBody>
          <a:bodyPr>
            <a:normAutofit fontScale="85000" lnSpcReduction="20000"/>
          </a:bodyPr>
          <a:lstStyle/>
          <a:p>
            <a:pPr marL="0" indent="0" algn="just">
              <a:buNone/>
            </a:pPr>
            <a:r>
              <a:rPr lang="en-US" sz="2533" b="1" dirty="0">
                <a:solidFill>
                  <a:srgbClr val="FF0000"/>
                </a:solidFill>
              </a:rPr>
              <a:t>AND Gate using MCP Neuron</a:t>
            </a:r>
          </a:p>
          <a:p>
            <a:pPr marL="0" indent="0" algn="just">
              <a:buNone/>
            </a:pPr>
            <a:r>
              <a:rPr lang="en-US" b="1" dirty="0"/>
              <a:t>Step 1: AND Gate Truth Table</a:t>
            </a:r>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r>
              <a:rPr lang="en-US" b="1" dirty="0"/>
              <a:t>Step 2: Choose Weights and Threshold</a:t>
            </a:r>
          </a:p>
          <a:p>
            <a:pPr marL="292601" lvl="1" indent="0" algn="just">
              <a:lnSpc>
                <a:spcPct val="110000"/>
              </a:lnSpc>
              <a:buNone/>
            </a:pPr>
            <a:r>
              <a:rPr lang="en-US" dirty="0"/>
              <a:t>w1=1 </a:t>
            </a:r>
          </a:p>
          <a:p>
            <a:pPr marL="292601" lvl="1" indent="0" algn="just">
              <a:lnSpc>
                <a:spcPct val="110000"/>
              </a:lnSpc>
              <a:buNone/>
            </a:pPr>
            <a:r>
              <a:rPr lang="en-US" dirty="0"/>
              <a:t>w2=1 </a:t>
            </a:r>
          </a:p>
          <a:p>
            <a:pPr marL="292601" lvl="1" indent="0" algn="just">
              <a:lnSpc>
                <a:spcPct val="110000"/>
              </a:lnSpc>
              <a:buNone/>
            </a:pPr>
            <a:r>
              <a:rPr lang="en-US" dirty="0"/>
              <a:t>θ=2 Only when </a:t>
            </a:r>
            <a:r>
              <a:rPr lang="en-US" b="1" dirty="0"/>
              <a:t>both inputs are 1</a:t>
            </a:r>
            <a:r>
              <a:rPr lang="en-US" dirty="0"/>
              <a:t>, sum = 2. </a:t>
            </a:r>
          </a:p>
          <a:p>
            <a:pPr marL="0" indent="0" algn="just">
              <a:lnSpc>
                <a:spcPct val="110000"/>
              </a:lnSpc>
              <a:buNone/>
            </a:pPr>
            <a:r>
              <a:rPr lang="en-US" b="1" dirty="0"/>
              <a:t>Step 3: Apply MCP Equation</a:t>
            </a:r>
          </a:p>
          <a:p>
            <a:pPr marL="0" indent="0" algn="just">
              <a:lnSpc>
                <a:spcPct val="110000"/>
              </a:lnSpc>
              <a:buNone/>
            </a:pPr>
            <a:endParaRPr lang="en-US" b="1" dirty="0"/>
          </a:p>
          <a:p>
            <a:pPr marL="0" indent="0" algn="just">
              <a:buNone/>
            </a:pPr>
            <a:endParaRPr lang="en-US" sz="2067" b="1" dirty="0"/>
          </a:p>
          <a:p>
            <a:pPr marL="0" algn="just">
              <a:buNone/>
            </a:pPr>
            <a:r>
              <a:rPr lang="en-US" sz="2067" b="1" dirty="0"/>
              <a:t>		</a:t>
            </a:r>
          </a:p>
        </p:txBody>
      </p:sp>
      <p:sp>
        <p:nvSpPr>
          <p:cNvPr id="4" name="Date Placeholder 3"/>
          <p:cNvSpPr>
            <a:spLocks noGrp="1"/>
          </p:cNvSpPr>
          <p:nvPr>
            <p:ph type="dt" sz="half" idx="10"/>
          </p:nvPr>
        </p:nvSpPr>
        <p:spPr/>
        <p:txBody>
          <a:bodyPr/>
          <a:lstStyle/>
          <a:p>
            <a:pPr defTabSz="1219170">
              <a:buClr>
                <a:srgbClr val="000000"/>
              </a:buClr>
            </a:pPr>
            <a:fld id="{99940387-7607-496A-81BB-9D9BB2DE86DD}"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30</a:t>
            </a:fld>
            <a:endParaRPr lang="en-US" kern="0" dirty="0">
              <a:latin typeface="Arial"/>
              <a:cs typeface="Arial"/>
              <a:sym typeface="Arial"/>
            </a:endParaRPr>
          </a:p>
        </p:txBody>
      </p:sp>
      <p:graphicFrame>
        <p:nvGraphicFramePr>
          <p:cNvPr id="8" name="Table 7"/>
          <p:cNvGraphicFramePr>
            <a:graphicFrameLocks noGrp="1"/>
          </p:cNvGraphicFramePr>
          <p:nvPr>
            <p:extLst>
              <p:ext uri="{D42A27DB-BD31-4B8C-83A1-F6EECF244321}">
                <p14:modId xmlns:p14="http://schemas.microsoft.com/office/powerpoint/2010/main" val="370495686"/>
              </p:ext>
            </p:extLst>
          </p:nvPr>
        </p:nvGraphicFramePr>
        <p:xfrm>
          <a:off x="4545524" y="1627990"/>
          <a:ext cx="2111022" cy="2438400"/>
        </p:xfrm>
        <a:graphic>
          <a:graphicData uri="http://schemas.openxmlformats.org/drawingml/2006/table">
            <a:tbl>
              <a:tblPr/>
              <a:tblGrid>
                <a:gridCol w="574833">
                  <a:extLst>
                    <a:ext uri="{9D8B030D-6E8A-4147-A177-3AD203B41FA5}">
                      <a16:colId xmlns:a16="http://schemas.microsoft.com/office/drawing/2014/main" val="2493857418"/>
                    </a:ext>
                  </a:extLst>
                </a:gridCol>
                <a:gridCol w="683852">
                  <a:extLst>
                    <a:ext uri="{9D8B030D-6E8A-4147-A177-3AD203B41FA5}">
                      <a16:colId xmlns:a16="http://schemas.microsoft.com/office/drawing/2014/main" val="2404578520"/>
                    </a:ext>
                  </a:extLst>
                </a:gridCol>
                <a:gridCol w="852337">
                  <a:extLst>
                    <a:ext uri="{9D8B030D-6E8A-4147-A177-3AD203B41FA5}">
                      <a16:colId xmlns:a16="http://schemas.microsoft.com/office/drawing/2014/main" val="2328595308"/>
                    </a:ext>
                  </a:extLst>
                </a:gridCol>
              </a:tblGrid>
              <a:tr h="487680">
                <a:tc>
                  <a:txBody>
                    <a:bodyPr/>
                    <a:lstStyle/>
                    <a:p>
                      <a:r>
                        <a:rPr lang="en-US" sz="2400"/>
                        <a:t>x₁</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x₂</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AND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4234833"/>
                  </a:ext>
                </a:extLst>
              </a:tr>
              <a:tr h="487680">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2779809"/>
                  </a:ext>
                </a:extLst>
              </a:tr>
              <a:tr h="487680">
                <a:tc>
                  <a:txBody>
                    <a:bodyPr/>
                    <a:lstStyle/>
                    <a:p>
                      <a:r>
                        <a:rPr lang="en-US" sz="2400" dirty="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8606083"/>
                  </a:ext>
                </a:extLst>
              </a:tr>
              <a:tr h="487680">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7487682"/>
                  </a:ext>
                </a:extLst>
              </a:tr>
              <a:tr h="487680">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1004400"/>
                  </a:ext>
                </a:extLst>
              </a:tr>
            </a:tbl>
          </a:graphicData>
        </a:graphic>
      </p:graphicFrame>
      <p:pic>
        <p:nvPicPr>
          <p:cNvPr id="13" name="Picture 12"/>
          <p:cNvPicPr>
            <a:picLocks noChangeAspect="1"/>
          </p:cNvPicPr>
          <p:nvPr/>
        </p:nvPicPr>
        <p:blipFill>
          <a:blip r:embed="rId2"/>
          <a:stretch>
            <a:fillRect/>
          </a:stretch>
        </p:blipFill>
        <p:spPr>
          <a:xfrm>
            <a:off x="699911" y="5257553"/>
            <a:ext cx="2970632" cy="1029964"/>
          </a:xfrm>
          <a:prstGeom prst="rect">
            <a:avLst/>
          </a:prstGeom>
        </p:spPr>
      </p:pic>
      <p:sp>
        <p:nvSpPr>
          <p:cNvPr id="14" name="Rectangle 13"/>
          <p:cNvSpPr/>
          <p:nvPr/>
        </p:nvSpPr>
        <p:spPr>
          <a:xfrm>
            <a:off x="7352353" y="2762564"/>
            <a:ext cx="3610284"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Step 4: Verification of AND Gate</a:t>
            </a:r>
          </a:p>
        </p:txBody>
      </p:sp>
      <p:graphicFrame>
        <p:nvGraphicFramePr>
          <p:cNvPr id="15" name="Table 14"/>
          <p:cNvGraphicFramePr>
            <a:graphicFrameLocks noGrp="1"/>
          </p:cNvGraphicFramePr>
          <p:nvPr/>
        </p:nvGraphicFramePr>
        <p:xfrm>
          <a:off x="7531527" y="3259068"/>
          <a:ext cx="3493200" cy="2804160"/>
        </p:xfrm>
        <a:graphic>
          <a:graphicData uri="http://schemas.openxmlformats.org/drawingml/2006/table">
            <a:tbl>
              <a:tblPr/>
              <a:tblGrid>
                <a:gridCol w="873300">
                  <a:extLst>
                    <a:ext uri="{9D8B030D-6E8A-4147-A177-3AD203B41FA5}">
                      <a16:colId xmlns:a16="http://schemas.microsoft.com/office/drawing/2014/main" val="706926147"/>
                    </a:ext>
                  </a:extLst>
                </a:gridCol>
                <a:gridCol w="873300">
                  <a:extLst>
                    <a:ext uri="{9D8B030D-6E8A-4147-A177-3AD203B41FA5}">
                      <a16:colId xmlns:a16="http://schemas.microsoft.com/office/drawing/2014/main" val="2283087962"/>
                    </a:ext>
                  </a:extLst>
                </a:gridCol>
                <a:gridCol w="701251">
                  <a:extLst>
                    <a:ext uri="{9D8B030D-6E8A-4147-A177-3AD203B41FA5}">
                      <a16:colId xmlns:a16="http://schemas.microsoft.com/office/drawing/2014/main" val="1612663802"/>
                    </a:ext>
                  </a:extLst>
                </a:gridCol>
                <a:gridCol w="1045349">
                  <a:extLst>
                    <a:ext uri="{9D8B030D-6E8A-4147-A177-3AD203B41FA5}">
                      <a16:colId xmlns:a16="http://schemas.microsoft.com/office/drawing/2014/main" val="393568364"/>
                    </a:ext>
                  </a:extLst>
                </a:gridCol>
              </a:tblGrid>
              <a:tr h="853440">
                <a:tc>
                  <a:txBody>
                    <a:bodyPr/>
                    <a:lstStyle/>
                    <a:p>
                      <a:r>
                        <a:rPr lang="en-US" sz="2400"/>
                        <a:t>x₁</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x₂</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Net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Output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2509007"/>
                  </a:ext>
                </a:extLst>
              </a:tr>
              <a:tr h="487680">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1918346"/>
                  </a:ext>
                </a:extLst>
              </a:tr>
              <a:tr h="487680">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7227657"/>
                  </a:ext>
                </a:extLst>
              </a:tr>
              <a:tr h="487680">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5258219"/>
                  </a:ext>
                </a:extLst>
              </a:tr>
              <a:tr h="487680">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4948082"/>
                  </a:ext>
                </a:extLst>
              </a:tr>
            </a:tbl>
          </a:graphicData>
        </a:graphic>
      </p:graphicFrame>
    </p:spTree>
    <p:extLst>
      <p:ext uri="{BB962C8B-B14F-4D97-AF65-F5344CB8AC3E}">
        <p14:creationId xmlns:p14="http://schemas.microsoft.com/office/powerpoint/2010/main" val="16394577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9911" y="438252"/>
            <a:ext cx="10058400" cy="794773"/>
          </a:xfrm>
        </p:spPr>
        <p:txBody>
          <a:bodyPr>
            <a:noAutofit/>
          </a:bodyPr>
          <a:lstStyle/>
          <a:p>
            <a:r>
              <a:rPr lang="en-US" sz="3467" b="1" dirty="0"/>
              <a:t>IMPLEMENTATION OF LOGIC GATES USING MCP NEURON</a:t>
            </a:r>
          </a:p>
        </p:txBody>
      </p:sp>
      <p:sp>
        <p:nvSpPr>
          <p:cNvPr id="3" name="Content Placeholder 2"/>
          <p:cNvSpPr>
            <a:spLocks noGrp="1"/>
          </p:cNvSpPr>
          <p:nvPr>
            <p:ph idx="1"/>
          </p:nvPr>
        </p:nvSpPr>
        <p:spPr>
          <a:xfrm>
            <a:off x="885996" y="1426505"/>
            <a:ext cx="10326488" cy="5056084"/>
          </a:xfrm>
        </p:spPr>
        <p:txBody>
          <a:bodyPr>
            <a:normAutofit fontScale="85000" lnSpcReduction="20000"/>
          </a:bodyPr>
          <a:lstStyle/>
          <a:p>
            <a:pPr marL="0" indent="0" algn="just">
              <a:buNone/>
            </a:pPr>
            <a:r>
              <a:rPr lang="en-US" sz="2533" b="1" dirty="0">
                <a:solidFill>
                  <a:srgbClr val="FF0000"/>
                </a:solidFill>
              </a:rPr>
              <a:t>OR Gate using MCP Neuron</a:t>
            </a:r>
          </a:p>
          <a:p>
            <a:pPr marL="0" indent="0" algn="just">
              <a:buNone/>
            </a:pPr>
            <a:r>
              <a:rPr lang="en-US" b="1" dirty="0"/>
              <a:t>Step 1: OR Gate Truth Table</a:t>
            </a:r>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endParaRPr lang="en-US" b="1" dirty="0"/>
          </a:p>
          <a:p>
            <a:pPr marL="0" indent="0" algn="just">
              <a:buNone/>
            </a:pPr>
            <a:r>
              <a:rPr lang="en-US" b="1" dirty="0"/>
              <a:t>Step 2: Choose Weights and Threshold</a:t>
            </a:r>
          </a:p>
          <a:p>
            <a:pPr marL="292601" lvl="1" indent="0" algn="just">
              <a:lnSpc>
                <a:spcPct val="110000"/>
              </a:lnSpc>
              <a:buNone/>
            </a:pPr>
            <a:r>
              <a:rPr lang="en-US" dirty="0"/>
              <a:t>w1=1 </a:t>
            </a:r>
          </a:p>
          <a:p>
            <a:pPr marL="292601" lvl="1" indent="0" algn="just">
              <a:lnSpc>
                <a:spcPct val="110000"/>
              </a:lnSpc>
              <a:buNone/>
            </a:pPr>
            <a:r>
              <a:rPr lang="en-US" dirty="0"/>
              <a:t>w2=1 </a:t>
            </a:r>
          </a:p>
          <a:p>
            <a:pPr marL="292601" lvl="1" indent="0" algn="just">
              <a:lnSpc>
                <a:spcPct val="110000"/>
              </a:lnSpc>
              <a:buNone/>
            </a:pPr>
            <a:r>
              <a:rPr lang="en-US" dirty="0"/>
              <a:t>θ=1 </a:t>
            </a:r>
          </a:p>
          <a:p>
            <a:pPr marL="0" indent="0" algn="just">
              <a:lnSpc>
                <a:spcPct val="110000"/>
              </a:lnSpc>
              <a:buNone/>
            </a:pPr>
            <a:r>
              <a:rPr lang="en-US" b="1" dirty="0"/>
              <a:t>Step 3: Apply MCP Equation</a:t>
            </a:r>
          </a:p>
          <a:p>
            <a:pPr marL="0" indent="0" algn="just">
              <a:lnSpc>
                <a:spcPct val="110000"/>
              </a:lnSpc>
              <a:buNone/>
            </a:pPr>
            <a:endParaRPr lang="en-US" b="1" dirty="0"/>
          </a:p>
          <a:p>
            <a:pPr marL="0" indent="0" algn="just">
              <a:buNone/>
            </a:pPr>
            <a:endParaRPr lang="en-US" sz="2067" b="1" dirty="0"/>
          </a:p>
          <a:p>
            <a:pPr marL="0" algn="just">
              <a:buNone/>
            </a:pPr>
            <a:r>
              <a:rPr lang="en-US" sz="2067" b="1" dirty="0"/>
              <a:t>		</a:t>
            </a:r>
          </a:p>
        </p:txBody>
      </p:sp>
      <p:sp>
        <p:nvSpPr>
          <p:cNvPr id="4" name="Date Placeholder 3"/>
          <p:cNvSpPr>
            <a:spLocks noGrp="1"/>
          </p:cNvSpPr>
          <p:nvPr>
            <p:ph type="dt" sz="half" idx="10"/>
          </p:nvPr>
        </p:nvSpPr>
        <p:spPr/>
        <p:txBody>
          <a:bodyPr/>
          <a:lstStyle/>
          <a:p>
            <a:pPr defTabSz="1219170">
              <a:buClr>
                <a:srgbClr val="000000"/>
              </a:buClr>
            </a:pPr>
            <a:fld id="{A4968BF4-EB98-467F-841A-811DE88D8490}"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31</a:t>
            </a:fld>
            <a:endParaRPr lang="en-US" kern="0" dirty="0">
              <a:latin typeface="Arial"/>
              <a:cs typeface="Arial"/>
              <a:sym typeface="Arial"/>
            </a:endParaRPr>
          </a:p>
        </p:txBody>
      </p:sp>
      <p:graphicFrame>
        <p:nvGraphicFramePr>
          <p:cNvPr id="8" name="Table 7"/>
          <p:cNvGraphicFramePr>
            <a:graphicFrameLocks noGrp="1"/>
          </p:cNvGraphicFramePr>
          <p:nvPr>
            <p:extLst>
              <p:ext uri="{D42A27DB-BD31-4B8C-83A1-F6EECF244321}">
                <p14:modId xmlns:p14="http://schemas.microsoft.com/office/powerpoint/2010/main" val="3146120495"/>
              </p:ext>
            </p:extLst>
          </p:nvPr>
        </p:nvGraphicFramePr>
        <p:xfrm>
          <a:off x="4495029" y="1629583"/>
          <a:ext cx="2111022" cy="2438400"/>
        </p:xfrm>
        <a:graphic>
          <a:graphicData uri="http://schemas.openxmlformats.org/drawingml/2006/table">
            <a:tbl>
              <a:tblPr/>
              <a:tblGrid>
                <a:gridCol w="574833">
                  <a:extLst>
                    <a:ext uri="{9D8B030D-6E8A-4147-A177-3AD203B41FA5}">
                      <a16:colId xmlns:a16="http://schemas.microsoft.com/office/drawing/2014/main" val="2493857418"/>
                    </a:ext>
                  </a:extLst>
                </a:gridCol>
                <a:gridCol w="683852">
                  <a:extLst>
                    <a:ext uri="{9D8B030D-6E8A-4147-A177-3AD203B41FA5}">
                      <a16:colId xmlns:a16="http://schemas.microsoft.com/office/drawing/2014/main" val="2404578520"/>
                    </a:ext>
                  </a:extLst>
                </a:gridCol>
                <a:gridCol w="852337">
                  <a:extLst>
                    <a:ext uri="{9D8B030D-6E8A-4147-A177-3AD203B41FA5}">
                      <a16:colId xmlns:a16="http://schemas.microsoft.com/office/drawing/2014/main" val="2328595308"/>
                    </a:ext>
                  </a:extLst>
                </a:gridCol>
              </a:tblGrid>
              <a:tr h="487680">
                <a:tc>
                  <a:txBody>
                    <a:bodyPr/>
                    <a:lstStyle/>
                    <a:p>
                      <a:r>
                        <a:rPr lang="en-US" sz="2400"/>
                        <a:t>x₁</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x₂</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OR</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4234833"/>
                  </a:ext>
                </a:extLst>
              </a:tr>
              <a:tr h="487680">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2779809"/>
                  </a:ext>
                </a:extLst>
              </a:tr>
              <a:tr h="487680">
                <a:tc>
                  <a:txBody>
                    <a:bodyPr/>
                    <a:lstStyle/>
                    <a:p>
                      <a:r>
                        <a:rPr lang="en-US" sz="2400" dirty="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8606083"/>
                  </a:ext>
                </a:extLst>
              </a:tr>
              <a:tr h="487680">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7487682"/>
                  </a:ext>
                </a:extLst>
              </a:tr>
              <a:tr h="487680">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1004400"/>
                  </a:ext>
                </a:extLst>
              </a:tr>
            </a:tbl>
          </a:graphicData>
        </a:graphic>
      </p:graphicFrame>
      <p:sp>
        <p:nvSpPr>
          <p:cNvPr id="14" name="Rectangle 13"/>
          <p:cNvSpPr/>
          <p:nvPr/>
        </p:nvSpPr>
        <p:spPr>
          <a:xfrm>
            <a:off x="7352353" y="2762564"/>
            <a:ext cx="3610284"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Step 4: Verification of AND Gate</a:t>
            </a:r>
          </a:p>
        </p:txBody>
      </p:sp>
      <p:graphicFrame>
        <p:nvGraphicFramePr>
          <p:cNvPr id="15" name="Table 14"/>
          <p:cNvGraphicFramePr>
            <a:graphicFrameLocks noGrp="1"/>
          </p:cNvGraphicFramePr>
          <p:nvPr/>
        </p:nvGraphicFramePr>
        <p:xfrm>
          <a:off x="7531527" y="3259068"/>
          <a:ext cx="3493200" cy="2804160"/>
        </p:xfrm>
        <a:graphic>
          <a:graphicData uri="http://schemas.openxmlformats.org/drawingml/2006/table">
            <a:tbl>
              <a:tblPr/>
              <a:tblGrid>
                <a:gridCol w="873300">
                  <a:extLst>
                    <a:ext uri="{9D8B030D-6E8A-4147-A177-3AD203B41FA5}">
                      <a16:colId xmlns:a16="http://schemas.microsoft.com/office/drawing/2014/main" val="706926147"/>
                    </a:ext>
                  </a:extLst>
                </a:gridCol>
                <a:gridCol w="873300">
                  <a:extLst>
                    <a:ext uri="{9D8B030D-6E8A-4147-A177-3AD203B41FA5}">
                      <a16:colId xmlns:a16="http://schemas.microsoft.com/office/drawing/2014/main" val="2283087962"/>
                    </a:ext>
                  </a:extLst>
                </a:gridCol>
                <a:gridCol w="701251">
                  <a:extLst>
                    <a:ext uri="{9D8B030D-6E8A-4147-A177-3AD203B41FA5}">
                      <a16:colId xmlns:a16="http://schemas.microsoft.com/office/drawing/2014/main" val="1612663802"/>
                    </a:ext>
                  </a:extLst>
                </a:gridCol>
                <a:gridCol w="1045349">
                  <a:extLst>
                    <a:ext uri="{9D8B030D-6E8A-4147-A177-3AD203B41FA5}">
                      <a16:colId xmlns:a16="http://schemas.microsoft.com/office/drawing/2014/main" val="393568364"/>
                    </a:ext>
                  </a:extLst>
                </a:gridCol>
              </a:tblGrid>
              <a:tr h="853440">
                <a:tc>
                  <a:txBody>
                    <a:bodyPr/>
                    <a:lstStyle/>
                    <a:p>
                      <a:r>
                        <a:rPr lang="en-US" sz="2400"/>
                        <a:t>x₁</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x₂</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Net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Output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12509007"/>
                  </a:ext>
                </a:extLst>
              </a:tr>
              <a:tr h="487680">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41918346"/>
                  </a:ext>
                </a:extLst>
              </a:tr>
              <a:tr h="487680">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47227657"/>
                  </a:ext>
                </a:extLst>
              </a:tr>
              <a:tr h="487680">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35258219"/>
                  </a:ext>
                </a:extLst>
              </a:tr>
              <a:tr h="487680">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4948082"/>
                  </a:ext>
                </a:extLst>
              </a:tr>
            </a:tbl>
          </a:graphicData>
        </a:graphic>
      </p:graphicFrame>
      <p:pic>
        <p:nvPicPr>
          <p:cNvPr id="7" name="Picture 6"/>
          <p:cNvPicPr>
            <a:picLocks noChangeAspect="1"/>
          </p:cNvPicPr>
          <p:nvPr/>
        </p:nvPicPr>
        <p:blipFill>
          <a:blip r:embed="rId2"/>
          <a:stretch>
            <a:fillRect/>
          </a:stretch>
        </p:blipFill>
        <p:spPr>
          <a:xfrm>
            <a:off x="1185093" y="5240269"/>
            <a:ext cx="2384459" cy="987983"/>
          </a:xfrm>
          <a:prstGeom prst="rect">
            <a:avLst/>
          </a:prstGeom>
        </p:spPr>
      </p:pic>
    </p:spTree>
    <p:extLst>
      <p:ext uri="{BB962C8B-B14F-4D97-AF65-F5344CB8AC3E}">
        <p14:creationId xmlns:p14="http://schemas.microsoft.com/office/powerpoint/2010/main" val="15763305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9911" y="438252"/>
            <a:ext cx="10058400" cy="794773"/>
          </a:xfrm>
        </p:spPr>
        <p:txBody>
          <a:bodyPr>
            <a:noAutofit/>
          </a:bodyPr>
          <a:lstStyle/>
          <a:p>
            <a:r>
              <a:rPr lang="en-US" sz="3467" b="1" dirty="0"/>
              <a:t>IMPLEMENTATION OF LOGIC GATES USING MCP NEURON</a:t>
            </a:r>
          </a:p>
        </p:txBody>
      </p:sp>
      <p:sp>
        <p:nvSpPr>
          <p:cNvPr id="3" name="Content Placeholder 2"/>
          <p:cNvSpPr>
            <a:spLocks noGrp="1"/>
          </p:cNvSpPr>
          <p:nvPr>
            <p:ph idx="1"/>
          </p:nvPr>
        </p:nvSpPr>
        <p:spPr>
          <a:xfrm>
            <a:off x="885996" y="1426505"/>
            <a:ext cx="10326488" cy="5056084"/>
          </a:xfrm>
        </p:spPr>
        <p:txBody>
          <a:bodyPr>
            <a:normAutofit/>
          </a:bodyPr>
          <a:lstStyle/>
          <a:p>
            <a:pPr marL="0" indent="0" algn="just">
              <a:buNone/>
            </a:pPr>
            <a:r>
              <a:rPr lang="en-US" sz="2533" b="1" dirty="0">
                <a:solidFill>
                  <a:srgbClr val="FF0000"/>
                </a:solidFill>
              </a:rPr>
              <a:t>NOT Gate using MCP Neuron</a:t>
            </a:r>
          </a:p>
          <a:p>
            <a:pPr marL="0" indent="0" algn="just">
              <a:buNone/>
            </a:pPr>
            <a:r>
              <a:rPr lang="en-US" b="1" dirty="0"/>
              <a:t>Step 1: NOT Gate Truth Table</a:t>
            </a:r>
          </a:p>
          <a:p>
            <a:pPr marL="0" indent="0" algn="just">
              <a:buNone/>
            </a:pPr>
            <a:endParaRPr lang="en-US" b="1" dirty="0"/>
          </a:p>
          <a:p>
            <a:pPr marL="0" indent="0" algn="just">
              <a:buNone/>
            </a:pPr>
            <a:endParaRPr lang="en-US" b="1" dirty="0"/>
          </a:p>
          <a:p>
            <a:pPr marL="0" indent="0" algn="just">
              <a:buNone/>
            </a:pPr>
            <a:r>
              <a:rPr lang="en-US" b="1" dirty="0"/>
              <a:t>Step 2: Choose Weights and Threshold</a:t>
            </a:r>
          </a:p>
          <a:p>
            <a:pPr marL="292601" lvl="1" indent="0" algn="just">
              <a:lnSpc>
                <a:spcPct val="110000"/>
              </a:lnSpc>
              <a:buNone/>
            </a:pPr>
            <a:r>
              <a:rPr lang="en-US" dirty="0"/>
              <a:t>w1=-1 </a:t>
            </a:r>
          </a:p>
          <a:p>
            <a:pPr marL="292601" lvl="1" indent="0" algn="just">
              <a:lnSpc>
                <a:spcPct val="110000"/>
              </a:lnSpc>
              <a:buNone/>
            </a:pPr>
            <a:r>
              <a:rPr lang="en-US" dirty="0"/>
              <a:t>θ=0 </a:t>
            </a:r>
          </a:p>
          <a:p>
            <a:pPr marL="0" indent="0" algn="just">
              <a:lnSpc>
                <a:spcPct val="110000"/>
              </a:lnSpc>
              <a:buNone/>
            </a:pPr>
            <a:r>
              <a:rPr lang="en-US" b="1" dirty="0"/>
              <a:t>Step 3: Apply MCP Equation</a:t>
            </a:r>
          </a:p>
          <a:p>
            <a:pPr marL="0" indent="0" algn="just">
              <a:lnSpc>
                <a:spcPct val="110000"/>
              </a:lnSpc>
              <a:buNone/>
            </a:pPr>
            <a:endParaRPr lang="en-US" b="1" dirty="0"/>
          </a:p>
          <a:p>
            <a:pPr marL="0" indent="0" algn="just">
              <a:buNone/>
            </a:pPr>
            <a:endParaRPr lang="en-US" sz="2067" b="1" dirty="0"/>
          </a:p>
          <a:p>
            <a:pPr marL="0" algn="just">
              <a:buNone/>
            </a:pPr>
            <a:r>
              <a:rPr lang="en-US" sz="2067" b="1" dirty="0"/>
              <a:t>		</a:t>
            </a:r>
          </a:p>
        </p:txBody>
      </p:sp>
      <p:sp>
        <p:nvSpPr>
          <p:cNvPr id="4" name="Date Placeholder 3"/>
          <p:cNvSpPr>
            <a:spLocks noGrp="1"/>
          </p:cNvSpPr>
          <p:nvPr>
            <p:ph type="dt" sz="half" idx="10"/>
          </p:nvPr>
        </p:nvSpPr>
        <p:spPr/>
        <p:txBody>
          <a:bodyPr/>
          <a:lstStyle/>
          <a:p>
            <a:pPr defTabSz="1219170">
              <a:buClr>
                <a:srgbClr val="000000"/>
              </a:buClr>
            </a:pPr>
            <a:fld id="{9A63DBB0-8260-43D0-999C-AC91BF46B0C4}"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32</a:t>
            </a:fld>
            <a:endParaRPr lang="en-US" kern="0" dirty="0">
              <a:latin typeface="Arial"/>
              <a:cs typeface="Arial"/>
              <a:sym typeface="Arial"/>
            </a:endParaRPr>
          </a:p>
        </p:txBody>
      </p:sp>
      <p:sp>
        <p:nvSpPr>
          <p:cNvPr id="14" name="Rectangle 13"/>
          <p:cNvSpPr/>
          <p:nvPr/>
        </p:nvSpPr>
        <p:spPr>
          <a:xfrm>
            <a:off x="7370084" y="2367125"/>
            <a:ext cx="3610284"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Step 4: Verification of AND Gate</a:t>
            </a:r>
          </a:p>
        </p:txBody>
      </p:sp>
      <p:graphicFrame>
        <p:nvGraphicFramePr>
          <p:cNvPr id="9" name="Table 8"/>
          <p:cNvGraphicFramePr>
            <a:graphicFrameLocks noGrp="1"/>
          </p:cNvGraphicFramePr>
          <p:nvPr>
            <p:extLst>
              <p:ext uri="{D42A27DB-BD31-4B8C-83A1-F6EECF244321}">
                <p14:modId xmlns:p14="http://schemas.microsoft.com/office/powerpoint/2010/main" val="2459014393"/>
              </p:ext>
            </p:extLst>
          </p:nvPr>
        </p:nvGraphicFramePr>
        <p:xfrm>
          <a:off x="5100973" y="1928693"/>
          <a:ext cx="1896534" cy="1828800"/>
        </p:xfrm>
        <a:graphic>
          <a:graphicData uri="http://schemas.openxmlformats.org/drawingml/2006/table">
            <a:tbl>
              <a:tblPr/>
              <a:tblGrid>
                <a:gridCol w="948267">
                  <a:extLst>
                    <a:ext uri="{9D8B030D-6E8A-4147-A177-3AD203B41FA5}">
                      <a16:colId xmlns:a16="http://schemas.microsoft.com/office/drawing/2014/main" val="3565791151"/>
                    </a:ext>
                  </a:extLst>
                </a:gridCol>
                <a:gridCol w="948267">
                  <a:extLst>
                    <a:ext uri="{9D8B030D-6E8A-4147-A177-3AD203B41FA5}">
                      <a16:colId xmlns:a16="http://schemas.microsoft.com/office/drawing/2014/main" val="837302226"/>
                    </a:ext>
                  </a:extLst>
                </a:gridCol>
              </a:tblGrid>
              <a:tr h="853440">
                <a:tc>
                  <a:txBody>
                    <a:bodyPr/>
                    <a:lstStyle/>
                    <a:p>
                      <a:r>
                        <a:rPr lang="en-US" sz="2400" dirty="0"/>
                        <a:t>x</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NOT x</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3709896"/>
                  </a:ext>
                </a:extLst>
              </a:tr>
              <a:tr h="487680">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0128635"/>
                  </a:ext>
                </a:extLst>
              </a:tr>
              <a:tr h="487680">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5831010"/>
                  </a:ext>
                </a:extLst>
              </a:tr>
            </a:tbl>
          </a:graphicData>
        </a:graphic>
      </p:graphicFrame>
      <p:pic>
        <p:nvPicPr>
          <p:cNvPr id="10" name="Picture 9"/>
          <p:cNvPicPr>
            <a:picLocks noChangeAspect="1"/>
          </p:cNvPicPr>
          <p:nvPr/>
        </p:nvPicPr>
        <p:blipFill>
          <a:blip r:embed="rId2"/>
          <a:stretch>
            <a:fillRect/>
          </a:stretch>
        </p:blipFill>
        <p:spPr>
          <a:xfrm>
            <a:off x="724356" y="4996168"/>
            <a:ext cx="2845197" cy="1105055"/>
          </a:xfrm>
          <a:prstGeom prst="rect">
            <a:avLst/>
          </a:prstGeom>
        </p:spPr>
      </p:pic>
      <p:graphicFrame>
        <p:nvGraphicFramePr>
          <p:cNvPr id="11" name="Table 10"/>
          <p:cNvGraphicFramePr>
            <a:graphicFrameLocks noGrp="1"/>
          </p:cNvGraphicFramePr>
          <p:nvPr/>
        </p:nvGraphicFramePr>
        <p:xfrm>
          <a:off x="7282647" y="2843093"/>
          <a:ext cx="3847248" cy="1463040"/>
        </p:xfrm>
        <a:graphic>
          <a:graphicData uri="http://schemas.openxmlformats.org/drawingml/2006/table">
            <a:tbl>
              <a:tblPr/>
              <a:tblGrid>
                <a:gridCol w="1282416">
                  <a:extLst>
                    <a:ext uri="{9D8B030D-6E8A-4147-A177-3AD203B41FA5}">
                      <a16:colId xmlns:a16="http://schemas.microsoft.com/office/drawing/2014/main" val="2403979507"/>
                    </a:ext>
                  </a:extLst>
                </a:gridCol>
                <a:gridCol w="1282416">
                  <a:extLst>
                    <a:ext uri="{9D8B030D-6E8A-4147-A177-3AD203B41FA5}">
                      <a16:colId xmlns:a16="http://schemas.microsoft.com/office/drawing/2014/main" val="2193840688"/>
                    </a:ext>
                  </a:extLst>
                </a:gridCol>
                <a:gridCol w="1282416">
                  <a:extLst>
                    <a:ext uri="{9D8B030D-6E8A-4147-A177-3AD203B41FA5}">
                      <a16:colId xmlns:a16="http://schemas.microsoft.com/office/drawing/2014/main" val="2768878613"/>
                    </a:ext>
                  </a:extLst>
                </a:gridCol>
              </a:tblGrid>
              <a:tr h="487680">
                <a:tc>
                  <a:txBody>
                    <a:bodyPr/>
                    <a:lstStyle/>
                    <a:p>
                      <a:r>
                        <a:rPr lang="en-US" sz="2400"/>
                        <a:t>x</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Net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Output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9340215"/>
                  </a:ext>
                </a:extLst>
              </a:tr>
              <a:tr h="487680">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89971229"/>
                  </a:ext>
                </a:extLst>
              </a:tr>
              <a:tr h="487680">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816903"/>
                  </a:ext>
                </a:extLst>
              </a:tr>
            </a:tbl>
          </a:graphicData>
        </a:graphic>
      </p:graphicFrame>
      <p:sp>
        <p:nvSpPr>
          <p:cNvPr id="12" name="Rectangle 11"/>
          <p:cNvSpPr/>
          <p:nvPr/>
        </p:nvSpPr>
        <p:spPr>
          <a:xfrm>
            <a:off x="4465325" y="4259681"/>
            <a:ext cx="7112000" cy="2061718"/>
          </a:xfrm>
          <a:prstGeom prst="rect">
            <a:avLst/>
          </a:prstGeom>
        </p:spPr>
        <p:txBody>
          <a:bodyPr wrap="square">
            <a:spAutoFit/>
          </a:bodyPr>
          <a:lstStyle/>
          <a:p>
            <a:pPr algn="just" defTabSz="1219170">
              <a:buClr>
                <a:srgbClr val="000000"/>
              </a:buClr>
            </a:pPr>
            <a:r>
              <a:rPr lang="en-US" sz="2133" kern="0" dirty="0">
                <a:solidFill>
                  <a:srgbClr val="FF0000"/>
                </a:solidFill>
                <a:latin typeface="ui-sans-serif"/>
                <a:cs typeface="Arial"/>
                <a:sym typeface="Arial"/>
              </a:rPr>
              <a:t>The McCulloch–Pitts neuron is a binary threshold model that produces output based on a fixed threshold. It does not support learning or backpropagation. By appropriately selecting weights and threshold values, the MCP neuron can implement basic logic gates such as AND, OR, and NOT.</a:t>
            </a:r>
            <a:endParaRPr lang="en-US" sz="2133" kern="0" dirty="0">
              <a:solidFill>
                <a:srgbClr val="FF0000"/>
              </a:solidFill>
              <a:latin typeface="Arial"/>
              <a:cs typeface="Arial"/>
              <a:sym typeface="Arial"/>
            </a:endParaRPr>
          </a:p>
        </p:txBody>
      </p:sp>
    </p:spTree>
    <p:extLst>
      <p:ext uri="{BB962C8B-B14F-4D97-AF65-F5344CB8AC3E}">
        <p14:creationId xmlns:p14="http://schemas.microsoft.com/office/powerpoint/2010/main" val="7769755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9911" y="438252"/>
            <a:ext cx="10058400" cy="794773"/>
          </a:xfrm>
        </p:spPr>
        <p:txBody>
          <a:bodyPr>
            <a:noAutofit/>
          </a:bodyPr>
          <a:lstStyle/>
          <a:p>
            <a:r>
              <a:rPr lang="en-US" sz="3467" b="1" dirty="0"/>
              <a:t>Limitations of McCulloch–Pitts (MCP) Neuron</a:t>
            </a:r>
          </a:p>
        </p:txBody>
      </p:sp>
      <p:sp>
        <p:nvSpPr>
          <p:cNvPr id="3" name="Content Placeholder 2"/>
          <p:cNvSpPr>
            <a:spLocks noGrp="1"/>
          </p:cNvSpPr>
          <p:nvPr>
            <p:ph idx="1"/>
          </p:nvPr>
        </p:nvSpPr>
        <p:spPr>
          <a:xfrm>
            <a:off x="885997" y="1426504"/>
            <a:ext cx="5548671" cy="5033281"/>
          </a:xfrm>
        </p:spPr>
        <p:txBody>
          <a:bodyPr>
            <a:normAutofit/>
          </a:bodyPr>
          <a:lstStyle/>
          <a:p>
            <a:r>
              <a:rPr lang="en-US" sz="2133" b="1" dirty="0"/>
              <a:t>1. No Learning Capability</a:t>
            </a:r>
          </a:p>
          <a:p>
            <a:pPr lvl="1"/>
            <a:r>
              <a:rPr lang="en-US" sz="1933" dirty="0"/>
              <a:t>Weights are </a:t>
            </a:r>
            <a:r>
              <a:rPr lang="en-US" sz="1933" b="1" dirty="0"/>
              <a:t>fixed and manually assigned</a:t>
            </a:r>
            <a:endParaRPr lang="en-US" sz="1933" dirty="0"/>
          </a:p>
          <a:p>
            <a:pPr lvl="1"/>
            <a:r>
              <a:rPr lang="en-US" sz="1933" dirty="0"/>
              <a:t>No weight update rule</a:t>
            </a:r>
          </a:p>
          <a:p>
            <a:pPr lvl="1"/>
            <a:r>
              <a:rPr lang="en-US" sz="1933" dirty="0"/>
              <a:t>Cannot improve performance from data</a:t>
            </a:r>
          </a:p>
          <a:p>
            <a:r>
              <a:rPr lang="en-US" sz="2133" b="1" dirty="0"/>
              <a:t>2. Binary Inputs and Outputs Only</a:t>
            </a:r>
          </a:p>
          <a:p>
            <a:pPr lvl="1"/>
            <a:r>
              <a:rPr lang="en-US" sz="1933" dirty="0"/>
              <a:t>Inputs must be </a:t>
            </a:r>
            <a:r>
              <a:rPr lang="en-US" sz="1933" b="1" dirty="0"/>
              <a:t>0 or 1</a:t>
            </a:r>
            <a:endParaRPr lang="en-US" sz="1933" dirty="0"/>
          </a:p>
          <a:p>
            <a:pPr lvl="1"/>
            <a:r>
              <a:rPr lang="en-US" sz="1933" dirty="0"/>
              <a:t>Output is strictly </a:t>
            </a:r>
            <a:r>
              <a:rPr lang="en-US" sz="1933" b="1" dirty="0"/>
              <a:t>0 or 1</a:t>
            </a:r>
            <a:endParaRPr lang="en-US" sz="1933" dirty="0"/>
          </a:p>
          <a:p>
            <a:pPr lvl="1"/>
            <a:r>
              <a:rPr lang="en-US" sz="1933" dirty="0"/>
              <a:t>Cannot handle continuous or real-valued data</a:t>
            </a:r>
          </a:p>
          <a:p>
            <a:r>
              <a:rPr lang="en-US" sz="2133" b="1" dirty="0"/>
              <a:t>3. Hard Threshold Activation</a:t>
            </a:r>
          </a:p>
          <a:p>
            <a:pPr lvl="1"/>
            <a:r>
              <a:rPr lang="en-US" sz="1933" dirty="0"/>
              <a:t>Uses </a:t>
            </a:r>
            <a:r>
              <a:rPr lang="en-US" sz="1933" b="1" dirty="0"/>
              <a:t>step (threshold) function</a:t>
            </a:r>
            <a:endParaRPr lang="en-US" sz="1933" dirty="0"/>
          </a:p>
          <a:p>
            <a:pPr lvl="1"/>
            <a:r>
              <a:rPr lang="en-US" sz="1933" dirty="0"/>
              <a:t>Not differentiable</a:t>
            </a:r>
          </a:p>
          <a:p>
            <a:pPr lvl="1"/>
            <a:r>
              <a:rPr lang="en-US" sz="1933" dirty="0"/>
              <a:t>Gradient-based optimization is impossible</a:t>
            </a:r>
          </a:p>
          <a:p>
            <a:pPr marL="0" indent="0" algn="just">
              <a:buNone/>
            </a:pPr>
            <a:r>
              <a:rPr lang="en-US" sz="2067" b="1" dirty="0"/>
              <a:t>		</a:t>
            </a:r>
          </a:p>
        </p:txBody>
      </p:sp>
      <p:sp>
        <p:nvSpPr>
          <p:cNvPr id="4" name="Date Placeholder 3"/>
          <p:cNvSpPr>
            <a:spLocks noGrp="1"/>
          </p:cNvSpPr>
          <p:nvPr>
            <p:ph type="dt" sz="half" idx="10"/>
          </p:nvPr>
        </p:nvSpPr>
        <p:spPr/>
        <p:txBody>
          <a:bodyPr/>
          <a:lstStyle/>
          <a:p>
            <a:pPr defTabSz="1219170">
              <a:buClr>
                <a:srgbClr val="000000"/>
              </a:buClr>
            </a:pPr>
            <a:fld id="{2E09E953-13B5-40C7-9DC8-49305021A065}"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33</a:t>
            </a:fld>
            <a:endParaRPr lang="en-US" kern="0" dirty="0">
              <a:latin typeface="Arial"/>
              <a:cs typeface="Arial"/>
              <a:sym typeface="Arial"/>
            </a:endParaRPr>
          </a:p>
        </p:txBody>
      </p:sp>
      <p:sp>
        <p:nvSpPr>
          <p:cNvPr id="13" name="Content Placeholder 2"/>
          <p:cNvSpPr txBox="1">
            <a:spLocks/>
          </p:cNvSpPr>
          <p:nvPr/>
        </p:nvSpPr>
        <p:spPr>
          <a:xfrm>
            <a:off x="5984698" y="1426504"/>
            <a:ext cx="5834769" cy="4738797"/>
          </a:xfrm>
          <a:prstGeom prst="rect">
            <a:avLst/>
          </a:prstGeom>
        </p:spPr>
        <p:txBody>
          <a:bodyPr vert="horz" lIns="0" tIns="60960" rIns="0" bIns="60960" rtlCol="0">
            <a:normAutofit lnSpcReduction="10000"/>
          </a:bodyPr>
          <a:lst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91438" indent="-91438" defTabSz="914377">
              <a:spcBef>
                <a:spcPts val="1200"/>
              </a:spcBef>
              <a:spcAft>
                <a:spcPts val="200"/>
              </a:spcAft>
              <a:buClr>
                <a:srgbClr val="99CB38"/>
              </a:buClr>
            </a:pPr>
            <a:r>
              <a:rPr lang="en-US" sz="2133" b="1" dirty="0">
                <a:solidFill>
                  <a:prstClr val="black">
                    <a:lumMod val="75000"/>
                    <a:lumOff val="25000"/>
                  </a:prstClr>
                </a:solidFill>
                <a:latin typeface="Calibri" panose="020F0502020204030204"/>
                <a:sym typeface="Arial"/>
              </a:rPr>
              <a:t>4. Cannot Solve Non-Linear Problems</a:t>
            </a:r>
          </a:p>
          <a:p>
            <a:pPr marL="384038" lvl="1" indent="-182875" defTabSz="914377">
              <a:spcBef>
                <a:spcPts val="200"/>
              </a:spcBef>
              <a:spcAft>
                <a:spcPts val="400"/>
              </a:spcAft>
              <a:buClr>
                <a:srgbClr val="99CB38"/>
              </a:buClr>
            </a:pPr>
            <a:r>
              <a:rPr lang="en-US" sz="1933" dirty="0">
                <a:solidFill>
                  <a:prstClr val="black">
                    <a:lumMod val="75000"/>
                    <a:lumOff val="25000"/>
                  </a:prstClr>
                </a:solidFill>
                <a:latin typeface="Calibri" panose="020F0502020204030204"/>
                <a:sym typeface="Arial"/>
              </a:rPr>
              <a:t>Works only for </a:t>
            </a:r>
            <a:r>
              <a:rPr lang="en-US" sz="1933" b="1" dirty="0">
                <a:solidFill>
                  <a:prstClr val="black">
                    <a:lumMod val="75000"/>
                    <a:lumOff val="25000"/>
                  </a:prstClr>
                </a:solidFill>
                <a:latin typeface="Calibri" panose="020F0502020204030204"/>
                <a:sym typeface="Arial"/>
              </a:rPr>
              <a:t>linearly separable</a:t>
            </a:r>
            <a:r>
              <a:rPr lang="en-US" sz="1933" dirty="0">
                <a:solidFill>
                  <a:prstClr val="black">
                    <a:lumMod val="75000"/>
                    <a:lumOff val="25000"/>
                  </a:prstClr>
                </a:solidFill>
                <a:latin typeface="Calibri" panose="020F0502020204030204"/>
                <a:sym typeface="Arial"/>
              </a:rPr>
              <a:t> functions</a:t>
            </a:r>
          </a:p>
          <a:p>
            <a:pPr marL="384038" lvl="1" indent="-182875" defTabSz="914377">
              <a:spcBef>
                <a:spcPts val="200"/>
              </a:spcBef>
              <a:spcAft>
                <a:spcPts val="400"/>
              </a:spcAft>
              <a:buClr>
                <a:srgbClr val="99CB38"/>
              </a:buClr>
            </a:pPr>
            <a:r>
              <a:rPr lang="en-US" sz="1933" b="1" dirty="0">
                <a:solidFill>
                  <a:prstClr val="black">
                    <a:lumMod val="75000"/>
                    <a:lumOff val="25000"/>
                  </a:prstClr>
                </a:solidFill>
                <a:latin typeface="Calibri" panose="020F0502020204030204"/>
                <a:sym typeface="Arial"/>
              </a:rPr>
              <a:t>Fails for XOR problem</a:t>
            </a:r>
            <a:endParaRPr lang="en-US" sz="1933" dirty="0">
              <a:solidFill>
                <a:prstClr val="black">
                  <a:lumMod val="75000"/>
                  <a:lumOff val="25000"/>
                </a:prstClr>
              </a:solidFill>
              <a:latin typeface="Calibri" panose="020F0502020204030204"/>
              <a:sym typeface="Arial"/>
            </a:endParaRPr>
          </a:p>
          <a:p>
            <a:pPr marL="384038" lvl="1" indent="-182875" defTabSz="914377">
              <a:spcBef>
                <a:spcPts val="200"/>
              </a:spcBef>
              <a:spcAft>
                <a:spcPts val="400"/>
              </a:spcAft>
              <a:buClr>
                <a:srgbClr val="99CB38"/>
              </a:buClr>
            </a:pPr>
            <a:r>
              <a:rPr lang="en-US" sz="1933" dirty="0">
                <a:solidFill>
                  <a:prstClr val="black">
                    <a:lumMod val="75000"/>
                    <a:lumOff val="25000"/>
                  </a:prstClr>
                </a:solidFill>
                <a:latin typeface="Calibri" panose="020F0502020204030204"/>
                <a:sym typeface="Arial"/>
              </a:rPr>
              <a:t>Single neuron is insufficient for complex decision boundaries</a:t>
            </a:r>
          </a:p>
          <a:p>
            <a:pPr marL="91438" indent="-91438" defTabSz="914377">
              <a:spcBef>
                <a:spcPts val="1200"/>
              </a:spcBef>
              <a:spcAft>
                <a:spcPts val="200"/>
              </a:spcAft>
              <a:buClr>
                <a:srgbClr val="99CB38"/>
              </a:buClr>
            </a:pPr>
            <a:r>
              <a:rPr lang="en-US" sz="2133" b="1" dirty="0">
                <a:solidFill>
                  <a:prstClr val="black">
                    <a:lumMod val="75000"/>
                    <a:lumOff val="25000"/>
                  </a:prstClr>
                </a:solidFill>
                <a:latin typeface="Calibri" panose="020F0502020204030204"/>
                <a:sym typeface="Arial"/>
              </a:rPr>
              <a:t>5. No Backpropagation Support</a:t>
            </a:r>
          </a:p>
          <a:p>
            <a:pPr marL="384038" lvl="1" indent="-182875" defTabSz="914377">
              <a:spcBef>
                <a:spcPts val="200"/>
              </a:spcBef>
              <a:spcAft>
                <a:spcPts val="400"/>
              </a:spcAft>
              <a:buClr>
                <a:srgbClr val="99CB38"/>
              </a:buClr>
            </a:pPr>
            <a:r>
              <a:rPr lang="en-US" sz="1933" dirty="0">
                <a:solidFill>
                  <a:prstClr val="black">
                    <a:lumMod val="75000"/>
                    <a:lumOff val="25000"/>
                  </a:prstClr>
                </a:solidFill>
                <a:latin typeface="Calibri" panose="020F0502020204030204"/>
                <a:sym typeface="Arial"/>
              </a:rPr>
              <a:t>No error feedback mechanism</a:t>
            </a:r>
          </a:p>
          <a:p>
            <a:pPr marL="384038" lvl="1" indent="-182875" defTabSz="914377">
              <a:spcBef>
                <a:spcPts val="200"/>
              </a:spcBef>
              <a:spcAft>
                <a:spcPts val="400"/>
              </a:spcAft>
              <a:buClr>
                <a:srgbClr val="99CB38"/>
              </a:buClr>
            </a:pPr>
            <a:r>
              <a:rPr lang="en-US" sz="1933" dirty="0">
                <a:solidFill>
                  <a:prstClr val="black">
                    <a:lumMod val="75000"/>
                    <a:lumOff val="25000"/>
                  </a:prstClr>
                </a:solidFill>
                <a:latin typeface="Calibri" panose="020F0502020204030204"/>
                <a:sym typeface="Arial"/>
              </a:rPr>
              <a:t>Cannot adjust weights based on output error</a:t>
            </a:r>
          </a:p>
          <a:p>
            <a:pPr marL="91438" indent="-91438" defTabSz="914377">
              <a:spcBef>
                <a:spcPts val="1200"/>
              </a:spcBef>
              <a:spcAft>
                <a:spcPts val="200"/>
              </a:spcAft>
              <a:buClr>
                <a:srgbClr val="99CB38"/>
              </a:buClr>
            </a:pPr>
            <a:r>
              <a:rPr lang="en-US" sz="2133" b="1" dirty="0">
                <a:solidFill>
                  <a:prstClr val="black">
                    <a:lumMod val="75000"/>
                    <a:lumOff val="25000"/>
                  </a:prstClr>
                </a:solidFill>
                <a:latin typeface="Calibri" panose="020F0502020204030204"/>
                <a:sym typeface="Arial"/>
              </a:rPr>
              <a:t>6. Too Simple for Real-World Applications</a:t>
            </a:r>
          </a:p>
          <a:p>
            <a:pPr marL="384038" lvl="1" indent="-182875" defTabSz="914377">
              <a:spcBef>
                <a:spcPts val="200"/>
              </a:spcBef>
              <a:spcAft>
                <a:spcPts val="400"/>
              </a:spcAft>
              <a:buClr>
                <a:srgbClr val="99CB38"/>
              </a:buClr>
            </a:pPr>
            <a:r>
              <a:rPr lang="en-US" sz="1933" dirty="0">
                <a:solidFill>
                  <a:prstClr val="black">
                    <a:lumMod val="75000"/>
                    <a:lumOff val="25000"/>
                  </a:prstClr>
                </a:solidFill>
                <a:latin typeface="Calibri" panose="020F0502020204030204"/>
                <a:sym typeface="Arial"/>
              </a:rPr>
              <a:t>Cannot model uncertainty or noise</a:t>
            </a:r>
          </a:p>
          <a:p>
            <a:pPr marL="384038" lvl="1" indent="-182875" defTabSz="914377">
              <a:spcBef>
                <a:spcPts val="200"/>
              </a:spcBef>
              <a:spcAft>
                <a:spcPts val="400"/>
              </a:spcAft>
              <a:buClr>
                <a:srgbClr val="99CB38"/>
              </a:buClr>
            </a:pPr>
            <a:r>
              <a:rPr lang="en-US" sz="1933" dirty="0">
                <a:solidFill>
                  <a:prstClr val="black">
                    <a:lumMod val="75000"/>
                    <a:lumOff val="25000"/>
                  </a:prstClr>
                </a:solidFill>
                <a:latin typeface="Calibri" panose="020F0502020204030204"/>
                <a:sym typeface="Arial"/>
              </a:rPr>
              <a:t>Not suitable for image, speech, or text data</a:t>
            </a:r>
          </a:p>
          <a:p>
            <a:pPr marL="384038" lvl="1" indent="-182875" defTabSz="914377">
              <a:spcBef>
                <a:spcPts val="200"/>
              </a:spcBef>
              <a:spcAft>
                <a:spcPts val="400"/>
              </a:spcAft>
              <a:buClr>
                <a:srgbClr val="99CB38"/>
              </a:buClr>
            </a:pPr>
            <a:r>
              <a:rPr lang="en-US" sz="1933" dirty="0">
                <a:solidFill>
                  <a:prstClr val="black">
                    <a:lumMod val="75000"/>
                    <a:lumOff val="25000"/>
                  </a:prstClr>
                </a:solidFill>
                <a:latin typeface="Calibri" panose="020F0502020204030204"/>
                <a:sym typeface="Arial"/>
              </a:rPr>
              <a:t>Purely a theoretical model</a:t>
            </a:r>
          </a:p>
          <a:p>
            <a:pPr marL="0" indent="0" algn="just" defTabSz="914377">
              <a:spcBef>
                <a:spcPts val="1200"/>
              </a:spcBef>
              <a:spcAft>
                <a:spcPts val="200"/>
              </a:spcAft>
              <a:buClr>
                <a:srgbClr val="99CB38"/>
              </a:buClr>
              <a:buNone/>
            </a:pPr>
            <a:r>
              <a:rPr lang="en-US" sz="2067" b="1" dirty="0">
                <a:solidFill>
                  <a:prstClr val="black">
                    <a:lumMod val="75000"/>
                    <a:lumOff val="25000"/>
                  </a:prstClr>
                </a:solidFill>
                <a:latin typeface="Calibri" panose="020F0502020204030204"/>
                <a:sym typeface="Arial"/>
              </a:rPr>
              <a:t>		</a:t>
            </a:r>
          </a:p>
        </p:txBody>
      </p:sp>
      <p:sp>
        <p:nvSpPr>
          <p:cNvPr id="7" name="Rectangle 6"/>
          <p:cNvSpPr/>
          <p:nvPr/>
        </p:nvSpPr>
        <p:spPr>
          <a:xfrm>
            <a:off x="1986844" y="5907374"/>
            <a:ext cx="8771467" cy="420564"/>
          </a:xfrm>
          <a:prstGeom prst="rect">
            <a:avLst/>
          </a:prstGeom>
        </p:spPr>
        <p:txBody>
          <a:bodyPr wrap="square">
            <a:spAutoFit/>
          </a:bodyPr>
          <a:lstStyle/>
          <a:p>
            <a:pPr defTabSz="1219170">
              <a:buClr>
                <a:srgbClr val="000000"/>
              </a:buClr>
            </a:pPr>
            <a:r>
              <a:rPr lang="en-US" sz="2133" b="1" kern="0" dirty="0">
                <a:solidFill>
                  <a:srgbClr val="FF0000"/>
                </a:solidFill>
                <a:latin typeface="Arial"/>
                <a:cs typeface="Arial"/>
                <a:sym typeface="Arial"/>
              </a:rPr>
              <a:t>“MCP neuron can compute logic, but it cannot learn from data.”</a:t>
            </a:r>
          </a:p>
        </p:txBody>
      </p:sp>
    </p:spTree>
    <p:extLst>
      <p:ext uri="{BB962C8B-B14F-4D97-AF65-F5344CB8AC3E}">
        <p14:creationId xmlns:p14="http://schemas.microsoft.com/office/powerpoint/2010/main" val="34820055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9911" y="438252"/>
            <a:ext cx="10058400" cy="794773"/>
          </a:xfrm>
        </p:spPr>
        <p:txBody>
          <a:bodyPr>
            <a:noAutofit/>
          </a:bodyPr>
          <a:lstStyle/>
          <a:p>
            <a:r>
              <a:rPr lang="en-US" sz="3467" b="1" dirty="0"/>
              <a:t>Why MCP Neuron Fails for XOR Problem?</a:t>
            </a:r>
          </a:p>
        </p:txBody>
      </p:sp>
      <p:sp>
        <p:nvSpPr>
          <p:cNvPr id="3" name="Content Placeholder 2"/>
          <p:cNvSpPr>
            <a:spLocks noGrp="1"/>
          </p:cNvSpPr>
          <p:nvPr>
            <p:ph idx="1"/>
          </p:nvPr>
        </p:nvSpPr>
        <p:spPr>
          <a:xfrm>
            <a:off x="885996" y="1426504"/>
            <a:ext cx="9872315" cy="5033281"/>
          </a:xfrm>
        </p:spPr>
        <p:txBody>
          <a:bodyPr>
            <a:normAutofit/>
          </a:bodyPr>
          <a:lstStyle/>
          <a:p>
            <a:r>
              <a:rPr lang="en-US" sz="2133" b="1" dirty="0"/>
              <a:t>What is XOR (Exclusive OR)?</a:t>
            </a:r>
          </a:p>
          <a:p>
            <a:pPr marL="0" indent="0" algn="just">
              <a:buNone/>
            </a:pPr>
            <a:r>
              <a:rPr lang="en-US" sz="2067" b="1" dirty="0"/>
              <a:t>		</a:t>
            </a:r>
          </a:p>
          <a:p>
            <a:pPr marL="0" indent="0" algn="just">
              <a:buNone/>
            </a:pPr>
            <a:endParaRPr lang="en-US" sz="2067" b="1" dirty="0"/>
          </a:p>
          <a:p>
            <a:pPr marL="0" indent="0" algn="just">
              <a:buNone/>
            </a:pPr>
            <a:endParaRPr lang="en-US" sz="2067" b="1" dirty="0"/>
          </a:p>
          <a:p>
            <a:pPr marL="0" indent="0" algn="just">
              <a:buNone/>
            </a:pPr>
            <a:endParaRPr lang="en-US" sz="2067" b="1" dirty="0"/>
          </a:p>
          <a:p>
            <a:pPr marL="0" indent="0" algn="just">
              <a:buNone/>
            </a:pPr>
            <a:r>
              <a:rPr lang="en-US" sz="2067" b="1" dirty="0"/>
              <a:t>Why MCP Can Solve AND / OR but Not XOR?</a:t>
            </a:r>
          </a:p>
          <a:p>
            <a:pPr algn="just">
              <a:buFont typeface="Wingdings" panose="05000000000000000000" pitchFamily="2" charset="2"/>
              <a:buChar char="Ø"/>
            </a:pPr>
            <a:r>
              <a:rPr lang="en-US" sz="2067" dirty="0"/>
              <a:t>MCP neuron uses: Fixed weights, Single threshold, Linear decision rule.</a:t>
            </a:r>
          </a:p>
          <a:p>
            <a:pPr algn="just">
              <a:buFont typeface="Wingdings" panose="05000000000000000000" pitchFamily="2" charset="2"/>
              <a:buChar char="Ø"/>
            </a:pPr>
            <a:r>
              <a:rPr lang="en-US" sz="2067" dirty="0"/>
              <a:t>This means: MCP neuron can separate data only using a straight line.</a:t>
            </a:r>
          </a:p>
          <a:p>
            <a:pPr algn="just">
              <a:buFont typeface="Wingdings" panose="05000000000000000000" pitchFamily="2" charset="2"/>
              <a:buChar char="Ø"/>
            </a:pPr>
            <a:r>
              <a:rPr lang="en-US" sz="2067" dirty="0"/>
              <a:t>Linear </a:t>
            </a:r>
            <a:r>
              <a:rPr lang="en-US" sz="2067" dirty="0" err="1"/>
              <a:t>Separability</a:t>
            </a:r>
            <a:r>
              <a:rPr lang="en-US" sz="2067" dirty="0"/>
              <a:t> (Very Important Concept): </a:t>
            </a:r>
          </a:p>
          <a:p>
            <a:pPr algn="just">
              <a:buFont typeface="Wingdings" panose="05000000000000000000" pitchFamily="2" charset="2"/>
              <a:buChar char="Ø"/>
            </a:pPr>
            <a:r>
              <a:rPr lang="en-US" sz="2067" dirty="0"/>
              <a:t>A problem is linearly separable if, A single straight line can separate output 1 and output 0 cases. </a:t>
            </a:r>
            <a:r>
              <a:rPr lang="en-US" sz="2133" dirty="0"/>
              <a:t>AND / OR are linearly separable.</a:t>
            </a:r>
            <a:endParaRPr lang="en-US" sz="2067" dirty="0"/>
          </a:p>
        </p:txBody>
      </p:sp>
      <p:sp>
        <p:nvSpPr>
          <p:cNvPr id="4" name="Date Placeholder 3"/>
          <p:cNvSpPr>
            <a:spLocks noGrp="1"/>
          </p:cNvSpPr>
          <p:nvPr>
            <p:ph type="dt" sz="half" idx="10"/>
          </p:nvPr>
        </p:nvSpPr>
        <p:spPr/>
        <p:txBody>
          <a:bodyPr/>
          <a:lstStyle/>
          <a:p>
            <a:pPr defTabSz="1219170">
              <a:buClr>
                <a:srgbClr val="000000"/>
              </a:buClr>
            </a:pPr>
            <a:fld id="{B7CA3D84-79E1-446A-9142-788A69B48F3F}"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34</a:t>
            </a:fld>
            <a:endParaRPr lang="en-US" kern="0" dirty="0">
              <a:latin typeface="Arial"/>
              <a:cs typeface="Arial"/>
              <a:sym typeface="Arial"/>
            </a:endParaRPr>
          </a:p>
        </p:txBody>
      </p:sp>
      <p:graphicFrame>
        <p:nvGraphicFramePr>
          <p:cNvPr id="8" name="Table 7"/>
          <p:cNvGraphicFramePr>
            <a:graphicFrameLocks noGrp="1"/>
          </p:cNvGraphicFramePr>
          <p:nvPr>
            <p:extLst>
              <p:ext uri="{D42A27DB-BD31-4B8C-83A1-F6EECF244321}">
                <p14:modId xmlns:p14="http://schemas.microsoft.com/office/powerpoint/2010/main" val="903698853"/>
              </p:ext>
            </p:extLst>
          </p:nvPr>
        </p:nvGraphicFramePr>
        <p:xfrm>
          <a:off x="5788308" y="1504744"/>
          <a:ext cx="2975106" cy="2438400"/>
        </p:xfrm>
        <a:graphic>
          <a:graphicData uri="http://schemas.openxmlformats.org/drawingml/2006/table">
            <a:tbl>
              <a:tblPr/>
              <a:tblGrid>
                <a:gridCol w="991702">
                  <a:extLst>
                    <a:ext uri="{9D8B030D-6E8A-4147-A177-3AD203B41FA5}">
                      <a16:colId xmlns:a16="http://schemas.microsoft.com/office/drawing/2014/main" val="580469646"/>
                    </a:ext>
                  </a:extLst>
                </a:gridCol>
                <a:gridCol w="991702">
                  <a:extLst>
                    <a:ext uri="{9D8B030D-6E8A-4147-A177-3AD203B41FA5}">
                      <a16:colId xmlns:a16="http://schemas.microsoft.com/office/drawing/2014/main" val="1069950025"/>
                    </a:ext>
                  </a:extLst>
                </a:gridCol>
                <a:gridCol w="991702">
                  <a:extLst>
                    <a:ext uri="{9D8B030D-6E8A-4147-A177-3AD203B41FA5}">
                      <a16:colId xmlns:a16="http://schemas.microsoft.com/office/drawing/2014/main" val="1174729345"/>
                    </a:ext>
                  </a:extLst>
                </a:gridCol>
              </a:tblGrid>
              <a:tr h="430468">
                <a:tc>
                  <a:txBody>
                    <a:bodyPr/>
                    <a:lstStyle/>
                    <a:p>
                      <a:r>
                        <a:rPr lang="en-US" sz="2400"/>
                        <a:t>x₁</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x₂</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XOR</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4899985"/>
                  </a:ext>
                </a:extLst>
              </a:tr>
              <a:tr h="430468">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4184031"/>
                  </a:ext>
                </a:extLst>
              </a:tr>
              <a:tr h="430468">
                <a:tc>
                  <a:txBody>
                    <a:bodyPr/>
                    <a:lstStyle/>
                    <a:p>
                      <a:r>
                        <a:rPr lang="en-US" sz="24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096356"/>
                  </a:ext>
                </a:extLst>
              </a:tr>
              <a:tr h="430468">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5622143"/>
                  </a:ext>
                </a:extLst>
              </a:tr>
              <a:tr h="430468">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1528378"/>
                  </a:ext>
                </a:extLst>
              </a:tr>
            </a:tbl>
          </a:graphicData>
        </a:graphic>
      </p:graphicFrame>
      <p:sp>
        <p:nvSpPr>
          <p:cNvPr id="9" name="Rectangle 8"/>
          <p:cNvSpPr/>
          <p:nvPr/>
        </p:nvSpPr>
        <p:spPr>
          <a:xfrm>
            <a:off x="885997" y="2068288"/>
            <a:ext cx="3393071" cy="666977"/>
          </a:xfrm>
          <a:prstGeom prst="rect">
            <a:avLst/>
          </a:prstGeom>
        </p:spPr>
        <p:txBody>
          <a:bodyPr wrap="square">
            <a:spAutoFit/>
          </a:bodyPr>
          <a:lstStyle/>
          <a:p>
            <a:pPr defTabSz="1219170">
              <a:buClr>
                <a:srgbClr val="000000"/>
              </a:buClr>
            </a:pPr>
            <a:r>
              <a:rPr lang="en-US" sz="1867" kern="0" dirty="0">
                <a:solidFill>
                  <a:srgbClr val="000000"/>
                </a:solidFill>
                <a:latin typeface="Arial"/>
                <a:cs typeface="Arial"/>
                <a:sym typeface="Arial"/>
              </a:rPr>
              <a:t>Output is </a:t>
            </a:r>
            <a:r>
              <a:rPr lang="en-US" sz="1867" b="1" kern="0" dirty="0">
                <a:solidFill>
                  <a:srgbClr val="000000"/>
                </a:solidFill>
                <a:latin typeface="Arial"/>
                <a:cs typeface="Arial"/>
                <a:sym typeface="Arial"/>
              </a:rPr>
              <a:t>1 only when inputs are different</a:t>
            </a:r>
            <a:r>
              <a:rPr lang="en-US" sz="1867" kern="0" dirty="0">
                <a:solidFill>
                  <a:srgbClr val="000000"/>
                </a:solidFill>
                <a:latin typeface="Arial"/>
                <a:cs typeface="Arial"/>
                <a:sym typeface="Arial"/>
              </a:rPr>
              <a:t>.</a:t>
            </a:r>
          </a:p>
        </p:txBody>
      </p:sp>
      <p:pic>
        <p:nvPicPr>
          <p:cNvPr id="12" name="Picture 11"/>
          <p:cNvPicPr>
            <a:picLocks noChangeAspect="1"/>
          </p:cNvPicPr>
          <p:nvPr/>
        </p:nvPicPr>
        <p:blipFill>
          <a:blip r:embed="rId2"/>
          <a:stretch>
            <a:fillRect/>
          </a:stretch>
        </p:blipFill>
        <p:spPr>
          <a:xfrm>
            <a:off x="8777525" y="835639"/>
            <a:ext cx="2743200" cy="2743200"/>
          </a:xfrm>
          <a:prstGeom prst="rect">
            <a:avLst/>
          </a:prstGeom>
        </p:spPr>
      </p:pic>
      <p:pic>
        <p:nvPicPr>
          <p:cNvPr id="14" name="Picture 13"/>
          <p:cNvPicPr>
            <a:picLocks noChangeAspect="1"/>
          </p:cNvPicPr>
          <p:nvPr/>
        </p:nvPicPr>
        <p:blipFill>
          <a:blip r:embed="rId3"/>
          <a:stretch>
            <a:fillRect/>
          </a:stretch>
        </p:blipFill>
        <p:spPr>
          <a:xfrm>
            <a:off x="9013371" y="3407703"/>
            <a:ext cx="2842036" cy="2195460"/>
          </a:xfrm>
          <a:prstGeom prst="rect">
            <a:avLst/>
          </a:prstGeom>
        </p:spPr>
      </p:pic>
    </p:spTree>
    <p:extLst>
      <p:ext uri="{BB962C8B-B14F-4D97-AF65-F5344CB8AC3E}">
        <p14:creationId xmlns:p14="http://schemas.microsoft.com/office/powerpoint/2010/main" val="25626916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9911" y="438252"/>
            <a:ext cx="10058400" cy="794773"/>
          </a:xfrm>
        </p:spPr>
        <p:txBody>
          <a:bodyPr>
            <a:noAutofit/>
          </a:bodyPr>
          <a:lstStyle/>
          <a:p>
            <a:r>
              <a:rPr lang="en-US" sz="3467" b="1" dirty="0"/>
              <a:t>Why MCP Neuron Fails for XOR Problem?</a:t>
            </a:r>
          </a:p>
        </p:txBody>
      </p:sp>
      <p:sp>
        <p:nvSpPr>
          <p:cNvPr id="3" name="Content Placeholder 2"/>
          <p:cNvSpPr>
            <a:spLocks noGrp="1"/>
          </p:cNvSpPr>
          <p:nvPr>
            <p:ph idx="1"/>
          </p:nvPr>
        </p:nvSpPr>
        <p:spPr>
          <a:xfrm>
            <a:off x="479596" y="1426502"/>
            <a:ext cx="9872315" cy="5033281"/>
          </a:xfrm>
        </p:spPr>
        <p:txBody>
          <a:bodyPr>
            <a:normAutofit/>
          </a:bodyPr>
          <a:lstStyle/>
          <a:p>
            <a:r>
              <a:rPr lang="en-US" sz="2133" b="1" dirty="0"/>
              <a:t>What is XOR (Exclusive OR)?</a:t>
            </a:r>
          </a:p>
          <a:p>
            <a:pPr marL="0" indent="0" algn="just">
              <a:buNone/>
            </a:pPr>
            <a:r>
              <a:rPr lang="en-US" sz="2067" b="1" dirty="0"/>
              <a:t>		</a:t>
            </a:r>
          </a:p>
          <a:p>
            <a:pPr marL="0" indent="0" algn="just">
              <a:buNone/>
            </a:pPr>
            <a:endParaRPr lang="en-US" sz="2067" b="1" dirty="0"/>
          </a:p>
          <a:p>
            <a:pPr marL="0" indent="0" algn="just">
              <a:buNone/>
            </a:pPr>
            <a:endParaRPr lang="en-US" sz="2067" b="1" dirty="0"/>
          </a:p>
          <a:p>
            <a:pPr marL="0" indent="0" algn="just">
              <a:buNone/>
            </a:pPr>
            <a:r>
              <a:rPr lang="en-US" sz="2067" b="1" dirty="0"/>
              <a:t>Why MCP Can Solve AND / OR but Not XOR?</a:t>
            </a:r>
          </a:p>
          <a:p>
            <a:pPr algn="just">
              <a:buFont typeface="Wingdings" panose="05000000000000000000" pitchFamily="2" charset="2"/>
              <a:buChar char="Ø"/>
            </a:pPr>
            <a:r>
              <a:rPr lang="en-US" sz="2067" dirty="0"/>
              <a:t>MCP neuron uses: Fixed weights, Single threshold, Linear decision rule.</a:t>
            </a:r>
          </a:p>
          <a:p>
            <a:pPr algn="just">
              <a:buFont typeface="Wingdings" panose="05000000000000000000" pitchFamily="2" charset="2"/>
              <a:buChar char="Ø"/>
            </a:pPr>
            <a:r>
              <a:rPr lang="en-US" sz="2067" dirty="0"/>
              <a:t>This means: MCP neuron can separate data only using a straight line.</a:t>
            </a:r>
          </a:p>
          <a:p>
            <a:pPr algn="just">
              <a:buFont typeface="Wingdings" panose="05000000000000000000" pitchFamily="2" charset="2"/>
              <a:buChar char="Ø"/>
            </a:pPr>
            <a:r>
              <a:rPr lang="en-US" sz="2067" dirty="0"/>
              <a:t>Linear </a:t>
            </a:r>
            <a:r>
              <a:rPr lang="en-US" sz="2067" dirty="0" err="1"/>
              <a:t>Separability</a:t>
            </a:r>
            <a:r>
              <a:rPr lang="en-US" sz="2067" dirty="0"/>
              <a:t> (Very Important Concept): </a:t>
            </a:r>
          </a:p>
          <a:p>
            <a:pPr algn="just">
              <a:buFont typeface="Wingdings" panose="05000000000000000000" pitchFamily="2" charset="2"/>
              <a:buChar char="Ø"/>
            </a:pPr>
            <a:r>
              <a:rPr lang="en-US" sz="2067" dirty="0"/>
              <a:t>A problem is linearly separable if, A single straight line can separate output 1 and output 0 cases. </a:t>
            </a:r>
            <a:r>
              <a:rPr lang="en-US" sz="2133" b="1" dirty="0"/>
              <a:t>AND / OR </a:t>
            </a:r>
            <a:r>
              <a:rPr lang="en-US" sz="2133" dirty="0"/>
              <a:t>are linearly separable.</a:t>
            </a:r>
          </a:p>
          <a:p>
            <a:pPr algn="just">
              <a:buFont typeface="Wingdings" panose="05000000000000000000" pitchFamily="2" charset="2"/>
              <a:buChar char="Ø"/>
            </a:pPr>
            <a:r>
              <a:rPr lang="en-US" sz="2067" b="1" dirty="0"/>
              <a:t>XOR: </a:t>
            </a:r>
            <a:r>
              <a:rPr lang="en-US" sz="2067" dirty="0"/>
              <a:t>Not linearly separable, No single straight line can separate the classes, MCP fails</a:t>
            </a:r>
          </a:p>
        </p:txBody>
      </p:sp>
      <p:sp>
        <p:nvSpPr>
          <p:cNvPr id="4" name="Date Placeholder 3"/>
          <p:cNvSpPr>
            <a:spLocks noGrp="1"/>
          </p:cNvSpPr>
          <p:nvPr>
            <p:ph type="dt" sz="half" idx="10"/>
          </p:nvPr>
        </p:nvSpPr>
        <p:spPr/>
        <p:txBody>
          <a:bodyPr/>
          <a:lstStyle/>
          <a:p>
            <a:pPr defTabSz="1219170">
              <a:buClr>
                <a:srgbClr val="000000"/>
              </a:buClr>
            </a:pPr>
            <a:fld id="{A1846916-64A4-4679-A418-E78641103C64}"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35</a:t>
            </a:fld>
            <a:endParaRPr lang="en-US" kern="0" dirty="0">
              <a:latin typeface="Arial"/>
              <a:cs typeface="Arial"/>
              <a:sym typeface="Arial"/>
            </a:endParaRPr>
          </a:p>
        </p:txBody>
      </p:sp>
      <p:graphicFrame>
        <p:nvGraphicFramePr>
          <p:cNvPr id="8" name="Table 7"/>
          <p:cNvGraphicFramePr>
            <a:graphicFrameLocks noGrp="1"/>
          </p:cNvGraphicFramePr>
          <p:nvPr>
            <p:extLst>
              <p:ext uri="{D42A27DB-BD31-4B8C-83A1-F6EECF244321}">
                <p14:modId xmlns:p14="http://schemas.microsoft.com/office/powerpoint/2010/main" val="1958593023"/>
              </p:ext>
            </p:extLst>
          </p:nvPr>
        </p:nvGraphicFramePr>
        <p:xfrm>
          <a:off x="4437945" y="1436229"/>
          <a:ext cx="3712635" cy="1828800"/>
        </p:xfrm>
        <a:graphic>
          <a:graphicData uri="http://schemas.openxmlformats.org/drawingml/2006/table">
            <a:tbl>
              <a:tblPr/>
              <a:tblGrid>
                <a:gridCol w="1237545">
                  <a:extLst>
                    <a:ext uri="{9D8B030D-6E8A-4147-A177-3AD203B41FA5}">
                      <a16:colId xmlns:a16="http://schemas.microsoft.com/office/drawing/2014/main" val="580469646"/>
                    </a:ext>
                  </a:extLst>
                </a:gridCol>
                <a:gridCol w="1237545">
                  <a:extLst>
                    <a:ext uri="{9D8B030D-6E8A-4147-A177-3AD203B41FA5}">
                      <a16:colId xmlns:a16="http://schemas.microsoft.com/office/drawing/2014/main" val="1069950025"/>
                    </a:ext>
                  </a:extLst>
                </a:gridCol>
                <a:gridCol w="1237545">
                  <a:extLst>
                    <a:ext uri="{9D8B030D-6E8A-4147-A177-3AD203B41FA5}">
                      <a16:colId xmlns:a16="http://schemas.microsoft.com/office/drawing/2014/main" val="1174729345"/>
                    </a:ext>
                  </a:extLst>
                </a:gridCol>
              </a:tblGrid>
              <a:tr h="365760">
                <a:tc>
                  <a:txBody>
                    <a:bodyPr/>
                    <a:lstStyle/>
                    <a:p>
                      <a:r>
                        <a:rPr lang="en-US" sz="1600"/>
                        <a:t>x₁</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x₂</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XOR</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4899985"/>
                  </a:ext>
                </a:extLst>
              </a:tr>
              <a:tr h="365760">
                <a:tc>
                  <a:txBody>
                    <a:bodyPr/>
                    <a:lstStyle/>
                    <a:p>
                      <a:r>
                        <a:rPr lang="en-US" sz="1600" dirty="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4184031"/>
                  </a:ext>
                </a:extLst>
              </a:tr>
              <a:tr h="365760">
                <a:tc>
                  <a:txBody>
                    <a:bodyPr/>
                    <a:lstStyle/>
                    <a:p>
                      <a:r>
                        <a:rPr lang="en-US" sz="16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096356"/>
                  </a:ext>
                </a:extLst>
              </a:tr>
              <a:tr h="365760">
                <a:tc>
                  <a:txBody>
                    <a:bodyPr/>
                    <a:lstStyle/>
                    <a:p>
                      <a:r>
                        <a:rPr lang="en-US" sz="16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5622143"/>
                  </a:ext>
                </a:extLst>
              </a:tr>
              <a:tr h="365760">
                <a:tc>
                  <a:txBody>
                    <a:bodyPr/>
                    <a:lstStyle/>
                    <a:p>
                      <a:r>
                        <a:rPr lang="en-US" sz="16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1528378"/>
                  </a:ext>
                </a:extLst>
              </a:tr>
            </a:tbl>
          </a:graphicData>
        </a:graphic>
      </p:graphicFrame>
      <p:sp>
        <p:nvSpPr>
          <p:cNvPr id="9" name="Rectangle 8"/>
          <p:cNvSpPr/>
          <p:nvPr/>
        </p:nvSpPr>
        <p:spPr>
          <a:xfrm>
            <a:off x="541630" y="1996788"/>
            <a:ext cx="3393071" cy="666977"/>
          </a:xfrm>
          <a:prstGeom prst="rect">
            <a:avLst/>
          </a:prstGeom>
        </p:spPr>
        <p:txBody>
          <a:bodyPr wrap="square">
            <a:spAutoFit/>
          </a:bodyPr>
          <a:lstStyle/>
          <a:p>
            <a:pPr defTabSz="1219170">
              <a:buClr>
                <a:srgbClr val="000000"/>
              </a:buClr>
            </a:pPr>
            <a:r>
              <a:rPr lang="en-US" sz="1867" kern="0" dirty="0">
                <a:solidFill>
                  <a:srgbClr val="000000"/>
                </a:solidFill>
                <a:latin typeface="Arial"/>
                <a:cs typeface="Arial"/>
                <a:sym typeface="Arial"/>
              </a:rPr>
              <a:t>Output is </a:t>
            </a:r>
            <a:r>
              <a:rPr lang="en-US" sz="1867" b="1" kern="0" dirty="0">
                <a:solidFill>
                  <a:srgbClr val="000000"/>
                </a:solidFill>
                <a:latin typeface="Arial"/>
                <a:cs typeface="Arial"/>
                <a:sym typeface="Arial"/>
              </a:rPr>
              <a:t>1 only when inputs are different</a:t>
            </a:r>
            <a:r>
              <a:rPr lang="en-US" sz="1867" kern="0" dirty="0">
                <a:solidFill>
                  <a:srgbClr val="000000"/>
                </a:solidFill>
                <a:latin typeface="Arial"/>
                <a:cs typeface="Arial"/>
                <a:sym typeface="Arial"/>
              </a:rPr>
              <a:t>.</a:t>
            </a:r>
          </a:p>
        </p:txBody>
      </p:sp>
      <p:pic>
        <p:nvPicPr>
          <p:cNvPr id="12" name="Picture 11"/>
          <p:cNvPicPr>
            <a:picLocks noChangeAspect="1"/>
          </p:cNvPicPr>
          <p:nvPr/>
        </p:nvPicPr>
        <p:blipFill>
          <a:blip r:embed="rId2"/>
          <a:stretch>
            <a:fillRect/>
          </a:stretch>
        </p:blipFill>
        <p:spPr>
          <a:xfrm>
            <a:off x="8709376" y="54900"/>
            <a:ext cx="2743200" cy="2743200"/>
          </a:xfrm>
          <a:prstGeom prst="rect">
            <a:avLst/>
          </a:prstGeom>
        </p:spPr>
      </p:pic>
      <p:pic>
        <p:nvPicPr>
          <p:cNvPr id="14" name="Picture 13"/>
          <p:cNvPicPr>
            <a:picLocks noChangeAspect="1"/>
          </p:cNvPicPr>
          <p:nvPr/>
        </p:nvPicPr>
        <p:blipFill>
          <a:blip r:embed="rId3"/>
          <a:stretch>
            <a:fillRect/>
          </a:stretch>
        </p:blipFill>
        <p:spPr>
          <a:xfrm>
            <a:off x="8653825" y="2694415"/>
            <a:ext cx="3232972" cy="2497456"/>
          </a:xfrm>
          <a:prstGeom prst="rect">
            <a:avLst/>
          </a:prstGeom>
        </p:spPr>
      </p:pic>
    </p:spTree>
    <p:extLst>
      <p:ext uri="{BB962C8B-B14F-4D97-AF65-F5344CB8AC3E}">
        <p14:creationId xmlns:p14="http://schemas.microsoft.com/office/powerpoint/2010/main" val="5413095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9911" y="438252"/>
            <a:ext cx="10058400" cy="794773"/>
          </a:xfrm>
        </p:spPr>
        <p:txBody>
          <a:bodyPr>
            <a:noAutofit/>
          </a:bodyPr>
          <a:lstStyle/>
          <a:p>
            <a:r>
              <a:rPr lang="en-US" sz="3467" b="1" dirty="0"/>
              <a:t>Why MCP Neuron Fails for XOR Problem?</a:t>
            </a:r>
          </a:p>
        </p:txBody>
      </p:sp>
      <p:sp>
        <p:nvSpPr>
          <p:cNvPr id="3" name="Content Placeholder 2"/>
          <p:cNvSpPr>
            <a:spLocks noGrp="1"/>
          </p:cNvSpPr>
          <p:nvPr>
            <p:ph idx="1"/>
          </p:nvPr>
        </p:nvSpPr>
        <p:spPr>
          <a:xfrm>
            <a:off x="479596" y="1426502"/>
            <a:ext cx="4352048" cy="5033281"/>
          </a:xfrm>
        </p:spPr>
        <p:txBody>
          <a:bodyPr>
            <a:normAutofit/>
          </a:bodyPr>
          <a:lstStyle/>
          <a:p>
            <a:r>
              <a:rPr lang="en-US" sz="2133" b="1" dirty="0"/>
              <a:t>Mathematical Proof of Failure</a:t>
            </a:r>
          </a:p>
          <a:p>
            <a:r>
              <a:rPr lang="en-US" sz="2133" dirty="0"/>
              <a:t>Let MCP neuron have:</a:t>
            </a:r>
          </a:p>
          <a:p>
            <a:pPr lvl="1"/>
            <a:r>
              <a:rPr lang="en-US" sz="1933" dirty="0"/>
              <a:t>Inputs: x1,x2</a:t>
            </a:r>
          </a:p>
          <a:p>
            <a:pPr lvl="1"/>
            <a:r>
              <a:rPr lang="en-US" sz="1933" dirty="0"/>
              <a:t>Weights: w1,w2</a:t>
            </a:r>
          </a:p>
          <a:p>
            <a:pPr lvl="1"/>
            <a:r>
              <a:rPr lang="en-US" sz="1933" dirty="0"/>
              <a:t>Threshold: θ</a:t>
            </a:r>
          </a:p>
          <a:p>
            <a:r>
              <a:rPr lang="en-US" sz="2133" b="1" dirty="0"/>
              <a:t>Conditions required for XOR = 1</a:t>
            </a:r>
          </a:p>
          <a:p>
            <a:r>
              <a:rPr lang="en-US" sz="2133" dirty="0"/>
              <a:t>From truth table:</a:t>
            </a:r>
          </a:p>
          <a:p>
            <a:r>
              <a:rPr lang="en-US" sz="2133" dirty="0"/>
              <a:t>For (0,1) → output = 1</a:t>
            </a:r>
          </a:p>
          <a:p>
            <a:pPr lvl="8"/>
            <a:r>
              <a:rPr lang="en-US" sz="2133" dirty="0"/>
              <a:t>w2≥</a:t>
            </a:r>
            <a:r>
              <a:rPr lang="el-GR" sz="2133" dirty="0"/>
              <a:t>θ</a:t>
            </a:r>
            <a:endParaRPr lang="en-US" sz="2133" dirty="0"/>
          </a:p>
          <a:p>
            <a:pPr marL="91438" lvl="3" indent="-91438">
              <a:spcBef>
                <a:spcPts val="1200"/>
              </a:spcBef>
              <a:spcAft>
                <a:spcPts val="200"/>
              </a:spcAft>
              <a:buSzPct val="100000"/>
              <a:buFont typeface="Calibri" panose="020F0502020204030204" pitchFamily="34" charset="0"/>
              <a:buChar char=" "/>
            </a:pPr>
            <a:r>
              <a:rPr lang="el-GR" sz="2133" dirty="0"/>
              <a:t> </a:t>
            </a:r>
            <a:r>
              <a:rPr lang="en-US" sz="2133" dirty="0"/>
              <a:t>For (1,0) → output = 1</a:t>
            </a:r>
          </a:p>
          <a:p>
            <a:pPr lvl="8"/>
            <a:r>
              <a:rPr lang="en-US" sz="2133" dirty="0"/>
              <a:t>w1≥</a:t>
            </a:r>
            <a:r>
              <a:rPr lang="el-GR" sz="2133" dirty="0"/>
              <a:t>θ</a:t>
            </a:r>
            <a:endParaRPr lang="en-US" sz="2133" dirty="0"/>
          </a:p>
        </p:txBody>
      </p:sp>
      <p:sp>
        <p:nvSpPr>
          <p:cNvPr id="4" name="Date Placeholder 3"/>
          <p:cNvSpPr>
            <a:spLocks noGrp="1"/>
          </p:cNvSpPr>
          <p:nvPr>
            <p:ph type="dt" sz="half" idx="10"/>
          </p:nvPr>
        </p:nvSpPr>
        <p:spPr/>
        <p:txBody>
          <a:bodyPr/>
          <a:lstStyle/>
          <a:p>
            <a:pPr defTabSz="1219170">
              <a:buClr>
                <a:srgbClr val="000000"/>
              </a:buClr>
            </a:pPr>
            <a:fld id="{48C541CC-AEB1-4CFA-9172-898AB8F39B00}"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36</a:t>
            </a:fld>
            <a:endParaRPr lang="en-US" kern="0" dirty="0">
              <a:latin typeface="Arial"/>
              <a:cs typeface="Arial"/>
              <a:sym typeface="Arial"/>
            </a:endParaRPr>
          </a:p>
        </p:txBody>
      </p:sp>
      <p:sp>
        <p:nvSpPr>
          <p:cNvPr id="11" name="Content Placeholder 2"/>
          <p:cNvSpPr txBox="1">
            <a:spLocks/>
          </p:cNvSpPr>
          <p:nvPr/>
        </p:nvSpPr>
        <p:spPr>
          <a:xfrm>
            <a:off x="4297776" y="1426499"/>
            <a:ext cx="4352048" cy="2761677"/>
          </a:xfrm>
          <a:prstGeom prst="rect">
            <a:avLst/>
          </a:prstGeom>
        </p:spPr>
        <p:txBody>
          <a:bodyPr vert="horz" lIns="0" tIns="60960" rIns="0" bIns="60960" rtlCol="0">
            <a:normAutofit/>
          </a:bodyPr>
          <a:lst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91438" indent="-91438" defTabSz="914377">
              <a:spcBef>
                <a:spcPts val="1200"/>
              </a:spcBef>
              <a:spcAft>
                <a:spcPts val="200"/>
              </a:spcAft>
              <a:buClr>
                <a:srgbClr val="99CB38"/>
              </a:buClr>
            </a:pPr>
            <a:r>
              <a:rPr lang="en-US" sz="2133" b="1" dirty="0">
                <a:solidFill>
                  <a:prstClr val="black">
                    <a:lumMod val="75000"/>
                    <a:lumOff val="25000"/>
                  </a:prstClr>
                </a:solidFill>
                <a:latin typeface="Calibri" panose="020F0502020204030204"/>
                <a:sym typeface="Arial"/>
              </a:rPr>
              <a:t>Conditions required for XOR = 0</a:t>
            </a:r>
          </a:p>
          <a:p>
            <a:pPr marL="91438" indent="-91438" defTabSz="914377">
              <a:spcBef>
                <a:spcPts val="1200"/>
              </a:spcBef>
              <a:spcAft>
                <a:spcPts val="200"/>
              </a:spcAft>
              <a:buClr>
                <a:srgbClr val="99CB38"/>
              </a:buClr>
            </a:pPr>
            <a:r>
              <a:rPr lang="en-US" sz="2133" dirty="0">
                <a:solidFill>
                  <a:prstClr val="black">
                    <a:lumMod val="75000"/>
                    <a:lumOff val="25000"/>
                  </a:prstClr>
                </a:solidFill>
                <a:latin typeface="Calibri" panose="020F0502020204030204"/>
                <a:sym typeface="Arial"/>
              </a:rPr>
              <a:t>From truth table:</a:t>
            </a:r>
          </a:p>
          <a:p>
            <a:pPr marL="91438" indent="-91438" defTabSz="914377">
              <a:spcBef>
                <a:spcPts val="1200"/>
              </a:spcBef>
              <a:spcAft>
                <a:spcPts val="200"/>
              </a:spcAft>
              <a:buClr>
                <a:srgbClr val="99CB38"/>
              </a:buClr>
            </a:pPr>
            <a:r>
              <a:rPr lang="en-US" sz="2133" dirty="0">
                <a:solidFill>
                  <a:prstClr val="black">
                    <a:lumMod val="75000"/>
                    <a:lumOff val="25000"/>
                  </a:prstClr>
                </a:solidFill>
                <a:latin typeface="Calibri" panose="020F0502020204030204"/>
                <a:sym typeface="Arial"/>
              </a:rPr>
              <a:t>For (0,0) → output = 0</a:t>
            </a:r>
          </a:p>
          <a:p>
            <a:pPr marL="1699958" lvl="8" indent="-228594" defTabSz="914377">
              <a:spcBef>
                <a:spcPts val="200"/>
              </a:spcBef>
              <a:spcAft>
                <a:spcPts val="400"/>
              </a:spcAft>
              <a:buClr>
                <a:srgbClr val="99CB38"/>
              </a:buClr>
            </a:pPr>
            <a:r>
              <a:rPr lang="el-GR" sz="2133" dirty="0">
                <a:solidFill>
                  <a:prstClr val="black">
                    <a:lumMod val="75000"/>
                    <a:lumOff val="25000"/>
                  </a:prstClr>
                </a:solidFill>
                <a:latin typeface="Calibri" panose="020F0502020204030204"/>
                <a:sym typeface="Arial"/>
              </a:rPr>
              <a:t>0&lt;θ</a:t>
            </a:r>
            <a:endParaRPr lang="en-US" sz="2133" dirty="0">
              <a:solidFill>
                <a:prstClr val="black">
                  <a:lumMod val="75000"/>
                  <a:lumOff val="25000"/>
                </a:prstClr>
              </a:solidFill>
              <a:latin typeface="Calibri" panose="020F0502020204030204"/>
              <a:sym typeface="Arial"/>
            </a:endParaRPr>
          </a:p>
          <a:p>
            <a:pPr marL="91438" lvl="3" indent="-91438" defTabSz="914377">
              <a:spcBef>
                <a:spcPts val="1200"/>
              </a:spcBef>
              <a:spcAft>
                <a:spcPts val="200"/>
              </a:spcAft>
              <a:buClr>
                <a:srgbClr val="99CB38"/>
              </a:buClr>
              <a:buSzPct val="100000"/>
              <a:buFont typeface="Calibri" pitchFamily="34" charset="0"/>
              <a:buChar char=" "/>
            </a:pPr>
            <a:r>
              <a:rPr lang="el-GR" sz="2133" dirty="0">
                <a:solidFill>
                  <a:prstClr val="black">
                    <a:lumMod val="75000"/>
                    <a:lumOff val="25000"/>
                  </a:prstClr>
                </a:solidFill>
                <a:latin typeface="Calibri" panose="020F0502020204030204"/>
                <a:sym typeface="Arial"/>
              </a:rPr>
              <a:t> </a:t>
            </a:r>
            <a:r>
              <a:rPr lang="en-US" sz="2133" dirty="0">
                <a:solidFill>
                  <a:prstClr val="black">
                    <a:lumMod val="75000"/>
                    <a:lumOff val="25000"/>
                  </a:prstClr>
                </a:solidFill>
                <a:latin typeface="Calibri" panose="020F0502020204030204"/>
                <a:sym typeface="Arial"/>
              </a:rPr>
              <a:t>For (1,1) → output = 0</a:t>
            </a:r>
          </a:p>
          <a:p>
            <a:pPr marL="1699958" lvl="8" indent="-228594" defTabSz="914377">
              <a:spcBef>
                <a:spcPts val="200"/>
              </a:spcBef>
              <a:spcAft>
                <a:spcPts val="400"/>
              </a:spcAft>
              <a:buClr>
                <a:srgbClr val="99CB38"/>
              </a:buClr>
            </a:pPr>
            <a:r>
              <a:rPr lang="en-US" sz="2133" dirty="0">
                <a:solidFill>
                  <a:prstClr val="black">
                    <a:lumMod val="75000"/>
                    <a:lumOff val="25000"/>
                  </a:prstClr>
                </a:solidFill>
                <a:latin typeface="Calibri" panose="020F0502020204030204"/>
                <a:sym typeface="Arial"/>
              </a:rPr>
              <a:t>w1​+w2​&lt;</a:t>
            </a:r>
            <a:r>
              <a:rPr lang="el-GR" sz="2133" dirty="0">
                <a:solidFill>
                  <a:prstClr val="black">
                    <a:lumMod val="75000"/>
                    <a:lumOff val="25000"/>
                  </a:prstClr>
                </a:solidFill>
                <a:latin typeface="Calibri" panose="020F0502020204030204"/>
                <a:sym typeface="Arial"/>
              </a:rPr>
              <a:t>θ</a:t>
            </a:r>
            <a:endParaRPr lang="en-US" sz="2133" dirty="0">
              <a:solidFill>
                <a:prstClr val="black">
                  <a:lumMod val="75000"/>
                  <a:lumOff val="25000"/>
                </a:prstClr>
              </a:solidFill>
              <a:latin typeface="Calibri" panose="020F0502020204030204"/>
              <a:sym typeface="Arial"/>
            </a:endParaRPr>
          </a:p>
        </p:txBody>
      </p:sp>
      <p:sp>
        <p:nvSpPr>
          <p:cNvPr id="13" name="Content Placeholder 2"/>
          <p:cNvSpPr txBox="1">
            <a:spLocks/>
          </p:cNvSpPr>
          <p:nvPr/>
        </p:nvSpPr>
        <p:spPr>
          <a:xfrm>
            <a:off x="4187237" y="3891584"/>
            <a:ext cx="6676648" cy="2568201"/>
          </a:xfrm>
          <a:prstGeom prst="rect">
            <a:avLst/>
          </a:prstGeom>
        </p:spPr>
        <p:txBody>
          <a:bodyPr vert="horz" lIns="0" tIns="60960" rIns="0" bIns="60960" rtlCol="0">
            <a:normAutofit fontScale="92500" lnSpcReduction="10000"/>
          </a:bodyPr>
          <a:lst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91438" indent="-91438" defTabSz="914377">
              <a:spcBef>
                <a:spcPts val="1200"/>
              </a:spcBef>
              <a:spcAft>
                <a:spcPts val="200"/>
              </a:spcAft>
              <a:buClr>
                <a:srgbClr val="99CB38"/>
              </a:buClr>
            </a:pPr>
            <a:r>
              <a:rPr lang="en-US" sz="2133" b="1" dirty="0">
                <a:solidFill>
                  <a:prstClr val="black">
                    <a:lumMod val="75000"/>
                    <a:lumOff val="25000"/>
                  </a:prstClr>
                </a:solidFill>
                <a:latin typeface="Calibri" panose="020F0502020204030204"/>
                <a:sym typeface="Arial"/>
              </a:rPr>
              <a:t>Contradiction: </a:t>
            </a:r>
            <a:r>
              <a:rPr lang="en-US" sz="2133" dirty="0">
                <a:solidFill>
                  <a:prstClr val="black">
                    <a:lumMod val="75000"/>
                    <a:lumOff val="25000"/>
                  </a:prstClr>
                </a:solidFill>
                <a:latin typeface="Calibri" panose="020F0502020204030204"/>
                <a:sym typeface="Arial"/>
              </a:rPr>
              <a:t>From above:</a:t>
            </a:r>
          </a:p>
          <a:p>
            <a:pPr marL="91438" indent="-91438" defTabSz="914377">
              <a:spcBef>
                <a:spcPts val="1200"/>
              </a:spcBef>
              <a:spcAft>
                <a:spcPts val="200"/>
              </a:spcAft>
              <a:buClr>
                <a:srgbClr val="99CB38"/>
              </a:buClr>
            </a:pPr>
            <a:r>
              <a:rPr lang="en-US" sz="2133" dirty="0">
                <a:solidFill>
                  <a:prstClr val="black">
                    <a:lumMod val="75000"/>
                    <a:lumOff val="25000"/>
                  </a:prstClr>
                </a:solidFill>
                <a:latin typeface="Calibri" panose="020F0502020204030204"/>
                <a:sym typeface="Arial"/>
              </a:rPr>
              <a:t>w1≥</a:t>
            </a:r>
            <a:r>
              <a:rPr lang="el-GR" sz="2133" dirty="0">
                <a:solidFill>
                  <a:prstClr val="black">
                    <a:lumMod val="75000"/>
                    <a:lumOff val="25000"/>
                  </a:prstClr>
                </a:solidFill>
                <a:latin typeface="Calibri" panose="020F0502020204030204"/>
                <a:sym typeface="Arial"/>
              </a:rPr>
              <a:t>θ</a:t>
            </a:r>
            <a:r>
              <a:rPr lang="en-US" sz="2133" dirty="0">
                <a:solidFill>
                  <a:prstClr val="black">
                    <a:lumMod val="75000"/>
                    <a:lumOff val="25000"/>
                  </a:prstClr>
                </a:solidFill>
                <a:latin typeface="Calibri" panose="020F0502020204030204"/>
                <a:sym typeface="Arial"/>
              </a:rPr>
              <a:t> &amp; w2≥</a:t>
            </a:r>
            <a:r>
              <a:rPr lang="el-GR" sz="2133" dirty="0">
                <a:solidFill>
                  <a:prstClr val="black">
                    <a:lumMod val="75000"/>
                    <a:lumOff val="25000"/>
                  </a:prstClr>
                </a:solidFill>
                <a:latin typeface="Calibri" panose="020F0502020204030204"/>
                <a:sym typeface="Arial"/>
              </a:rPr>
              <a:t>θ</a:t>
            </a:r>
            <a:endParaRPr lang="en-US" sz="2133" dirty="0">
              <a:solidFill>
                <a:prstClr val="black">
                  <a:lumMod val="75000"/>
                  <a:lumOff val="25000"/>
                </a:prstClr>
              </a:solidFill>
              <a:latin typeface="Calibri" panose="020F0502020204030204"/>
              <a:sym typeface="Arial"/>
            </a:endParaRPr>
          </a:p>
          <a:p>
            <a:pPr marL="91438" indent="-91438" defTabSz="914377">
              <a:spcBef>
                <a:spcPts val="1200"/>
              </a:spcBef>
              <a:spcAft>
                <a:spcPts val="200"/>
              </a:spcAft>
              <a:buClr>
                <a:srgbClr val="99CB38"/>
              </a:buClr>
            </a:pPr>
            <a:r>
              <a:rPr lang="en-US" sz="2133" dirty="0">
                <a:solidFill>
                  <a:prstClr val="black">
                    <a:lumMod val="75000"/>
                    <a:lumOff val="25000"/>
                  </a:prstClr>
                </a:solidFill>
                <a:latin typeface="Calibri" panose="020F0502020204030204"/>
                <a:sym typeface="Arial"/>
              </a:rPr>
              <a:t>Adding both: w1+w2≥2</a:t>
            </a:r>
            <a:r>
              <a:rPr lang="el-GR" sz="2133" dirty="0">
                <a:solidFill>
                  <a:prstClr val="black">
                    <a:lumMod val="75000"/>
                    <a:lumOff val="25000"/>
                  </a:prstClr>
                </a:solidFill>
                <a:latin typeface="Calibri" panose="020F0502020204030204"/>
                <a:sym typeface="Arial"/>
              </a:rPr>
              <a:t>θ</a:t>
            </a:r>
            <a:endParaRPr lang="en-US" sz="2133" dirty="0">
              <a:solidFill>
                <a:prstClr val="black">
                  <a:lumMod val="75000"/>
                  <a:lumOff val="25000"/>
                </a:prstClr>
              </a:solidFill>
              <a:latin typeface="Calibri" panose="020F0502020204030204"/>
              <a:sym typeface="Arial"/>
            </a:endParaRPr>
          </a:p>
          <a:p>
            <a:pPr marL="91438" indent="-91438" defTabSz="914377">
              <a:spcBef>
                <a:spcPts val="1200"/>
              </a:spcBef>
              <a:spcAft>
                <a:spcPts val="200"/>
              </a:spcAft>
              <a:buClr>
                <a:srgbClr val="99CB38"/>
              </a:buClr>
            </a:pPr>
            <a:r>
              <a:rPr lang="en-US" sz="2133" dirty="0">
                <a:solidFill>
                  <a:prstClr val="black">
                    <a:lumMod val="75000"/>
                    <a:lumOff val="25000"/>
                  </a:prstClr>
                </a:solidFill>
                <a:latin typeface="Calibri" panose="020F0502020204030204"/>
                <a:sym typeface="Arial"/>
              </a:rPr>
              <a:t>But XOR requires: w1+w2&lt;</a:t>
            </a:r>
            <a:r>
              <a:rPr lang="el-GR" sz="2133" dirty="0">
                <a:solidFill>
                  <a:prstClr val="black">
                    <a:lumMod val="75000"/>
                    <a:lumOff val="25000"/>
                  </a:prstClr>
                </a:solidFill>
                <a:latin typeface="Calibri" panose="020F0502020204030204"/>
                <a:sym typeface="Arial"/>
              </a:rPr>
              <a:t>θ</a:t>
            </a:r>
            <a:endParaRPr lang="en-US" sz="2133" dirty="0">
              <a:solidFill>
                <a:prstClr val="black">
                  <a:lumMod val="75000"/>
                  <a:lumOff val="25000"/>
                </a:prstClr>
              </a:solidFill>
              <a:latin typeface="Calibri" panose="020F0502020204030204"/>
              <a:sym typeface="Arial"/>
            </a:endParaRPr>
          </a:p>
          <a:p>
            <a:pPr marL="91438" indent="-91438" defTabSz="914377">
              <a:spcBef>
                <a:spcPts val="1200"/>
              </a:spcBef>
              <a:spcAft>
                <a:spcPts val="200"/>
              </a:spcAft>
              <a:buClr>
                <a:srgbClr val="99CB38"/>
              </a:buClr>
            </a:pPr>
            <a:r>
              <a:rPr lang="en-US" sz="2133" b="1" dirty="0">
                <a:solidFill>
                  <a:srgbClr val="FF0000"/>
                </a:solidFill>
                <a:latin typeface="Calibri" panose="020F0502020204030204"/>
                <a:sym typeface="Arial"/>
              </a:rPr>
              <a:t>Contradiction!</a:t>
            </a:r>
            <a:endParaRPr lang="en-US" sz="2133" dirty="0">
              <a:solidFill>
                <a:srgbClr val="FF0000"/>
              </a:solidFill>
              <a:latin typeface="Calibri" panose="020F0502020204030204"/>
              <a:sym typeface="Arial"/>
            </a:endParaRPr>
          </a:p>
          <a:p>
            <a:pPr marL="91438" indent="-91438" defTabSz="914377">
              <a:spcBef>
                <a:spcPts val="1200"/>
              </a:spcBef>
              <a:spcAft>
                <a:spcPts val="200"/>
              </a:spcAft>
              <a:buClr>
                <a:srgbClr val="99CB38"/>
              </a:buClr>
            </a:pPr>
            <a:r>
              <a:rPr lang="en-US" sz="2133" dirty="0">
                <a:solidFill>
                  <a:prstClr val="black">
                    <a:lumMod val="75000"/>
                    <a:lumOff val="25000"/>
                  </a:prstClr>
                </a:solidFill>
                <a:latin typeface="Calibri" panose="020F0502020204030204"/>
                <a:sym typeface="Arial"/>
              </a:rPr>
              <a:t>No values of w1,w2,θ can satisfy all conditions.</a:t>
            </a:r>
          </a:p>
          <a:p>
            <a:pPr marL="91438" indent="-91438" defTabSz="914377">
              <a:spcBef>
                <a:spcPts val="1200"/>
              </a:spcBef>
              <a:spcAft>
                <a:spcPts val="200"/>
              </a:spcAft>
              <a:buClr>
                <a:srgbClr val="99CB38"/>
              </a:buClr>
            </a:pPr>
            <a:endParaRPr lang="en-US" sz="2133" dirty="0">
              <a:solidFill>
                <a:prstClr val="black">
                  <a:lumMod val="75000"/>
                  <a:lumOff val="25000"/>
                </a:prstClr>
              </a:solidFill>
              <a:latin typeface="Calibri" panose="020F0502020204030204"/>
              <a:sym typeface="Arial"/>
            </a:endParaRPr>
          </a:p>
        </p:txBody>
      </p:sp>
      <p:sp>
        <p:nvSpPr>
          <p:cNvPr id="7" name="Rectangle 6"/>
          <p:cNvSpPr/>
          <p:nvPr/>
        </p:nvSpPr>
        <p:spPr>
          <a:xfrm>
            <a:off x="7686888" y="1960474"/>
            <a:ext cx="4139937" cy="2390911"/>
          </a:xfrm>
          <a:prstGeom prst="rect">
            <a:avLst/>
          </a:prstGeom>
        </p:spPr>
        <p:txBody>
          <a:bodyPr wrap="square">
            <a:spAutoFit/>
          </a:bodyPr>
          <a:lstStyle/>
          <a:p>
            <a:pPr algn="just" defTabSz="1219170">
              <a:buClr>
                <a:srgbClr val="000000"/>
              </a:buClr>
            </a:pPr>
            <a:r>
              <a:rPr lang="en-US" sz="1867" kern="0" dirty="0">
                <a:solidFill>
                  <a:srgbClr val="FF0000"/>
                </a:solidFill>
                <a:latin typeface="Arial"/>
                <a:cs typeface="Arial"/>
                <a:sym typeface="Arial"/>
              </a:rPr>
              <a:t>The MCP neuron fails to solve the XOR problem because XOR is not linearly separable. </a:t>
            </a:r>
          </a:p>
          <a:p>
            <a:pPr algn="just" defTabSz="1219170">
              <a:buClr>
                <a:srgbClr val="000000"/>
              </a:buClr>
            </a:pPr>
            <a:r>
              <a:rPr lang="en-US" sz="1867" kern="0" dirty="0">
                <a:solidFill>
                  <a:srgbClr val="FF0000"/>
                </a:solidFill>
                <a:latin typeface="Arial"/>
                <a:cs typeface="Arial"/>
                <a:sym typeface="Arial"/>
              </a:rPr>
              <a:t>Since MCP uses a single linear threshold function with fixed weights, no combination of weights and threshold can correctly classify XOR inputs.</a:t>
            </a:r>
          </a:p>
        </p:txBody>
      </p:sp>
      <p:graphicFrame>
        <p:nvGraphicFramePr>
          <p:cNvPr id="8" name="Table 7">
            <a:extLst>
              <a:ext uri="{FF2B5EF4-FFF2-40B4-BE49-F238E27FC236}">
                <a16:creationId xmlns:a16="http://schemas.microsoft.com/office/drawing/2014/main" id="{FCAF7D79-628E-D7D5-9228-F2CA0EFF19D5}"/>
              </a:ext>
            </a:extLst>
          </p:cNvPr>
          <p:cNvGraphicFramePr>
            <a:graphicFrameLocks noGrp="1"/>
          </p:cNvGraphicFramePr>
          <p:nvPr>
            <p:extLst>
              <p:ext uri="{D42A27DB-BD31-4B8C-83A1-F6EECF244321}">
                <p14:modId xmlns:p14="http://schemas.microsoft.com/office/powerpoint/2010/main" val="2400369418"/>
              </p:ext>
            </p:extLst>
          </p:nvPr>
        </p:nvGraphicFramePr>
        <p:xfrm>
          <a:off x="8382007" y="4072425"/>
          <a:ext cx="3712635" cy="1828800"/>
        </p:xfrm>
        <a:graphic>
          <a:graphicData uri="http://schemas.openxmlformats.org/drawingml/2006/table">
            <a:tbl>
              <a:tblPr/>
              <a:tblGrid>
                <a:gridCol w="1237545">
                  <a:extLst>
                    <a:ext uri="{9D8B030D-6E8A-4147-A177-3AD203B41FA5}">
                      <a16:colId xmlns:a16="http://schemas.microsoft.com/office/drawing/2014/main" val="580469646"/>
                    </a:ext>
                  </a:extLst>
                </a:gridCol>
                <a:gridCol w="1237545">
                  <a:extLst>
                    <a:ext uri="{9D8B030D-6E8A-4147-A177-3AD203B41FA5}">
                      <a16:colId xmlns:a16="http://schemas.microsoft.com/office/drawing/2014/main" val="1069950025"/>
                    </a:ext>
                  </a:extLst>
                </a:gridCol>
                <a:gridCol w="1237545">
                  <a:extLst>
                    <a:ext uri="{9D8B030D-6E8A-4147-A177-3AD203B41FA5}">
                      <a16:colId xmlns:a16="http://schemas.microsoft.com/office/drawing/2014/main" val="1174729345"/>
                    </a:ext>
                  </a:extLst>
                </a:gridCol>
              </a:tblGrid>
              <a:tr h="365760">
                <a:tc>
                  <a:txBody>
                    <a:bodyPr/>
                    <a:lstStyle/>
                    <a:p>
                      <a:r>
                        <a:rPr lang="en-US" sz="1600"/>
                        <a:t>x₁</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x₂</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XOR</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54899985"/>
                  </a:ext>
                </a:extLst>
              </a:tr>
              <a:tr h="365760">
                <a:tc>
                  <a:txBody>
                    <a:bodyPr/>
                    <a:lstStyle/>
                    <a:p>
                      <a:r>
                        <a:rPr lang="en-US" sz="1600" dirty="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4184031"/>
                  </a:ext>
                </a:extLst>
              </a:tr>
              <a:tr h="365760">
                <a:tc>
                  <a:txBody>
                    <a:bodyPr/>
                    <a:lstStyle/>
                    <a:p>
                      <a:r>
                        <a:rPr lang="en-US" sz="160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6096356"/>
                  </a:ext>
                </a:extLst>
              </a:tr>
              <a:tr h="365760">
                <a:tc>
                  <a:txBody>
                    <a:bodyPr/>
                    <a:lstStyle/>
                    <a:p>
                      <a:r>
                        <a:rPr lang="en-US" sz="16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5622143"/>
                  </a:ext>
                </a:extLst>
              </a:tr>
              <a:tr h="365760">
                <a:tc>
                  <a:txBody>
                    <a:bodyPr/>
                    <a:lstStyle/>
                    <a:p>
                      <a:r>
                        <a:rPr lang="en-US" sz="160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600" dirty="0"/>
                        <a:t>0</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1528378"/>
                  </a:ext>
                </a:extLst>
              </a:tr>
            </a:tbl>
          </a:graphicData>
        </a:graphic>
      </p:graphicFrame>
    </p:spTree>
    <p:extLst>
      <p:ext uri="{BB962C8B-B14F-4D97-AF65-F5344CB8AC3E}">
        <p14:creationId xmlns:p14="http://schemas.microsoft.com/office/powerpoint/2010/main" val="3556740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9911" y="438252"/>
            <a:ext cx="10058400" cy="794773"/>
          </a:xfrm>
        </p:spPr>
        <p:txBody>
          <a:bodyPr>
            <a:noAutofit/>
          </a:bodyPr>
          <a:lstStyle/>
          <a:p>
            <a:r>
              <a:rPr lang="en-US" sz="3733" dirty="0"/>
              <a:t>What is a Perceptron?</a:t>
            </a:r>
            <a:endParaRPr lang="en-US" sz="3467" b="1" dirty="0"/>
          </a:p>
        </p:txBody>
      </p:sp>
      <p:sp>
        <p:nvSpPr>
          <p:cNvPr id="3" name="Content Placeholder 2"/>
          <p:cNvSpPr>
            <a:spLocks noGrp="1"/>
          </p:cNvSpPr>
          <p:nvPr>
            <p:ph idx="1"/>
          </p:nvPr>
        </p:nvSpPr>
        <p:spPr>
          <a:xfrm>
            <a:off x="558619" y="1426505"/>
            <a:ext cx="6734005" cy="5033281"/>
          </a:xfrm>
        </p:spPr>
        <p:txBody>
          <a:bodyPr>
            <a:normAutofit/>
          </a:bodyPr>
          <a:lstStyle/>
          <a:p>
            <a:pPr algn="just">
              <a:buFont typeface="Wingdings" panose="05000000000000000000" pitchFamily="2" charset="2"/>
              <a:buChar char="Ø"/>
            </a:pPr>
            <a:r>
              <a:rPr lang="en-US" sz="2133" dirty="0"/>
              <a:t>The Perceptron is an improved artificial neuron model proposed in 1957 by Frank Rosenblatt.</a:t>
            </a:r>
          </a:p>
          <a:p>
            <a:pPr algn="just">
              <a:buFont typeface="Wingdings" panose="05000000000000000000" pitchFamily="2" charset="2"/>
              <a:buChar char="Ø"/>
            </a:pPr>
            <a:r>
              <a:rPr lang="en-US" sz="2133" dirty="0"/>
              <a:t>Perceptron can learn from data by automatically adjusting its weights.</a:t>
            </a:r>
          </a:p>
          <a:p>
            <a:pPr algn="just">
              <a:buFont typeface="Wingdings" panose="05000000000000000000" pitchFamily="2" charset="2"/>
              <a:buChar char="Ø"/>
            </a:pPr>
            <a:r>
              <a:rPr lang="en-US" sz="2133" dirty="0"/>
              <a:t>A perceptron is a binary classifier that learns a decision boundary by updating weights based on errors.</a:t>
            </a:r>
          </a:p>
          <a:p>
            <a:pPr algn="just">
              <a:buFont typeface="Wingdings" panose="05000000000000000000" pitchFamily="2" charset="2"/>
              <a:buChar char="Ø"/>
            </a:pPr>
            <a:r>
              <a:rPr lang="en-US" sz="2133" dirty="0"/>
              <a:t>Unlike MCP: Weights are not fixed Weights are learned from examples</a:t>
            </a:r>
          </a:p>
        </p:txBody>
      </p:sp>
      <p:sp>
        <p:nvSpPr>
          <p:cNvPr id="4" name="Date Placeholder 3"/>
          <p:cNvSpPr>
            <a:spLocks noGrp="1"/>
          </p:cNvSpPr>
          <p:nvPr>
            <p:ph type="dt" sz="half" idx="10"/>
          </p:nvPr>
        </p:nvSpPr>
        <p:spPr/>
        <p:txBody>
          <a:bodyPr/>
          <a:lstStyle/>
          <a:p>
            <a:pPr defTabSz="1219170">
              <a:buClr>
                <a:srgbClr val="000000"/>
              </a:buClr>
            </a:pPr>
            <a:fld id="{B344813C-C1BB-49AA-ABD4-A45CD8EF7CDE}"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37</a:t>
            </a:fld>
            <a:endParaRPr lang="en-US" kern="0" dirty="0">
              <a:latin typeface="Arial"/>
              <a:cs typeface="Arial"/>
              <a:sym typeface="Arial"/>
            </a:endParaRPr>
          </a:p>
        </p:txBody>
      </p:sp>
      <p:pic>
        <p:nvPicPr>
          <p:cNvPr id="7170" name="Picture 2" descr="Perceptron Model. The Perceptron, developed by Frank… | by G Vidhya Sagar  Reddy | Mediu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94666" y="327379"/>
            <a:ext cx="4505423" cy="257575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3"/>
          <a:stretch>
            <a:fillRect/>
          </a:stretch>
        </p:blipFill>
        <p:spPr>
          <a:xfrm>
            <a:off x="7689777" y="2721571"/>
            <a:ext cx="3915200" cy="3571763"/>
          </a:xfrm>
          <a:prstGeom prst="rect">
            <a:avLst/>
          </a:prstGeom>
        </p:spPr>
      </p:pic>
    </p:spTree>
    <p:extLst>
      <p:ext uri="{BB962C8B-B14F-4D97-AF65-F5344CB8AC3E}">
        <p14:creationId xmlns:p14="http://schemas.microsoft.com/office/powerpoint/2010/main" val="3604629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9911" y="438252"/>
            <a:ext cx="10058400" cy="794773"/>
          </a:xfrm>
        </p:spPr>
        <p:txBody>
          <a:bodyPr>
            <a:noAutofit/>
          </a:bodyPr>
          <a:lstStyle/>
          <a:p>
            <a:r>
              <a:rPr lang="en-US" sz="3733" dirty="0"/>
              <a:t>What is a Perceptron?</a:t>
            </a:r>
            <a:endParaRPr lang="en-US" sz="3467" b="1" dirty="0"/>
          </a:p>
        </p:txBody>
      </p:sp>
      <p:sp>
        <p:nvSpPr>
          <p:cNvPr id="3" name="Content Placeholder 2"/>
          <p:cNvSpPr>
            <a:spLocks noGrp="1"/>
          </p:cNvSpPr>
          <p:nvPr>
            <p:ph idx="1"/>
          </p:nvPr>
        </p:nvSpPr>
        <p:spPr>
          <a:xfrm>
            <a:off x="558618" y="1426505"/>
            <a:ext cx="5876049" cy="5033281"/>
          </a:xfrm>
        </p:spPr>
        <p:txBody>
          <a:bodyPr>
            <a:normAutofit/>
          </a:bodyPr>
          <a:lstStyle/>
          <a:p>
            <a:pPr marL="0" indent="0">
              <a:buNone/>
            </a:pPr>
            <a:r>
              <a:rPr lang="en-US" sz="2133" b="1" dirty="0">
                <a:solidFill>
                  <a:srgbClr val="FF0000"/>
                </a:solidFill>
              </a:rPr>
              <a:t>Structure of a Perceptron</a:t>
            </a:r>
          </a:p>
          <a:p>
            <a:r>
              <a:rPr lang="en-US" sz="2133" b="1" dirty="0"/>
              <a:t>A perceptron consists of:</a:t>
            </a:r>
          </a:p>
          <a:p>
            <a:pPr marL="673591" lvl="1" indent="-380990"/>
            <a:r>
              <a:rPr lang="en-US" sz="1933" dirty="0"/>
              <a:t>Inputs: x1,x2,…,</a:t>
            </a:r>
            <a:r>
              <a:rPr lang="en-US" sz="1933" dirty="0" err="1"/>
              <a:t>xn</a:t>
            </a:r>
            <a:endParaRPr lang="en-US" sz="1933" dirty="0"/>
          </a:p>
          <a:p>
            <a:pPr marL="673591" lvl="1" indent="-380990"/>
            <a:r>
              <a:rPr lang="en-US" sz="1933" dirty="0"/>
              <a:t>Weights: w1,w2,…,</a:t>
            </a:r>
            <a:r>
              <a:rPr lang="en-US" sz="1933" dirty="0" err="1"/>
              <a:t>wn</a:t>
            </a:r>
            <a:endParaRPr lang="en-US" sz="1933" dirty="0"/>
          </a:p>
          <a:p>
            <a:pPr marL="673591" lvl="1" indent="-380990"/>
            <a:r>
              <a:rPr lang="en-US" sz="1933" dirty="0"/>
              <a:t>Bias: b</a:t>
            </a:r>
          </a:p>
          <a:p>
            <a:pPr marL="673591" lvl="1" indent="-380990"/>
            <a:r>
              <a:rPr lang="en-US" sz="1933" dirty="0"/>
              <a:t>Activation function: Step function</a:t>
            </a:r>
          </a:p>
          <a:p>
            <a:pPr marL="673591" lvl="1" indent="-380990"/>
            <a:r>
              <a:rPr lang="en-US" sz="1933" dirty="0"/>
              <a:t>Output: y∈ {0,1}</a:t>
            </a:r>
          </a:p>
          <a:p>
            <a:pPr marL="673591" lvl="1" indent="-380990"/>
            <a:r>
              <a:rPr lang="en-US" sz="2133" b="1" dirty="0"/>
              <a:t>Bias replaces the threshold</a:t>
            </a:r>
            <a:r>
              <a:rPr lang="en-US" sz="2133" dirty="0"/>
              <a:t> used in MCP.</a:t>
            </a:r>
          </a:p>
        </p:txBody>
      </p:sp>
      <p:sp>
        <p:nvSpPr>
          <p:cNvPr id="4" name="Date Placeholder 3"/>
          <p:cNvSpPr>
            <a:spLocks noGrp="1"/>
          </p:cNvSpPr>
          <p:nvPr>
            <p:ph type="dt" sz="half" idx="10"/>
          </p:nvPr>
        </p:nvSpPr>
        <p:spPr/>
        <p:txBody>
          <a:bodyPr/>
          <a:lstStyle/>
          <a:p>
            <a:pPr defTabSz="1219170">
              <a:buClr>
                <a:srgbClr val="000000"/>
              </a:buClr>
            </a:pPr>
            <a:fld id="{DBDD3F68-4E25-4090-BF4C-B81DFBF43002}"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38</a:t>
            </a:fld>
            <a:endParaRPr lang="en-US" kern="0" dirty="0">
              <a:latin typeface="Arial"/>
              <a:cs typeface="Arial"/>
              <a:sym typeface="Arial"/>
            </a:endParaRPr>
          </a:p>
        </p:txBody>
      </p:sp>
      <p:sp>
        <p:nvSpPr>
          <p:cNvPr id="9" name="Content Placeholder 2"/>
          <p:cNvSpPr txBox="1">
            <a:spLocks/>
          </p:cNvSpPr>
          <p:nvPr/>
        </p:nvSpPr>
        <p:spPr>
          <a:xfrm>
            <a:off x="5954890" y="1426505"/>
            <a:ext cx="5876049" cy="5033281"/>
          </a:xfrm>
          <a:prstGeom prst="rect">
            <a:avLst/>
          </a:prstGeom>
        </p:spPr>
        <p:txBody>
          <a:bodyPr vert="horz" lIns="0" tIns="60960" rIns="0" bIns="60960" rtlCol="0">
            <a:normAutofit/>
          </a:bodyPr>
          <a:lst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0" indent="0" defTabSz="914377">
              <a:spcBef>
                <a:spcPts val="1200"/>
              </a:spcBef>
              <a:spcAft>
                <a:spcPts val="200"/>
              </a:spcAft>
              <a:buClr>
                <a:srgbClr val="99CB38"/>
              </a:buClr>
              <a:buNone/>
            </a:pPr>
            <a:r>
              <a:rPr lang="en-US" sz="2133" b="1" dirty="0">
                <a:solidFill>
                  <a:srgbClr val="FF0000"/>
                </a:solidFill>
                <a:latin typeface="Calibri" panose="020F0502020204030204"/>
                <a:sym typeface="Arial"/>
              </a:rPr>
              <a:t>Mathematical Model of Perceptron</a:t>
            </a:r>
          </a:p>
          <a:p>
            <a:pPr marL="0" indent="0" defTabSz="914377">
              <a:spcBef>
                <a:spcPts val="1200"/>
              </a:spcBef>
              <a:spcAft>
                <a:spcPts val="200"/>
              </a:spcAft>
              <a:buClr>
                <a:srgbClr val="99CB38"/>
              </a:buClr>
              <a:buNone/>
            </a:pPr>
            <a:r>
              <a:rPr lang="en-US" sz="2133" dirty="0">
                <a:solidFill>
                  <a:prstClr val="black">
                    <a:lumMod val="75000"/>
                    <a:lumOff val="25000"/>
                  </a:prstClr>
                </a:solidFill>
                <a:latin typeface="Calibri" panose="020F0502020204030204"/>
                <a:sym typeface="Arial"/>
              </a:rPr>
              <a:t>Net Input</a:t>
            </a:r>
          </a:p>
          <a:p>
            <a:pPr marL="0" indent="0" defTabSz="914377">
              <a:spcBef>
                <a:spcPts val="1200"/>
              </a:spcBef>
              <a:spcAft>
                <a:spcPts val="200"/>
              </a:spcAft>
              <a:buClr>
                <a:srgbClr val="99CB38"/>
              </a:buClr>
              <a:buNone/>
            </a:pPr>
            <a:endParaRPr lang="en-US" sz="2133" dirty="0">
              <a:solidFill>
                <a:prstClr val="black">
                  <a:lumMod val="75000"/>
                  <a:lumOff val="25000"/>
                </a:prstClr>
              </a:solidFill>
              <a:latin typeface="Calibri" panose="020F0502020204030204"/>
              <a:sym typeface="Arial"/>
            </a:endParaRPr>
          </a:p>
          <a:p>
            <a:pPr marL="0" indent="0" defTabSz="914377">
              <a:spcBef>
                <a:spcPts val="1200"/>
              </a:spcBef>
              <a:spcAft>
                <a:spcPts val="200"/>
              </a:spcAft>
              <a:buClr>
                <a:srgbClr val="99CB38"/>
              </a:buClr>
              <a:buNone/>
            </a:pPr>
            <a:endParaRPr lang="en-US" sz="2133" dirty="0">
              <a:solidFill>
                <a:prstClr val="black">
                  <a:lumMod val="75000"/>
                  <a:lumOff val="25000"/>
                </a:prstClr>
              </a:solidFill>
              <a:latin typeface="Calibri" panose="020F0502020204030204"/>
              <a:sym typeface="Arial"/>
            </a:endParaRPr>
          </a:p>
          <a:p>
            <a:pPr marL="0" indent="0" defTabSz="914377">
              <a:spcBef>
                <a:spcPts val="1200"/>
              </a:spcBef>
              <a:spcAft>
                <a:spcPts val="200"/>
              </a:spcAft>
              <a:buClr>
                <a:srgbClr val="99CB38"/>
              </a:buClr>
              <a:buNone/>
            </a:pPr>
            <a:r>
              <a:rPr lang="en-US" sz="2133" dirty="0">
                <a:solidFill>
                  <a:prstClr val="black">
                    <a:lumMod val="75000"/>
                    <a:lumOff val="25000"/>
                  </a:prstClr>
                </a:solidFill>
                <a:latin typeface="Calibri" panose="020F0502020204030204"/>
                <a:sym typeface="Arial"/>
              </a:rPr>
              <a:t>Activation Function</a:t>
            </a:r>
          </a:p>
          <a:p>
            <a:pPr marL="0" indent="0" defTabSz="914377">
              <a:spcBef>
                <a:spcPts val="1200"/>
              </a:spcBef>
              <a:spcAft>
                <a:spcPts val="200"/>
              </a:spcAft>
              <a:buClr>
                <a:srgbClr val="99CB38"/>
              </a:buClr>
              <a:buNone/>
            </a:pPr>
            <a:endParaRPr lang="en-US" sz="2133" dirty="0">
              <a:solidFill>
                <a:prstClr val="black">
                  <a:lumMod val="75000"/>
                  <a:lumOff val="25000"/>
                </a:prstClr>
              </a:solidFill>
              <a:latin typeface="Calibri" panose="020F0502020204030204"/>
              <a:sym typeface="Arial"/>
            </a:endParaRPr>
          </a:p>
        </p:txBody>
      </p:sp>
      <p:pic>
        <p:nvPicPr>
          <p:cNvPr id="8" name="Picture 7"/>
          <p:cNvPicPr>
            <a:picLocks noChangeAspect="1"/>
          </p:cNvPicPr>
          <p:nvPr/>
        </p:nvPicPr>
        <p:blipFill>
          <a:blip r:embed="rId2"/>
          <a:stretch>
            <a:fillRect/>
          </a:stretch>
        </p:blipFill>
        <p:spPr>
          <a:xfrm>
            <a:off x="8151093" y="2029693"/>
            <a:ext cx="2730881" cy="2730881"/>
          </a:xfrm>
          <a:prstGeom prst="rect">
            <a:avLst/>
          </a:prstGeom>
        </p:spPr>
      </p:pic>
    </p:spTree>
    <p:extLst>
      <p:ext uri="{BB962C8B-B14F-4D97-AF65-F5344CB8AC3E}">
        <p14:creationId xmlns:p14="http://schemas.microsoft.com/office/powerpoint/2010/main" val="32281518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9911" y="438252"/>
            <a:ext cx="10058400" cy="794773"/>
          </a:xfrm>
        </p:spPr>
        <p:txBody>
          <a:bodyPr>
            <a:noAutofit/>
          </a:bodyPr>
          <a:lstStyle/>
          <a:p>
            <a:r>
              <a:rPr lang="en-US" sz="3733" dirty="0"/>
              <a:t>What is a Perceptron?</a:t>
            </a:r>
            <a:endParaRPr lang="en-US" sz="3467" b="1" dirty="0"/>
          </a:p>
        </p:txBody>
      </p:sp>
      <p:sp>
        <p:nvSpPr>
          <p:cNvPr id="3" name="Content Placeholder 2"/>
          <p:cNvSpPr>
            <a:spLocks noGrp="1"/>
          </p:cNvSpPr>
          <p:nvPr>
            <p:ph idx="1"/>
          </p:nvPr>
        </p:nvSpPr>
        <p:spPr>
          <a:xfrm>
            <a:off x="558617" y="1426505"/>
            <a:ext cx="9511072" cy="5033281"/>
          </a:xfrm>
        </p:spPr>
        <p:txBody>
          <a:bodyPr>
            <a:normAutofit/>
          </a:bodyPr>
          <a:lstStyle/>
          <a:p>
            <a:pPr marL="0" indent="0">
              <a:buNone/>
            </a:pPr>
            <a:r>
              <a:rPr lang="en-US" sz="2133" b="1" dirty="0">
                <a:solidFill>
                  <a:srgbClr val="FF0000"/>
                </a:solidFill>
              </a:rPr>
              <a:t>Learning in Perceptron</a:t>
            </a:r>
          </a:p>
          <a:p>
            <a:r>
              <a:rPr lang="en-US" sz="2133" b="1" dirty="0"/>
              <a:t>Perceptron Learning Rule</a:t>
            </a:r>
          </a:p>
        </p:txBody>
      </p:sp>
      <p:sp>
        <p:nvSpPr>
          <p:cNvPr id="4" name="Date Placeholder 3"/>
          <p:cNvSpPr>
            <a:spLocks noGrp="1"/>
          </p:cNvSpPr>
          <p:nvPr>
            <p:ph type="dt" sz="half" idx="10"/>
          </p:nvPr>
        </p:nvSpPr>
        <p:spPr/>
        <p:txBody>
          <a:bodyPr/>
          <a:lstStyle/>
          <a:p>
            <a:pPr defTabSz="1219170">
              <a:buClr>
                <a:srgbClr val="000000"/>
              </a:buClr>
            </a:pPr>
            <a:fld id="{FEE0C170-7671-464E-8C05-C49D463E391E}"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39</a:t>
            </a:fld>
            <a:endParaRPr lang="en-US" kern="0" dirty="0">
              <a:latin typeface="Arial"/>
              <a:cs typeface="Arial"/>
              <a:sym typeface="Arial"/>
            </a:endParaRPr>
          </a:p>
        </p:txBody>
      </p:sp>
      <p:pic>
        <p:nvPicPr>
          <p:cNvPr id="7" name="Picture 6"/>
          <p:cNvPicPr>
            <a:picLocks noChangeAspect="1"/>
          </p:cNvPicPr>
          <p:nvPr/>
        </p:nvPicPr>
        <p:blipFill>
          <a:blip r:embed="rId2"/>
          <a:stretch>
            <a:fillRect/>
          </a:stretch>
        </p:blipFill>
        <p:spPr>
          <a:xfrm>
            <a:off x="558618" y="2373000"/>
            <a:ext cx="7265413" cy="2946811"/>
          </a:xfrm>
          <a:prstGeom prst="rect">
            <a:avLst/>
          </a:prstGeom>
        </p:spPr>
      </p:pic>
      <p:sp>
        <p:nvSpPr>
          <p:cNvPr id="11" name="Rectangle 10"/>
          <p:cNvSpPr/>
          <p:nvPr/>
        </p:nvSpPr>
        <p:spPr>
          <a:xfrm>
            <a:off x="4545087" y="3943144"/>
            <a:ext cx="6096000" cy="1077026"/>
          </a:xfrm>
          <a:prstGeom prst="rect">
            <a:avLst/>
          </a:prstGeom>
        </p:spPr>
        <p:txBody>
          <a:bodyPr>
            <a:spAutoFit/>
          </a:bodyPr>
          <a:lstStyle/>
          <a:p>
            <a:pPr marL="380990" indent="-380990" defTabSz="1219170">
              <a:buClr>
                <a:srgbClr val="000000"/>
              </a:buClr>
              <a:buFont typeface="Arial" panose="020B0604020202020204" pitchFamily="34" charset="0"/>
              <a:buChar char="•"/>
            </a:pPr>
            <a:r>
              <a:rPr lang="en-US" sz="2133" kern="0" dirty="0">
                <a:solidFill>
                  <a:prstClr val="black"/>
                </a:solidFill>
                <a:latin typeface="Arial"/>
                <a:cs typeface="Arial"/>
                <a:sym typeface="Arial"/>
              </a:rPr>
              <a:t>If prediction is correct → no change</a:t>
            </a:r>
          </a:p>
          <a:p>
            <a:pPr marL="380990" indent="-380990" defTabSz="1219170">
              <a:buClr>
                <a:srgbClr val="000000"/>
              </a:buClr>
              <a:buFont typeface="Arial" panose="020B0604020202020204" pitchFamily="34" charset="0"/>
              <a:buChar char="•"/>
            </a:pPr>
            <a:r>
              <a:rPr lang="en-US" sz="2133" kern="0" dirty="0">
                <a:solidFill>
                  <a:prstClr val="black"/>
                </a:solidFill>
                <a:latin typeface="Arial"/>
                <a:cs typeface="Arial"/>
                <a:sym typeface="Arial"/>
              </a:rPr>
              <a:t>If wrong → weights are corrected</a:t>
            </a:r>
          </a:p>
          <a:p>
            <a:pPr marL="380990" indent="-380990" defTabSz="1219170">
              <a:buClr>
                <a:srgbClr val="000000"/>
              </a:buClr>
              <a:buFont typeface="Arial" panose="020B0604020202020204" pitchFamily="34" charset="0"/>
              <a:buChar char="•"/>
            </a:pPr>
            <a:r>
              <a:rPr lang="en-US" sz="2133" kern="0" dirty="0">
                <a:solidFill>
                  <a:prstClr val="black"/>
                </a:solidFill>
                <a:latin typeface="Arial"/>
                <a:cs typeface="Arial"/>
                <a:sym typeface="Arial"/>
              </a:rPr>
              <a:t>Learning continues until errors reduce</a:t>
            </a:r>
          </a:p>
        </p:txBody>
      </p:sp>
    </p:spTree>
    <p:extLst>
      <p:ext uri="{BB962C8B-B14F-4D97-AF65-F5344CB8AC3E}">
        <p14:creationId xmlns:p14="http://schemas.microsoft.com/office/powerpoint/2010/main" val="7983621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9911" y="438252"/>
            <a:ext cx="10058400" cy="794773"/>
          </a:xfrm>
        </p:spPr>
        <p:txBody>
          <a:bodyPr>
            <a:noAutofit/>
          </a:bodyPr>
          <a:lstStyle/>
          <a:p>
            <a:r>
              <a:rPr lang="en-US" sz="3733" dirty="0"/>
              <a:t>Perceptron Capabilities and Limitations</a:t>
            </a:r>
            <a:endParaRPr lang="en-US" sz="3467" b="1" dirty="0"/>
          </a:p>
        </p:txBody>
      </p:sp>
      <p:sp>
        <p:nvSpPr>
          <p:cNvPr id="3" name="Content Placeholder 2"/>
          <p:cNvSpPr>
            <a:spLocks noGrp="1"/>
          </p:cNvSpPr>
          <p:nvPr>
            <p:ph idx="1"/>
          </p:nvPr>
        </p:nvSpPr>
        <p:spPr>
          <a:xfrm>
            <a:off x="558618" y="1426505"/>
            <a:ext cx="6180849" cy="5033281"/>
          </a:xfrm>
        </p:spPr>
        <p:txBody>
          <a:bodyPr>
            <a:normAutofit fontScale="92500" lnSpcReduction="10000"/>
          </a:bodyPr>
          <a:lstStyle/>
          <a:p>
            <a:r>
              <a:rPr lang="en-US" sz="2133" b="1" dirty="0">
                <a:solidFill>
                  <a:srgbClr val="C00000"/>
                </a:solidFill>
              </a:rPr>
              <a:t>Capabilities</a:t>
            </a:r>
          </a:p>
          <a:p>
            <a:r>
              <a:rPr lang="en-US" sz="2133" b="1" dirty="0"/>
              <a:t>Learns from Training Data</a:t>
            </a:r>
            <a:endParaRPr lang="en-US" sz="2133" dirty="0"/>
          </a:p>
          <a:p>
            <a:pPr marL="673591" lvl="1" indent="-380990"/>
            <a:r>
              <a:rPr lang="en-US" sz="1933" dirty="0"/>
              <a:t>Uses labeled examples to improve performance</a:t>
            </a:r>
          </a:p>
          <a:p>
            <a:pPr marL="673591" lvl="1" indent="-380990"/>
            <a:r>
              <a:rPr lang="en-US" sz="1933" dirty="0"/>
              <a:t>Modifies its behavior based on past errors</a:t>
            </a:r>
          </a:p>
          <a:p>
            <a:r>
              <a:rPr lang="en-US" sz="2133" b="1" dirty="0"/>
              <a:t>Automatic Weight Adjustment</a:t>
            </a:r>
            <a:endParaRPr lang="en-US" sz="2133" dirty="0"/>
          </a:p>
          <a:p>
            <a:pPr lvl="1"/>
            <a:r>
              <a:rPr lang="en-US" sz="1933" dirty="0"/>
              <a:t>Weights are updated using an error-correction learning rule</a:t>
            </a:r>
          </a:p>
          <a:p>
            <a:pPr lvl="1"/>
            <a:r>
              <a:rPr lang="en-US" sz="1933" dirty="0"/>
              <a:t>No manual tuning of weights is required</a:t>
            </a:r>
          </a:p>
          <a:p>
            <a:r>
              <a:rPr lang="en-US" sz="2133" b="1" dirty="0"/>
              <a:t>Solves Linearly Separable Problems</a:t>
            </a:r>
            <a:endParaRPr lang="en-US" sz="2133" dirty="0"/>
          </a:p>
          <a:p>
            <a:pPr lvl="1"/>
            <a:r>
              <a:rPr lang="en-US" sz="1933" dirty="0"/>
              <a:t>Can correctly classify problems where classes can be separated by a straight line</a:t>
            </a:r>
          </a:p>
          <a:p>
            <a:pPr lvl="1"/>
            <a:r>
              <a:rPr lang="en-US" sz="1933" dirty="0"/>
              <a:t>Successfully implements logic functions like AND </a:t>
            </a:r>
            <a:r>
              <a:rPr lang="en-US" sz="1933" dirty="0" err="1"/>
              <a:t>and</a:t>
            </a:r>
            <a:r>
              <a:rPr lang="en-US" sz="1933" dirty="0"/>
              <a:t> OR</a:t>
            </a:r>
          </a:p>
          <a:p>
            <a:r>
              <a:rPr lang="en-US" sz="2133" b="1" dirty="0"/>
              <a:t>Foundation of Multi-Layer Neural Networks</a:t>
            </a:r>
            <a:endParaRPr lang="en-US" sz="2133" dirty="0"/>
          </a:p>
          <a:p>
            <a:pPr lvl="1"/>
            <a:r>
              <a:rPr lang="en-US" sz="1933" dirty="0"/>
              <a:t>Serves as the basic building block of Multi-Layer </a:t>
            </a:r>
            <a:r>
              <a:rPr lang="en-US" sz="1933" dirty="0" err="1"/>
              <a:t>Perceptrons</a:t>
            </a:r>
            <a:r>
              <a:rPr lang="en-US" sz="1933" dirty="0"/>
              <a:t> (MLPs)</a:t>
            </a:r>
          </a:p>
          <a:p>
            <a:pPr lvl="1"/>
            <a:r>
              <a:rPr lang="en-US" sz="1933" dirty="0"/>
              <a:t>Forms the conceptual basis for deep neural networks</a:t>
            </a:r>
          </a:p>
        </p:txBody>
      </p:sp>
      <p:sp>
        <p:nvSpPr>
          <p:cNvPr id="4" name="Date Placeholder 3"/>
          <p:cNvSpPr>
            <a:spLocks noGrp="1"/>
          </p:cNvSpPr>
          <p:nvPr>
            <p:ph type="dt" sz="half" idx="10"/>
          </p:nvPr>
        </p:nvSpPr>
        <p:spPr/>
        <p:txBody>
          <a:bodyPr/>
          <a:lstStyle/>
          <a:p>
            <a:pPr defTabSz="1219170">
              <a:buClr>
                <a:srgbClr val="000000"/>
              </a:buClr>
            </a:pPr>
            <a:fld id="{22671106-851D-4D6F-A3A9-5D091324B49E}"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40</a:t>
            </a:fld>
            <a:endParaRPr lang="en-US" kern="0" dirty="0">
              <a:latin typeface="Arial"/>
              <a:cs typeface="Arial"/>
              <a:sym typeface="Arial"/>
            </a:endParaRPr>
          </a:p>
        </p:txBody>
      </p:sp>
      <p:sp>
        <p:nvSpPr>
          <p:cNvPr id="9" name="Content Placeholder 2"/>
          <p:cNvSpPr txBox="1">
            <a:spLocks/>
          </p:cNvSpPr>
          <p:nvPr/>
        </p:nvSpPr>
        <p:spPr>
          <a:xfrm>
            <a:off x="6575597" y="1426505"/>
            <a:ext cx="5176137" cy="5033281"/>
          </a:xfrm>
          <a:prstGeom prst="rect">
            <a:avLst/>
          </a:prstGeom>
        </p:spPr>
        <p:txBody>
          <a:bodyPr vert="horz" lIns="0" tIns="60960" rIns="0" bIns="60960" rtlCol="0">
            <a:normAutofit lnSpcReduction="10000"/>
          </a:bodyPr>
          <a:lst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036" indent="-137160" algn="l" defTabSz="685800" rtl="0" eaLnBrk="1" latinLnBrk="0" hangingPunct="1">
              <a:lnSpc>
                <a:spcPct val="90000"/>
              </a:lnSpc>
              <a:spcBef>
                <a:spcPts val="150"/>
              </a:spcBef>
              <a:spcAft>
                <a:spcPts val="300"/>
              </a:spcAft>
              <a:buClr>
                <a:schemeClr val="accent1"/>
              </a:buClr>
              <a:buFont typeface="Calibri" pitchFamily="34" charset="0"/>
              <a:buChar char="◦"/>
              <a:defRPr sz="1350" kern="1200">
                <a:solidFill>
                  <a:schemeClr val="tx1">
                    <a:lumMod val="75000"/>
                    <a:lumOff val="25000"/>
                  </a:schemeClr>
                </a:solidFill>
                <a:latin typeface="+mn-lt"/>
                <a:ea typeface="+mn-ea"/>
                <a:cs typeface="+mn-cs"/>
              </a:defRPr>
            </a:lvl2pPr>
            <a:lvl3pPr marL="42519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3pPr>
            <a:lvl4pPr marL="56235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4pPr>
            <a:lvl5pPr marL="699516" indent="-13716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5pPr>
            <a:lvl6pPr marL="8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6pPr>
            <a:lvl7pPr marL="9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7pPr>
            <a:lvl8pPr marL="112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8pPr>
            <a:lvl9pPr marL="1275000" indent="-171450" algn="l" defTabSz="685800" rtl="0" eaLnBrk="1" latinLnBrk="0" hangingPunct="1">
              <a:lnSpc>
                <a:spcPct val="90000"/>
              </a:lnSpc>
              <a:spcBef>
                <a:spcPts val="150"/>
              </a:spcBef>
              <a:spcAft>
                <a:spcPts val="300"/>
              </a:spcAft>
              <a:buClr>
                <a:schemeClr val="accent1"/>
              </a:buClr>
              <a:buFont typeface="Calibri" pitchFamily="34" charset="0"/>
              <a:buChar char="◦"/>
              <a:defRPr sz="1050" kern="1200">
                <a:solidFill>
                  <a:schemeClr val="tx1">
                    <a:lumMod val="75000"/>
                    <a:lumOff val="25000"/>
                  </a:schemeClr>
                </a:solidFill>
                <a:latin typeface="+mn-lt"/>
                <a:ea typeface="+mn-ea"/>
                <a:cs typeface="+mn-cs"/>
              </a:defRPr>
            </a:lvl9pPr>
          </a:lstStyle>
          <a:p>
            <a:pPr marL="91438" indent="-91438" defTabSz="914377">
              <a:spcBef>
                <a:spcPts val="1200"/>
              </a:spcBef>
              <a:spcAft>
                <a:spcPts val="200"/>
              </a:spcAft>
              <a:buClr>
                <a:srgbClr val="99CB38"/>
              </a:buClr>
            </a:pPr>
            <a:r>
              <a:rPr lang="en-US" sz="2133" b="1" dirty="0">
                <a:solidFill>
                  <a:srgbClr val="C00000"/>
                </a:solidFill>
                <a:latin typeface="Calibri" panose="020F0502020204030204"/>
                <a:sym typeface="Arial"/>
              </a:rPr>
              <a:t>Limitations</a:t>
            </a:r>
          </a:p>
          <a:p>
            <a:pPr marL="91438" indent="-91438" defTabSz="914377">
              <a:spcBef>
                <a:spcPts val="1200"/>
              </a:spcBef>
              <a:spcAft>
                <a:spcPts val="200"/>
              </a:spcAft>
              <a:buClr>
                <a:srgbClr val="99CB38"/>
              </a:buClr>
            </a:pPr>
            <a:r>
              <a:rPr lang="en-US" sz="2133" b="1" dirty="0">
                <a:solidFill>
                  <a:prstClr val="black">
                    <a:lumMod val="75000"/>
                    <a:lumOff val="25000"/>
                  </a:prstClr>
                </a:solidFill>
                <a:latin typeface="Calibri" panose="020F0502020204030204"/>
                <a:sym typeface="Arial"/>
              </a:rPr>
              <a:t>Uses Hard Threshold (Step) Activation</a:t>
            </a:r>
            <a:endParaRPr lang="en-US" sz="2133" dirty="0">
              <a:solidFill>
                <a:prstClr val="black">
                  <a:lumMod val="75000"/>
                  <a:lumOff val="25000"/>
                </a:prstClr>
              </a:solidFill>
              <a:latin typeface="Calibri" panose="020F0502020204030204"/>
              <a:sym typeface="Arial"/>
            </a:endParaRPr>
          </a:p>
          <a:p>
            <a:pPr marL="384038" lvl="1" indent="-182875" defTabSz="914377">
              <a:spcBef>
                <a:spcPts val="200"/>
              </a:spcBef>
              <a:spcAft>
                <a:spcPts val="400"/>
              </a:spcAft>
              <a:buClr>
                <a:srgbClr val="99CB38"/>
              </a:buClr>
            </a:pPr>
            <a:r>
              <a:rPr lang="en-US" sz="1933" dirty="0">
                <a:solidFill>
                  <a:prstClr val="black">
                    <a:lumMod val="75000"/>
                    <a:lumOff val="25000"/>
                  </a:prstClr>
                </a:solidFill>
                <a:latin typeface="Calibri" panose="020F0502020204030204"/>
                <a:sym typeface="Arial"/>
              </a:rPr>
              <a:t>Activation function is not differentiable</a:t>
            </a:r>
          </a:p>
          <a:p>
            <a:pPr marL="384038" lvl="1" indent="-182875" defTabSz="914377">
              <a:spcBef>
                <a:spcPts val="200"/>
              </a:spcBef>
              <a:spcAft>
                <a:spcPts val="400"/>
              </a:spcAft>
              <a:buClr>
                <a:srgbClr val="99CB38"/>
              </a:buClr>
            </a:pPr>
            <a:r>
              <a:rPr lang="en-US" sz="1933" dirty="0">
                <a:solidFill>
                  <a:prstClr val="black">
                    <a:lumMod val="75000"/>
                    <a:lumOff val="25000"/>
                  </a:prstClr>
                </a:solidFill>
                <a:latin typeface="Calibri" panose="020F0502020204030204"/>
                <a:sym typeface="Arial"/>
              </a:rPr>
              <a:t>Prevents use of gradient-based learning methods</a:t>
            </a:r>
          </a:p>
          <a:p>
            <a:pPr marL="91438" indent="-91438" defTabSz="914377">
              <a:spcBef>
                <a:spcPts val="1200"/>
              </a:spcBef>
              <a:spcAft>
                <a:spcPts val="200"/>
              </a:spcAft>
              <a:buClr>
                <a:srgbClr val="99CB38"/>
              </a:buClr>
            </a:pPr>
            <a:r>
              <a:rPr lang="en-US" sz="2133" b="1" dirty="0">
                <a:solidFill>
                  <a:prstClr val="black">
                    <a:lumMod val="75000"/>
                    <a:lumOff val="25000"/>
                  </a:prstClr>
                </a:solidFill>
                <a:latin typeface="Calibri" panose="020F0502020204030204"/>
                <a:sym typeface="Arial"/>
              </a:rPr>
              <a:t>Cannot Solve Non-Linearly Separable Problems</a:t>
            </a:r>
            <a:endParaRPr lang="en-US" sz="2133" dirty="0">
              <a:solidFill>
                <a:prstClr val="black">
                  <a:lumMod val="75000"/>
                  <a:lumOff val="25000"/>
                </a:prstClr>
              </a:solidFill>
              <a:latin typeface="Calibri" panose="020F0502020204030204"/>
              <a:sym typeface="Arial"/>
            </a:endParaRPr>
          </a:p>
          <a:p>
            <a:pPr marL="384038" lvl="1" indent="-182875" defTabSz="914377">
              <a:spcBef>
                <a:spcPts val="200"/>
              </a:spcBef>
              <a:spcAft>
                <a:spcPts val="400"/>
              </a:spcAft>
              <a:buClr>
                <a:srgbClr val="99CB38"/>
              </a:buClr>
            </a:pPr>
            <a:r>
              <a:rPr lang="en-US" sz="1933" dirty="0">
                <a:solidFill>
                  <a:prstClr val="black">
                    <a:lumMod val="75000"/>
                    <a:lumOff val="25000"/>
                  </a:prstClr>
                </a:solidFill>
                <a:latin typeface="Calibri" panose="020F0502020204030204"/>
                <a:sym typeface="Arial"/>
              </a:rPr>
              <a:t>Fails for problems like XOR</a:t>
            </a:r>
          </a:p>
          <a:p>
            <a:pPr marL="384038" lvl="1" indent="-182875" defTabSz="914377">
              <a:spcBef>
                <a:spcPts val="200"/>
              </a:spcBef>
              <a:spcAft>
                <a:spcPts val="400"/>
              </a:spcAft>
              <a:buClr>
                <a:srgbClr val="99CB38"/>
              </a:buClr>
            </a:pPr>
            <a:r>
              <a:rPr lang="en-US" sz="1933" dirty="0">
                <a:solidFill>
                  <a:prstClr val="black">
                    <a:lumMod val="75000"/>
                    <a:lumOff val="25000"/>
                  </a:prstClr>
                </a:solidFill>
                <a:latin typeface="Calibri" panose="020F0502020204030204"/>
                <a:sym typeface="Arial"/>
              </a:rPr>
              <a:t>Single perceptron is insufficient for complex patterns</a:t>
            </a:r>
          </a:p>
          <a:p>
            <a:pPr marL="91438" indent="-91438" defTabSz="914377">
              <a:spcBef>
                <a:spcPts val="1200"/>
              </a:spcBef>
              <a:spcAft>
                <a:spcPts val="200"/>
              </a:spcAft>
              <a:buClr>
                <a:srgbClr val="99CB38"/>
              </a:buClr>
            </a:pPr>
            <a:r>
              <a:rPr lang="en-US" sz="2133" b="1" dirty="0">
                <a:solidFill>
                  <a:prstClr val="black">
                    <a:lumMod val="75000"/>
                    <a:lumOff val="25000"/>
                  </a:prstClr>
                </a:solidFill>
                <a:latin typeface="Calibri" panose="020F0502020204030204"/>
                <a:sym typeface="Arial"/>
              </a:rPr>
              <a:t>Restricted to Linear Decision Boundaries</a:t>
            </a:r>
            <a:endParaRPr lang="en-US" sz="2133" dirty="0">
              <a:solidFill>
                <a:prstClr val="black">
                  <a:lumMod val="75000"/>
                  <a:lumOff val="25000"/>
                </a:prstClr>
              </a:solidFill>
              <a:latin typeface="Calibri" panose="020F0502020204030204"/>
              <a:sym typeface="Arial"/>
            </a:endParaRPr>
          </a:p>
          <a:p>
            <a:pPr marL="384038" lvl="1" indent="-182875" defTabSz="914377">
              <a:spcBef>
                <a:spcPts val="200"/>
              </a:spcBef>
              <a:spcAft>
                <a:spcPts val="400"/>
              </a:spcAft>
              <a:buClr>
                <a:srgbClr val="99CB38"/>
              </a:buClr>
            </a:pPr>
            <a:r>
              <a:rPr lang="en-US" sz="1933" dirty="0">
                <a:solidFill>
                  <a:prstClr val="black">
                    <a:lumMod val="75000"/>
                    <a:lumOff val="25000"/>
                  </a:prstClr>
                </a:solidFill>
                <a:latin typeface="Calibri" panose="020F0502020204030204"/>
                <a:sym typeface="Arial"/>
              </a:rPr>
              <a:t>Produces only straight-line separation in input space</a:t>
            </a:r>
          </a:p>
          <a:p>
            <a:pPr marL="384038" lvl="1" indent="-182875" defTabSz="914377">
              <a:spcBef>
                <a:spcPts val="200"/>
              </a:spcBef>
              <a:spcAft>
                <a:spcPts val="400"/>
              </a:spcAft>
              <a:buClr>
                <a:srgbClr val="99CB38"/>
              </a:buClr>
            </a:pPr>
            <a:r>
              <a:rPr lang="en-US" sz="1933" dirty="0">
                <a:solidFill>
                  <a:prstClr val="black">
                    <a:lumMod val="75000"/>
                    <a:lumOff val="25000"/>
                  </a:prstClr>
                </a:solidFill>
                <a:latin typeface="Calibri" panose="020F0502020204030204"/>
                <a:sym typeface="Arial"/>
              </a:rPr>
              <a:t>Cannot model curved or complex decision regions</a:t>
            </a:r>
          </a:p>
          <a:p>
            <a:pPr marL="91438" indent="-91438" defTabSz="914377">
              <a:spcBef>
                <a:spcPts val="1200"/>
              </a:spcBef>
              <a:spcAft>
                <a:spcPts val="200"/>
              </a:spcAft>
              <a:buClr>
                <a:srgbClr val="99CB38"/>
              </a:buClr>
            </a:pPr>
            <a:endParaRPr lang="en-US" sz="2133" b="1" dirty="0">
              <a:solidFill>
                <a:srgbClr val="C00000"/>
              </a:solidFill>
              <a:latin typeface="Calibri" panose="020F0502020204030204"/>
              <a:sym typeface="Arial"/>
            </a:endParaRPr>
          </a:p>
        </p:txBody>
      </p:sp>
    </p:spTree>
    <p:extLst>
      <p:ext uri="{BB962C8B-B14F-4D97-AF65-F5344CB8AC3E}">
        <p14:creationId xmlns:p14="http://schemas.microsoft.com/office/powerpoint/2010/main" val="28203600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9911" y="438252"/>
            <a:ext cx="10058400" cy="794773"/>
          </a:xfrm>
        </p:spPr>
        <p:txBody>
          <a:bodyPr>
            <a:noAutofit/>
          </a:bodyPr>
          <a:lstStyle/>
          <a:p>
            <a:r>
              <a:rPr lang="en-US" sz="3733" dirty="0"/>
              <a:t>Difference Between MCP and Perceptron</a:t>
            </a:r>
            <a:endParaRPr lang="en-US" sz="3467" b="1" dirty="0"/>
          </a:p>
        </p:txBody>
      </p:sp>
      <p:graphicFrame>
        <p:nvGraphicFramePr>
          <p:cNvPr id="7" name="Content Placeholder 6"/>
          <p:cNvGraphicFramePr>
            <a:graphicFrameLocks noGrp="1"/>
          </p:cNvGraphicFramePr>
          <p:nvPr>
            <p:ph idx="1"/>
          </p:nvPr>
        </p:nvGraphicFramePr>
        <p:xfrm>
          <a:off x="699911" y="1465439"/>
          <a:ext cx="10806639" cy="4876800"/>
        </p:xfrm>
        <a:graphic>
          <a:graphicData uri="http://schemas.openxmlformats.org/drawingml/2006/table">
            <a:tbl>
              <a:tblPr/>
              <a:tblGrid>
                <a:gridCol w="3602213">
                  <a:extLst>
                    <a:ext uri="{9D8B030D-6E8A-4147-A177-3AD203B41FA5}">
                      <a16:colId xmlns:a16="http://schemas.microsoft.com/office/drawing/2014/main" val="3700871738"/>
                    </a:ext>
                  </a:extLst>
                </a:gridCol>
                <a:gridCol w="3602213">
                  <a:extLst>
                    <a:ext uri="{9D8B030D-6E8A-4147-A177-3AD203B41FA5}">
                      <a16:colId xmlns:a16="http://schemas.microsoft.com/office/drawing/2014/main" val="1531185574"/>
                    </a:ext>
                  </a:extLst>
                </a:gridCol>
                <a:gridCol w="3602213">
                  <a:extLst>
                    <a:ext uri="{9D8B030D-6E8A-4147-A177-3AD203B41FA5}">
                      <a16:colId xmlns:a16="http://schemas.microsoft.com/office/drawing/2014/main" val="3231842238"/>
                    </a:ext>
                  </a:extLst>
                </a:gridCol>
              </a:tblGrid>
              <a:tr h="487680">
                <a:tc>
                  <a:txBody>
                    <a:bodyPr/>
                    <a:lstStyle/>
                    <a:p>
                      <a:r>
                        <a:rPr lang="en-US" sz="2400" b="1" dirty="0"/>
                        <a:t>Feature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a:t>MCP Neuron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t>Perceptron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9380353"/>
                  </a:ext>
                </a:extLst>
              </a:tr>
              <a:tr h="487680">
                <a:tc>
                  <a:txBody>
                    <a:bodyPr/>
                    <a:lstStyle/>
                    <a:p>
                      <a:r>
                        <a:rPr lang="en-US" sz="2400" b="1" dirty="0"/>
                        <a:t>Inventor</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McCulloch &amp; Pitts (1943)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Rosenblatt (1957)</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8186422"/>
                  </a:ext>
                </a:extLst>
              </a:tr>
              <a:tr h="487680">
                <a:tc>
                  <a:txBody>
                    <a:bodyPr/>
                    <a:lstStyle/>
                    <a:p>
                      <a:r>
                        <a:rPr lang="en-US" sz="2400" b="1" dirty="0"/>
                        <a:t>Learning ability</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No learning</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Learns from data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2323327"/>
                  </a:ext>
                </a:extLst>
              </a:tr>
              <a:tr h="487680">
                <a:tc>
                  <a:txBody>
                    <a:bodyPr/>
                    <a:lstStyle/>
                    <a:p>
                      <a:r>
                        <a:rPr lang="en-US" sz="2400" b="1" dirty="0"/>
                        <a:t>Weights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Fixed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Adjustable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166084"/>
                  </a:ext>
                </a:extLst>
              </a:tr>
              <a:tr h="487680">
                <a:tc>
                  <a:txBody>
                    <a:bodyPr/>
                    <a:lstStyle/>
                    <a:p>
                      <a:r>
                        <a:rPr lang="en-US" sz="2400" b="1"/>
                        <a:t>Bias / Threshold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Threshold ((\theta))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Bias ((b))</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15631454"/>
                  </a:ext>
                </a:extLst>
              </a:tr>
              <a:tr h="487680">
                <a:tc>
                  <a:txBody>
                    <a:bodyPr/>
                    <a:lstStyle/>
                    <a:p>
                      <a:r>
                        <a:rPr lang="en-US" sz="2400" b="1"/>
                        <a:t>Weight update rule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Not present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Perceptron learning rule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6233910"/>
                  </a:ext>
                </a:extLst>
              </a:tr>
              <a:tr h="487680">
                <a:tc>
                  <a:txBody>
                    <a:bodyPr/>
                    <a:lstStyle/>
                    <a:p>
                      <a:r>
                        <a:rPr lang="en-US" sz="2400" b="1"/>
                        <a:t>Training data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Not required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Required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5175149"/>
                  </a:ext>
                </a:extLst>
              </a:tr>
              <a:tr h="487680">
                <a:tc>
                  <a:txBody>
                    <a:bodyPr/>
                    <a:lstStyle/>
                    <a:p>
                      <a:r>
                        <a:rPr lang="en-US" sz="2400" b="1"/>
                        <a:t>Error correction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Yes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2320272"/>
                  </a:ext>
                </a:extLst>
              </a:tr>
              <a:tr h="487680">
                <a:tc>
                  <a:txBody>
                    <a:bodyPr/>
                    <a:lstStyle/>
                    <a:p>
                      <a:r>
                        <a:rPr lang="en-US" sz="2400" b="1"/>
                        <a:t>XOR problem</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Cannot solve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Cannot solve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11064343"/>
                  </a:ext>
                </a:extLst>
              </a:tr>
              <a:tr h="487680">
                <a:tc>
                  <a:txBody>
                    <a:bodyPr/>
                    <a:lstStyle/>
                    <a:p>
                      <a:r>
                        <a:rPr lang="en-US" sz="2400" b="1" dirty="0"/>
                        <a:t>Purpose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a:t>Logical computation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dirty="0"/>
                        <a:t>Binary classification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3435981"/>
                  </a:ext>
                </a:extLst>
              </a:tr>
            </a:tbl>
          </a:graphicData>
        </a:graphic>
      </p:graphicFrame>
      <p:sp>
        <p:nvSpPr>
          <p:cNvPr id="4" name="Date Placeholder 3"/>
          <p:cNvSpPr>
            <a:spLocks noGrp="1"/>
          </p:cNvSpPr>
          <p:nvPr>
            <p:ph type="dt" sz="half" idx="10"/>
          </p:nvPr>
        </p:nvSpPr>
        <p:spPr/>
        <p:txBody>
          <a:bodyPr/>
          <a:lstStyle/>
          <a:p>
            <a:pPr defTabSz="1219170">
              <a:buClr>
                <a:srgbClr val="000000"/>
              </a:buClr>
            </a:pPr>
            <a:fld id="{4DB5E64D-8B70-449E-9A65-4A8845427347}"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41</a:t>
            </a:fld>
            <a:endParaRPr lang="en-US" kern="0" dirty="0">
              <a:latin typeface="Arial"/>
              <a:cs typeface="Arial"/>
              <a:sym typeface="Arial"/>
            </a:endParaRPr>
          </a:p>
        </p:txBody>
      </p:sp>
    </p:spTree>
    <p:extLst>
      <p:ext uri="{BB962C8B-B14F-4D97-AF65-F5344CB8AC3E}">
        <p14:creationId xmlns:p14="http://schemas.microsoft.com/office/powerpoint/2010/main" val="30974798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Artificial Neuron — General Concept</a:t>
            </a:r>
          </a:p>
        </p:txBody>
      </p:sp>
      <p:sp>
        <p:nvSpPr>
          <p:cNvPr id="3" name="Content Placeholder 2"/>
          <p:cNvSpPr>
            <a:spLocks noGrp="1"/>
          </p:cNvSpPr>
          <p:nvPr>
            <p:ph idx="1"/>
          </p:nvPr>
        </p:nvSpPr>
        <p:spPr>
          <a:xfrm>
            <a:off x="529267" y="1379870"/>
            <a:ext cx="11256333" cy="4971311"/>
          </a:xfrm>
        </p:spPr>
        <p:txBody>
          <a:bodyPr>
            <a:normAutofit fontScale="92500" lnSpcReduction="20000"/>
          </a:bodyPr>
          <a:lstStyle/>
          <a:p>
            <a:pPr>
              <a:buFont typeface="Wingdings" panose="05000000000000000000" pitchFamily="2" charset="2"/>
              <a:buChar char="Ø"/>
            </a:pPr>
            <a:r>
              <a:rPr lang="en-US" sz="2133" b="1" dirty="0"/>
              <a:t>An artificial neuron</a:t>
            </a:r>
            <a:r>
              <a:rPr lang="en-US" sz="2133" dirty="0"/>
              <a:t> is a </a:t>
            </a:r>
            <a:r>
              <a:rPr lang="en-US" sz="2133" i="1" dirty="0"/>
              <a:t>general mathematical model</a:t>
            </a:r>
            <a:r>
              <a:rPr lang="en-US" sz="2133" dirty="0"/>
              <a:t> of a biological neuron.</a:t>
            </a:r>
          </a:p>
          <a:p>
            <a:pPr>
              <a:buFont typeface="Wingdings" panose="05000000000000000000" pitchFamily="2" charset="2"/>
              <a:buChar char="Ø"/>
            </a:pPr>
            <a:r>
              <a:rPr lang="en-US" sz="2133" b="1" dirty="0"/>
              <a:t>A perceptron</a:t>
            </a:r>
            <a:r>
              <a:rPr lang="en-US" sz="2133" dirty="0"/>
              <a:t> is a </a:t>
            </a:r>
            <a:r>
              <a:rPr lang="en-US" sz="2133" i="1" dirty="0"/>
              <a:t>specific type of artificial neuron</a:t>
            </a:r>
            <a:r>
              <a:rPr lang="en-US" sz="2133" dirty="0"/>
              <a:t> with a particular learning rule and activation function.</a:t>
            </a:r>
          </a:p>
          <a:p>
            <a:pPr>
              <a:buFont typeface="Wingdings" panose="05000000000000000000" pitchFamily="2" charset="2"/>
              <a:buChar char="Ø"/>
            </a:pPr>
            <a:r>
              <a:rPr lang="en-US" sz="2133" dirty="0"/>
              <a:t>An </a:t>
            </a:r>
            <a:r>
              <a:rPr lang="en-US" sz="2133" b="1" dirty="0"/>
              <a:t>artificial neuron</a:t>
            </a:r>
            <a:r>
              <a:rPr lang="en-US" sz="2133" dirty="0"/>
              <a:t> is the basic building block of neural networks. It mimics how a biological neuron processes signals.</a:t>
            </a:r>
          </a:p>
          <a:p>
            <a:pPr>
              <a:buFont typeface="Wingdings" panose="05000000000000000000" pitchFamily="2" charset="2"/>
              <a:buChar char="Ø"/>
            </a:pPr>
            <a:r>
              <a:rPr lang="en-US" sz="2133" dirty="0"/>
              <a:t> An artificial neuron Takes multiple inputs, Multiplies them with weights, Adds bias, Passes result through an activation function.</a:t>
            </a:r>
          </a:p>
          <a:p>
            <a:pPr>
              <a:buFont typeface="Wingdings" panose="05000000000000000000" pitchFamily="2" charset="2"/>
              <a:buChar char="Ø"/>
            </a:pPr>
            <a:r>
              <a:rPr lang="en-US" sz="2133" dirty="0"/>
              <a:t>Mathematically:</a:t>
            </a:r>
          </a:p>
          <a:p>
            <a:pPr>
              <a:buFont typeface="Wingdings" panose="05000000000000000000" pitchFamily="2" charset="2"/>
              <a:buChar char="Ø"/>
            </a:pPr>
            <a:endParaRPr lang="en-US" dirty="0"/>
          </a:p>
          <a:p>
            <a:pPr>
              <a:buFont typeface="Wingdings" panose="05000000000000000000" pitchFamily="2" charset="2"/>
              <a:buChar char="Ø"/>
            </a:pPr>
            <a:endParaRPr lang="en-US" dirty="0"/>
          </a:p>
          <a:p>
            <a:r>
              <a:rPr lang="en-US" dirty="0"/>
              <a:t>Where: 	xi​ → inputs</a:t>
            </a:r>
          </a:p>
          <a:p>
            <a:pPr lvl="1"/>
            <a:r>
              <a:rPr lang="en-US" sz="2000" dirty="0" err="1"/>
              <a:t>wi</a:t>
            </a:r>
            <a:r>
              <a:rPr lang="en-US" sz="2000" dirty="0"/>
              <a:t>→ weights</a:t>
            </a:r>
          </a:p>
          <a:p>
            <a:pPr lvl="1"/>
            <a:r>
              <a:rPr lang="en-US" sz="2000" dirty="0"/>
              <a:t>b→ bias</a:t>
            </a:r>
          </a:p>
          <a:p>
            <a:pPr lvl="1"/>
            <a:r>
              <a:rPr lang="en-US" sz="2000" dirty="0"/>
              <a:t>f → activation function where Activation functions can </a:t>
            </a:r>
            <a:r>
              <a:rPr lang="en-US" sz="2000" dirty="0" err="1"/>
              <a:t>be:Linear</a:t>
            </a:r>
            <a:r>
              <a:rPr lang="en-US" sz="2000" dirty="0"/>
              <a:t>, Sigmoid, </a:t>
            </a:r>
            <a:r>
              <a:rPr lang="en-US" sz="2000" dirty="0" err="1"/>
              <a:t>ReLU</a:t>
            </a:r>
            <a:r>
              <a:rPr lang="en-US" sz="2000" dirty="0"/>
              <a:t>, </a:t>
            </a:r>
            <a:r>
              <a:rPr lang="en-US" sz="2000" dirty="0" err="1"/>
              <a:t>Tanh</a:t>
            </a:r>
            <a:r>
              <a:rPr lang="en-US" sz="2000" dirty="0"/>
              <a:t>, </a:t>
            </a:r>
            <a:r>
              <a:rPr lang="en-US" sz="2000" dirty="0" err="1"/>
              <a:t>Softmax</a:t>
            </a:r>
            <a:r>
              <a:rPr lang="en-US" sz="2000" dirty="0"/>
              <a:t>, etc.</a:t>
            </a:r>
          </a:p>
          <a:p>
            <a:r>
              <a:rPr lang="en-US" sz="2333" b="1" dirty="0"/>
              <a:t>This flexibility makes artificial neurons usable in modern deep learning.</a:t>
            </a:r>
            <a:endParaRPr lang="en-US" sz="2200" b="1" dirty="0"/>
          </a:p>
          <a:p>
            <a:pPr>
              <a:buFont typeface="Wingdings" panose="05000000000000000000" pitchFamily="2" charset="2"/>
              <a:buChar char="Ø"/>
            </a:pPr>
            <a:endParaRPr lang="en-US" dirty="0"/>
          </a:p>
        </p:txBody>
      </p:sp>
      <p:sp>
        <p:nvSpPr>
          <p:cNvPr id="4" name="Date Placeholder 3"/>
          <p:cNvSpPr>
            <a:spLocks noGrp="1"/>
          </p:cNvSpPr>
          <p:nvPr>
            <p:ph type="dt" sz="half" idx="10"/>
          </p:nvPr>
        </p:nvSpPr>
        <p:spPr/>
        <p:txBody>
          <a:bodyPr/>
          <a:lstStyle/>
          <a:p>
            <a:pPr defTabSz="1219170">
              <a:buClr>
                <a:srgbClr val="000000"/>
              </a:buClr>
            </a:pPr>
            <a:fld id="{DB2301E4-8C17-45D9-8C16-B1B7FD1E1F87}"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42</a:t>
            </a:fld>
            <a:endParaRPr lang="en-US" kern="0" dirty="0">
              <a:latin typeface="Arial"/>
              <a:cs typeface="Arial"/>
              <a:sym typeface="Arial"/>
            </a:endParaRPr>
          </a:p>
        </p:txBody>
      </p:sp>
      <p:pic>
        <p:nvPicPr>
          <p:cNvPr id="7" name="Picture 6"/>
          <p:cNvPicPr>
            <a:picLocks noChangeAspect="1"/>
          </p:cNvPicPr>
          <p:nvPr/>
        </p:nvPicPr>
        <p:blipFill>
          <a:blip r:embed="rId2"/>
          <a:stretch>
            <a:fillRect/>
          </a:stretch>
        </p:blipFill>
        <p:spPr>
          <a:xfrm>
            <a:off x="2495839" y="3702324"/>
            <a:ext cx="3032525" cy="881704"/>
          </a:xfrm>
          <a:prstGeom prst="rect">
            <a:avLst/>
          </a:prstGeom>
        </p:spPr>
      </p:pic>
    </p:spTree>
    <p:extLst>
      <p:ext uri="{BB962C8B-B14F-4D97-AF65-F5344CB8AC3E}">
        <p14:creationId xmlns:p14="http://schemas.microsoft.com/office/powerpoint/2010/main" val="2285699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Perceptron — Specific Model</a:t>
            </a:r>
          </a:p>
        </p:txBody>
      </p:sp>
      <p:sp>
        <p:nvSpPr>
          <p:cNvPr id="3" name="Content Placeholder 2"/>
          <p:cNvSpPr>
            <a:spLocks noGrp="1"/>
          </p:cNvSpPr>
          <p:nvPr>
            <p:ph idx="1"/>
          </p:nvPr>
        </p:nvSpPr>
        <p:spPr>
          <a:xfrm>
            <a:off x="529267" y="1379870"/>
            <a:ext cx="11256333" cy="4971311"/>
          </a:xfrm>
        </p:spPr>
        <p:txBody>
          <a:bodyPr>
            <a:normAutofit/>
          </a:bodyPr>
          <a:lstStyle/>
          <a:p>
            <a:pPr>
              <a:buFont typeface="Wingdings" panose="05000000000000000000" pitchFamily="2" charset="2"/>
              <a:buChar char="Ø"/>
            </a:pPr>
            <a:r>
              <a:rPr lang="en-US" sz="2133" b="1" dirty="0"/>
              <a:t>The perceptron, introduced by Frank Rosenblatt (1957), is the simplest form of artificial neuron.</a:t>
            </a:r>
          </a:p>
          <a:p>
            <a:pPr>
              <a:buFont typeface="Wingdings" panose="05000000000000000000" pitchFamily="2" charset="2"/>
              <a:buChar char="Ø"/>
            </a:pPr>
            <a:r>
              <a:rPr lang="en-US" sz="2133" b="1" dirty="0"/>
              <a:t>Uses weighted sum of inputs</a:t>
            </a:r>
          </a:p>
          <a:p>
            <a:pPr>
              <a:buFont typeface="Wingdings" panose="05000000000000000000" pitchFamily="2" charset="2"/>
              <a:buChar char="Ø"/>
            </a:pPr>
            <a:r>
              <a:rPr lang="en-US" sz="2133" b="1" dirty="0"/>
              <a:t>Uses a step (threshold) activation function</a:t>
            </a:r>
          </a:p>
          <a:p>
            <a:pPr>
              <a:buFont typeface="Wingdings" panose="05000000000000000000" pitchFamily="2" charset="2"/>
              <a:buChar char="Ø"/>
            </a:pPr>
            <a:r>
              <a:rPr lang="en-US" sz="2133" b="1" dirty="0"/>
              <a:t>Designed mainly for binary classification</a:t>
            </a:r>
          </a:p>
          <a:p>
            <a:pPr>
              <a:buFont typeface="Wingdings" panose="05000000000000000000" pitchFamily="2" charset="2"/>
              <a:buChar char="Ø"/>
            </a:pPr>
            <a:r>
              <a:rPr lang="en-US" sz="2133" dirty="0"/>
              <a:t>Perceptron output:</a:t>
            </a:r>
            <a:endParaRPr lang="en-US" dirty="0"/>
          </a:p>
          <a:p>
            <a:pPr>
              <a:buFont typeface="Wingdings" panose="05000000000000000000" pitchFamily="2" charset="2"/>
              <a:buChar char="Ø"/>
            </a:pPr>
            <a:endParaRPr lang="en-US" dirty="0"/>
          </a:p>
          <a:p>
            <a:r>
              <a:rPr lang="en-US" dirty="0"/>
              <a:t>Where: </a:t>
            </a:r>
          </a:p>
          <a:p>
            <a:r>
              <a:rPr lang="en-US" dirty="0"/>
              <a:t>Output is only </a:t>
            </a:r>
            <a:r>
              <a:rPr lang="en-US" b="1" dirty="0"/>
              <a:t>0 or 1</a:t>
            </a:r>
            <a:br>
              <a:rPr lang="en-US" dirty="0"/>
            </a:br>
            <a:r>
              <a:rPr lang="en-US" dirty="0"/>
              <a:t>Decision boundary is </a:t>
            </a:r>
            <a:r>
              <a:rPr lang="en-US" b="1" dirty="0"/>
              <a:t>linear</a:t>
            </a:r>
            <a:r>
              <a:rPr lang="en-US" dirty="0"/>
              <a:t>	</a:t>
            </a:r>
          </a:p>
        </p:txBody>
      </p:sp>
      <p:sp>
        <p:nvSpPr>
          <p:cNvPr id="4" name="Date Placeholder 3"/>
          <p:cNvSpPr>
            <a:spLocks noGrp="1"/>
          </p:cNvSpPr>
          <p:nvPr>
            <p:ph type="dt" sz="half" idx="10"/>
          </p:nvPr>
        </p:nvSpPr>
        <p:spPr/>
        <p:txBody>
          <a:bodyPr/>
          <a:lstStyle/>
          <a:p>
            <a:pPr defTabSz="1219170">
              <a:buClr>
                <a:srgbClr val="000000"/>
              </a:buClr>
            </a:pPr>
            <a:fld id="{48CBF80E-6A2A-43F8-ADF6-ACA5AAF91770}"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43</a:t>
            </a:fld>
            <a:endParaRPr lang="en-US" kern="0" dirty="0">
              <a:latin typeface="Arial"/>
              <a:cs typeface="Arial"/>
              <a:sym typeface="Arial"/>
            </a:endParaRPr>
          </a:p>
        </p:txBody>
      </p:sp>
      <p:pic>
        <p:nvPicPr>
          <p:cNvPr id="8" name="Picture 7"/>
          <p:cNvPicPr>
            <a:picLocks noChangeAspect="1"/>
          </p:cNvPicPr>
          <p:nvPr/>
        </p:nvPicPr>
        <p:blipFill>
          <a:blip r:embed="rId2"/>
          <a:stretch>
            <a:fillRect/>
          </a:stretch>
        </p:blipFill>
        <p:spPr>
          <a:xfrm>
            <a:off x="3498649" y="3580801"/>
            <a:ext cx="2859796" cy="927200"/>
          </a:xfrm>
          <a:prstGeom prst="rect">
            <a:avLst/>
          </a:prstGeom>
        </p:spPr>
      </p:pic>
    </p:spTree>
    <p:extLst>
      <p:ext uri="{BB962C8B-B14F-4D97-AF65-F5344CB8AC3E}">
        <p14:creationId xmlns:p14="http://schemas.microsoft.com/office/powerpoint/2010/main" val="10199989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FA896-FE31-4C89-22D0-64EAD96B0991}"/>
              </a:ext>
            </a:extLst>
          </p:cNvPr>
          <p:cNvSpPr>
            <a:spLocks noGrp="1"/>
          </p:cNvSpPr>
          <p:nvPr>
            <p:ph type="title"/>
          </p:nvPr>
        </p:nvSpPr>
        <p:spPr>
          <a:xfrm>
            <a:off x="1097282" y="510340"/>
            <a:ext cx="10058400" cy="794773"/>
          </a:xfrm>
        </p:spPr>
        <p:txBody>
          <a:bodyPr>
            <a:normAutofit fontScale="90000"/>
          </a:bodyPr>
          <a:lstStyle/>
          <a:p>
            <a:r>
              <a:rPr lang="en-IN" b="1" dirty="0"/>
              <a:t>Real-World Conceptual Example: Pass/Fail Decision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95B34D4-472D-6AED-0FEB-A99B5E981466}"/>
                  </a:ext>
                </a:extLst>
              </p:cNvPr>
              <p:cNvSpPr>
                <a:spLocks noGrp="1"/>
              </p:cNvSpPr>
              <p:nvPr>
                <p:ph idx="1"/>
              </p:nvPr>
            </p:nvSpPr>
            <p:spPr/>
            <p:txBody>
              <a:bodyPr/>
              <a:lstStyle/>
              <a:p>
                <a:r>
                  <a:rPr lang="en-IN" dirty="0"/>
                  <a:t>Suppose a university uses a simple perceptron model to predict whether a student passes a course based on two features:</a:t>
                </a:r>
              </a:p>
              <a:p>
                <a:pPr lvl="0"/>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oMath>
                </a14:m>
                <a:r>
                  <a:rPr lang="en-IN" dirty="0"/>
                  <a:t>: Hours studied per week</a:t>
                </a:r>
              </a:p>
              <a:p>
                <a:pPr lvl="0"/>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oMath>
                </a14:m>
                <a:r>
                  <a:rPr lang="en-IN" dirty="0"/>
                  <a:t>: Class attendance percentage</a:t>
                </a:r>
              </a:p>
              <a:p>
                <a:pPr lvl="0"/>
                <a:r>
                  <a:rPr lang="en-IN" b="1" dirty="0"/>
                  <a:t>Model Parameters:</a:t>
                </a:r>
                <a:r>
                  <a:rPr lang="en-IN" dirty="0"/>
                  <a:t> Weights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1</m:t>
                        </m:r>
                      </m:sub>
                    </m:sSub>
                    <m:r>
                      <a:rPr lang="en-IN">
                        <a:latin typeface="Cambria Math" panose="02040503050406030204" pitchFamily="18" charset="0"/>
                      </a:rPr>
                      <m:t>=0.4</m:t>
                    </m:r>
                  </m:oMath>
                </a14:m>
                <a:r>
                  <a:rPr lang="en-IN" dirty="0"/>
                  <a: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2</m:t>
                        </m:r>
                      </m:sub>
                    </m:sSub>
                    <m:r>
                      <a:rPr lang="en-IN">
                        <a:latin typeface="Cambria Math" panose="02040503050406030204" pitchFamily="18" charset="0"/>
                      </a:rPr>
                      <m:t>=0.05</m:t>
                    </m:r>
                  </m:oMath>
                </a14:m>
                <a:r>
                  <a:rPr lang="en-IN" dirty="0"/>
                  <a:t>, and Bias </a:t>
                </a:r>
                <a14:m>
                  <m:oMath xmlns:m="http://schemas.openxmlformats.org/officeDocument/2006/math">
                    <m:r>
                      <a:rPr lang="en-IN" i="1">
                        <a:latin typeface="Cambria Math" panose="02040503050406030204" pitchFamily="18" charset="0"/>
                      </a:rPr>
                      <m:t>𝑏</m:t>
                    </m:r>
                    <m:r>
                      <a:rPr lang="en-IN">
                        <a:latin typeface="Cambria Math" panose="02040503050406030204" pitchFamily="18" charset="0"/>
                      </a:rPr>
                      <m:t>=−5.0</m:t>
                    </m:r>
                  </m:oMath>
                </a14:m>
                <a:r>
                  <a:rPr lang="en-IN" dirty="0"/>
                  <a:t>.</a:t>
                </a:r>
              </a:p>
              <a:p>
                <a:pPr lvl="0"/>
                <a:r>
                  <a:rPr lang="en-IN" b="1" dirty="0"/>
                  <a:t>Student Data:</a:t>
                </a:r>
                <a:r>
                  <a:rPr lang="en-IN" dirty="0"/>
                  <a: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=8</m:t>
                    </m:r>
                    <m:r>
                      <m:rPr>
                        <m:nor/>
                      </m:rPr>
                      <a:rPr lang="en-IN" i="0"/>
                      <m:t> hours</m:t>
                    </m:r>
                  </m:oMath>
                </a14:m>
                <a:r>
                  <a:rPr lang="en-IN" dirty="0"/>
                  <a: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=70%</m:t>
                    </m:r>
                  </m:oMath>
                </a14:m>
                <a:r>
                  <a:rPr lang="en-IN" dirty="0"/>
                  <a:t>.</a:t>
                </a:r>
              </a:p>
              <a:p>
                <a:endParaRPr lang="en-IN" dirty="0"/>
              </a:p>
            </p:txBody>
          </p:sp>
        </mc:Choice>
        <mc:Fallback xmlns="">
          <p:sp>
            <p:nvSpPr>
              <p:cNvPr id="3" name="Content Placeholder 2">
                <a:extLst>
                  <a:ext uri="{FF2B5EF4-FFF2-40B4-BE49-F238E27FC236}">
                    <a16:creationId xmlns:a16="http://schemas.microsoft.com/office/drawing/2014/main" id="{995B34D4-472D-6AED-0FEB-A99B5E981466}"/>
                  </a:ext>
                </a:extLst>
              </p:cNvPr>
              <p:cNvSpPr>
                <a:spLocks noGrp="1" noRot="1" noChangeAspect="1" noMove="1" noResize="1" noEditPoints="1" noAdjustHandles="1" noChangeArrowheads="1" noChangeShapeType="1" noTextEdit="1"/>
              </p:cNvSpPr>
              <p:nvPr>
                <p:ph idx="1"/>
              </p:nvPr>
            </p:nvSpPr>
            <p:spPr>
              <a:blipFill>
                <a:blip r:embed="rId2"/>
                <a:stretch>
                  <a:fillRect l="-606" t="-1667"/>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705A08DF-FB08-EB97-0088-61FF2FBF7446}"/>
              </a:ext>
            </a:extLst>
          </p:cNvPr>
          <p:cNvSpPr>
            <a:spLocks noGrp="1"/>
          </p:cNvSpPr>
          <p:nvPr>
            <p:ph type="dt" sz="half" idx="10"/>
          </p:nvPr>
        </p:nvSpPr>
        <p:spPr/>
        <p:txBody>
          <a:bodyPr/>
          <a:lstStyle/>
          <a:p>
            <a:pPr defTabSz="1219170">
              <a:buClr>
                <a:srgbClr val="000000"/>
              </a:buClr>
            </a:pPr>
            <a:fld id="{ED2BA43E-C2D3-45F6-8EA4-498DC871DBD1}" type="datetime1">
              <a:rPr lang="en-US" kern="0" smtClean="0">
                <a:latin typeface="Arial"/>
                <a:cs typeface="Arial"/>
                <a:sym typeface="Arial"/>
              </a:rPr>
              <a:t>04-Aug-26</a:t>
            </a:fld>
            <a:endParaRPr lang="en-US" kern="0" dirty="0">
              <a:latin typeface="Arial"/>
              <a:cs typeface="Arial"/>
              <a:sym typeface="Arial"/>
            </a:endParaRPr>
          </a:p>
        </p:txBody>
      </p:sp>
      <p:sp>
        <p:nvSpPr>
          <p:cNvPr id="5" name="Slide Number Placeholder 4">
            <a:extLst>
              <a:ext uri="{FF2B5EF4-FFF2-40B4-BE49-F238E27FC236}">
                <a16:creationId xmlns:a16="http://schemas.microsoft.com/office/drawing/2014/main" id="{B7C966EE-3DD9-C797-3A82-D647D89FDBF6}"/>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44</a:t>
            </a:fld>
            <a:endParaRPr lang="en-US" kern="0" dirty="0">
              <a:latin typeface="Arial"/>
              <a:cs typeface="Arial"/>
              <a:sym typeface="Arial"/>
            </a:endParaRPr>
          </a:p>
        </p:txBody>
      </p:sp>
    </p:spTree>
    <p:extLst>
      <p:ext uri="{BB962C8B-B14F-4D97-AF65-F5344CB8AC3E}">
        <p14:creationId xmlns:p14="http://schemas.microsoft.com/office/powerpoint/2010/main" val="21070938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9E54A-2B5E-05A3-9675-F4901F1807DF}"/>
              </a:ext>
            </a:extLst>
          </p:cNvPr>
          <p:cNvSpPr>
            <a:spLocks noGrp="1"/>
          </p:cNvSpPr>
          <p:nvPr>
            <p:ph type="title"/>
          </p:nvPr>
        </p:nvSpPr>
        <p:spPr/>
        <p:txBody>
          <a:bodyPr/>
          <a:lstStyle/>
          <a:p>
            <a:r>
              <a:rPr lang="en-IN" b="1" dirty="0"/>
              <a:t>Evaluation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95FC96-2F66-246B-2BBC-98D1AD1917EC}"/>
                  </a:ext>
                </a:extLst>
              </p:cNvPr>
              <p:cNvSpPr>
                <a:spLocks noGrp="1"/>
              </p:cNvSpPr>
              <p:nvPr>
                <p:ph idx="1"/>
              </p:nvPr>
            </p:nvSpPr>
            <p:spPr/>
            <p:txBody>
              <a:bodyPr/>
              <a:lstStyle/>
              <a:p>
                <a:pPr lvl="0"/>
                <a:r>
                  <a:rPr lang="en-IN" dirty="0"/>
                  <a:t>Compute weighted sum </a:t>
                </a:r>
                <a14:m>
                  <m:oMath xmlns:m="http://schemas.openxmlformats.org/officeDocument/2006/math">
                    <m:r>
                      <a:rPr lang="en-IN" i="1">
                        <a:latin typeface="Cambria Math" panose="02040503050406030204" pitchFamily="18" charset="0"/>
                      </a:rPr>
                      <m:t>𝑧</m:t>
                    </m:r>
                  </m:oMath>
                </a14:m>
                <a:r>
                  <a:rPr lang="en-IN" dirty="0"/>
                  <a:t>:</a:t>
                </a:r>
              </a:p>
              <a:p>
                <a:pPr lvl="0"/>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0.4×8</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0.05×70</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−5.0</m:t>
                        </m:r>
                      </m:e>
                    </m:d>
                    <m:r>
                      <a:rPr lang="en-IN">
                        <a:latin typeface="Cambria Math" panose="02040503050406030204" pitchFamily="18" charset="0"/>
                      </a:rPr>
                      <m:t>=3.2+3.5−5.0=</m:t>
                    </m:r>
                    <m:r>
                      <a:rPr lang="en-IN" b="1">
                        <a:latin typeface="Cambria Math" panose="02040503050406030204" pitchFamily="18" charset="0"/>
                      </a:rPr>
                      <m:t>𝟏</m:t>
                    </m:r>
                    <m:r>
                      <a:rPr lang="en-IN">
                        <a:latin typeface="Cambria Math" panose="02040503050406030204" pitchFamily="18" charset="0"/>
                      </a:rPr>
                      <m:t>.</m:t>
                    </m:r>
                    <m:r>
                      <a:rPr lang="en-IN" b="1">
                        <a:latin typeface="Cambria Math" panose="02040503050406030204" pitchFamily="18" charset="0"/>
                      </a:rPr>
                      <m:t>𝟕</m:t>
                    </m:r>
                  </m:oMath>
                </a14:m>
                <a:endParaRPr lang="en-IN" dirty="0"/>
              </a:p>
              <a:p>
                <a:pPr lvl="0"/>
                <a:r>
                  <a:rPr lang="en-IN" dirty="0"/>
                  <a:t>Apply step function:</a:t>
                </a:r>
              </a:p>
              <a:p>
                <a:pPr lvl="0"/>
                <a:r>
                  <a:rPr lang="en-IN" dirty="0"/>
                  <a:t>Since </a:t>
                </a:r>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=1.7≥0</m:t>
                    </m:r>
                  </m:oMath>
                </a14:m>
                <a:r>
                  <a:rPr lang="en-IN" dirty="0"/>
                  <a:t>, </a:t>
                </a:r>
                <a14:m>
                  <m:oMath xmlns:m="http://schemas.openxmlformats.org/officeDocument/2006/math">
                    <m:acc>
                      <m:accPr>
                        <m:chr m:val="ˆ"/>
                        <m:ctrlPr>
                          <a:rPr lang="en-IN" i="1">
                            <a:latin typeface="Cambria Math" panose="02040503050406030204" pitchFamily="18" charset="0"/>
                          </a:rPr>
                        </m:ctrlPr>
                      </m:accPr>
                      <m:e>
                        <m:r>
                          <a:rPr lang="en-IN" i="1">
                            <a:latin typeface="Cambria Math" panose="02040503050406030204" pitchFamily="18" charset="0"/>
                          </a:rPr>
                          <m:t>𝑦</m:t>
                        </m:r>
                      </m:e>
                    </m:acc>
                    <m:r>
                      <a:rPr lang="en-IN">
                        <a:latin typeface="Cambria Math" panose="02040503050406030204" pitchFamily="18" charset="0"/>
                      </a:rPr>
                      <m:t>=</m:t>
                    </m:r>
                    <m:r>
                      <a:rPr lang="en-IN" b="1">
                        <a:latin typeface="Cambria Math" panose="02040503050406030204" pitchFamily="18" charset="0"/>
                      </a:rPr>
                      <m:t>𝟏</m:t>
                    </m:r>
                  </m:oMath>
                </a14:m>
                <a:r>
                  <a:rPr lang="en-IN" dirty="0"/>
                  <a:t>(Predicted: </a:t>
                </a:r>
                <a:r>
                  <a:rPr lang="en-IN" b="1" dirty="0"/>
                  <a:t>Pass</a:t>
                </a:r>
                <a:r>
                  <a:rPr lang="en-IN" dirty="0"/>
                  <a:t>).</a:t>
                </a:r>
              </a:p>
              <a:p>
                <a:endParaRPr lang="en-IN" dirty="0"/>
              </a:p>
            </p:txBody>
          </p:sp>
        </mc:Choice>
        <mc:Fallback xmlns="">
          <p:sp>
            <p:nvSpPr>
              <p:cNvPr id="3" name="Content Placeholder 2">
                <a:extLst>
                  <a:ext uri="{FF2B5EF4-FFF2-40B4-BE49-F238E27FC236}">
                    <a16:creationId xmlns:a16="http://schemas.microsoft.com/office/drawing/2014/main" id="{4695FC96-2F66-246B-2BBC-98D1AD1917EC}"/>
                  </a:ext>
                </a:extLst>
              </p:cNvPr>
              <p:cNvSpPr>
                <a:spLocks noGrp="1" noRot="1" noChangeAspect="1" noMove="1" noResize="1" noEditPoints="1" noAdjustHandles="1" noChangeArrowheads="1" noChangeShapeType="1" noTextEdit="1"/>
              </p:cNvSpPr>
              <p:nvPr>
                <p:ph idx="1"/>
              </p:nvPr>
            </p:nvSpPr>
            <p:spPr>
              <a:blipFill>
                <a:blip r:embed="rId2"/>
                <a:stretch>
                  <a:fillRect l="-1515" t="-1667"/>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859FEC92-C044-952F-FFA8-ABB522024C58}"/>
              </a:ext>
            </a:extLst>
          </p:cNvPr>
          <p:cNvSpPr>
            <a:spLocks noGrp="1"/>
          </p:cNvSpPr>
          <p:nvPr>
            <p:ph type="dt" sz="half" idx="10"/>
          </p:nvPr>
        </p:nvSpPr>
        <p:spPr/>
        <p:txBody>
          <a:bodyPr/>
          <a:lstStyle/>
          <a:p>
            <a:pPr defTabSz="1219170">
              <a:buClr>
                <a:srgbClr val="000000"/>
              </a:buClr>
            </a:pPr>
            <a:fld id="{ED2BA43E-C2D3-45F6-8EA4-498DC871DBD1}" type="datetime1">
              <a:rPr lang="en-US" kern="0" smtClean="0">
                <a:latin typeface="Arial"/>
                <a:cs typeface="Arial"/>
                <a:sym typeface="Arial"/>
              </a:rPr>
              <a:t>04-Aug-26</a:t>
            </a:fld>
            <a:endParaRPr lang="en-US" kern="0" dirty="0">
              <a:latin typeface="Arial"/>
              <a:cs typeface="Arial"/>
              <a:sym typeface="Arial"/>
            </a:endParaRPr>
          </a:p>
        </p:txBody>
      </p:sp>
      <p:sp>
        <p:nvSpPr>
          <p:cNvPr id="5" name="Slide Number Placeholder 4">
            <a:extLst>
              <a:ext uri="{FF2B5EF4-FFF2-40B4-BE49-F238E27FC236}">
                <a16:creationId xmlns:a16="http://schemas.microsoft.com/office/drawing/2014/main" id="{53EEFFC3-8EDD-5961-4079-3547BE34150A}"/>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45</a:t>
            </a:fld>
            <a:endParaRPr lang="en-US" kern="0" dirty="0">
              <a:latin typeface="Arial"/>
              <a:cs typeface="Arial"/>
              <a:sym typeface="Arial"/>
            </a:endParaRPr>
          </a:p>
        </p:txBody>
      </p:sp>
    </p:spTree>
    <p:extLst>
      <p:ext uri="{BB962C8B-B14F-4D97-AF65-F5344CB8AC3E}">
        <p14:creationId xmlns:p14="http://schemas.microsoft.com/office/powerpoint/2010/main" val="30572242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678BB-81C7-B099-5C4B-19042A0CDA02}"/>
              </a:ext>
            </a:extLst>
          </p:cNvPr>
          <p:cNvSpPr>
            <a:spLocks noGrp="1"/>
          </p:cNvSpPr>
          <p:nvPr>
            <p:ph type="title"/>
          </p:nvPr>
        </p:nvSpPr>
        <p:spPr/>
        <p:txBody>
          <a:bodyPr/>
          <a:lstStyle/>
          <a:p>
            <a:r>
              <a:rPr lang="en-US" dirty="0"/>
              <a:t>Question 2</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0AF04B8-8A2C-5EAE-935D-E6BF585946D7}"/>
                  </a:ext>
                </a:extLst>
              </p:cNvPr>
              <p:cNvSpPr>
                <a:spLocks noGrp="1"/>
              </p:cNvSpPr>
              <p:nvPr>
                <p:ph idx="1"/>
              </p:nvPr>
            </p:nvSpPr>
            <p:spPr>
              <a:xfrm>
                <a:off x="1154084" y="1417320"/>
                <a:ext cx="10466415" cy="4932680"/>
              </a:xfrm>
            </p:spPr>
            <p:txBody>
              <a:bodyPr>
                <a:normAutofit fontScale="92500" lnSpcReduction="10000"/>
              </a:bodyPr>
              <a:lstStyle/>
              <a:p>
                <a:r>
                  <a:rPr lang="en-IN" dirty="0"/>
                  <a:t>A bank uses a simple perceptron model to automatically classify whether a loan applicant is </a:t>
                </a:r>
                <a:r>
                  <a:rPr lang="en-IN" b="1" dirty="0"/>
                  <a:t>Low Risk / Approved (</a:t>
                </a:r>
                <a14:m>
                  <m:oMath xmlns:m="http://schemas.openxmlformats.org/officeDocument/2006/math">
                    <m:r>
                      <a:rPr lang="en-IN" i="1">
                        <a:latin typeface="Cambria Math" panose="02040503050406030204" pitchFamily="18" charset="0"/>
                      </a:rPr>
                      <m:t>𝑦</m:t>
                    </m:r>
                    <m:r>
                      <a:rPr lang="en-IN">
                        <a:latin typeface="Cambria Math" panose="02040503050406030204" pitchFamily="18" charset="0"/>
                      </a:rPr>
                      <m:t>=1</m:t>
                    </m:r>
                  </m:oMath>
                </a14:m>
                <a:r>
                  <a:rPr lang="en-IN" b="1" dirty="0"/>
                  <a:t>)</a:t>
                </a:r>
                <a:r>
                  <a:rPr lang="en-IN" dirty="0"/>
                  <a:t> or </a:t>
                </a:r>
                <a:r>
                  <a:rPr lang="en-IN" b="1" dirty="0"/>
                  <a:t>High Risk / Denied (</a:t>
                </a:r>
                <a14:m>
                  <m:oMath xmlns:m="http://schemas.openxmlformats.org/officeDocument/2006/math">
                    <m:r>
                      <a:rPr lang="en-IN" i="1">
                        <a:latin typeface="Cambria Math" panose="02040503050406030204" pitchFamily="18" charset="0"/>
                      </a:rPr>
                      <m:t>𝑦</m:t>
                    </m:r>
                    <m:r>
                      <a:rPr lang="en-IN">
                        <a:latin typeface="Cambria Math" panose="02040503050406030204" pitchFamily="18" charset="0"/>
                      </a:rPr>
                      <m:t>=0</m:t>
                    </m:r>
                  </m:oMath>
                </a14:m>
                <a:r>
                  <a:rPr lang="en-IN" b="1" dirty="0"/>
                  <a:t>)</a:t>
                </a:r>
                <a:r>
                  <a:rPr lang="en-IN" dirty="0"/>
                  <a:t> based on two features:</a:t>
                </a:r>
              </a:p>
              <a:p>
                <a:pPr lvl="0"/>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oMath>
                </a14:m>
                <a:r>
                  <a:rPr lang="en-IN" dirty="0"/>
                  <a:t>: Monthly Salary (in thousands of dollars)</a:t>
                </a:r>
              </a:p>
              <a:p>
                <a:pPr lvl="0"/>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oMath>
                </a14:m>
                <a:r>
                  <a:rPr lang="en-IN" dirty="0"/>
                  <a:t>: Credit Score (scaled from </a:t>
                </a:r>
                <a14:m>
                  <m:oMath xmlns:m="http://schemas.openxmlformats.org/officeDocument/2006/math">
                    <m:r>
                      <a:rPr lang="en-IN">
                        <a:latin typeface="Cambria Math" panose="02040503050406030204" pitchFamily="18" charset="0"/>
                      </a:rPr>
                      <m:t>0</m:t>
                    </m:r>
                  </m:oMath>
                </a14:m>
                <a:r>
                  <a:rPr lang="en-IN" dirty="0"/>
                  <a:t>to </a:t>
                </a:r>
                <a14:m>
                  <m:oMath xmlns:m="http://schemas.openxmlformats.org/officeDocument/2006/math">
                    <m:r>
                      <a:rPr lang="en-IN">
                        <a:latin typeface="Cambria Math" panose="02040503050406030204" pitchFamily="18" charset="0"/>
                      </a:rPr>
                      <m:t>10</m:t>
                    </m:r>
                  </m:oMath>
                </a14:m>
                <a:r>
                  <a:rPr lang="en-IN" dirty="0"/>
                  <a:t>)</a:t>
                </a:r>
              </a:p>
              <a:p>
                <a:r>
                  <a:rPr lang="en-IN" b="1" dirty="0"/>
                  <a:t>Model Parameters</a:t>
                </a:r>
              </a:p>
              <a:p>
                <a:pPr lvl="0"/>
                <a:r>
                  <a:rPr lang="en-IN" b="1" dirty="0"/>
                  <a:t>Weight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1</m:t>
                        </m:r>
                      </m:sub>
                    </m:sSub>
                    <m:r>
                      <a:rPr lang="en-IN">
                        <a:latin typeface="Cambria Math" panose="02040503050406030204" pitchFamily="18" charset="0"/>
                      </a:rPr>
                      <m:t>=0.5</m:t>
                    </m:r>
                  </m:oMath>
                </a14:m>
                <a:r>
                  <a:rPr lang="en-IN" b="1" dirty="0"/>
                  <a:t>:</a:t>
                </a:r>
                <a:r>
                  <a:rPr lang="en-IN" dirty="0"/>
                  <a:t> Positive weight—higher salary increases the chances of approval.</a:t>
                </a:r>
              </a:p>
              <a:p>
                <a:pPr lvl="0"/>
                <a:r>
                  <a:rPr lang="en-IN" b="1" dirty="0"/>
                  <a:t>Weight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2</m:t>
                        </m:r>
                      </m:sub>
                    </m:sSub>
                    <m:r>
                      <a:rPr lang="en-IN">
                        <a:latin typeface="Cambria Math" panose="02040503050406030204" pitchFamily="18" charset="0"/>
                      </a:rPr>
                      <m:t>=0.8</m:t>
                    </m:r>
                  </m:oMath>
                </a14:m>
                <a:r>
                  <a:rPr lang="en-IN" b="1" dirty="0"/>
                  <a:t>:</a:t>
                </a:r>
                <a:r>
                  <a:rPr lang="en-IN" dirty="0"/>
                  <a:t> Positive weight—credit score is heavily weighted for risk evaluation.</a:t>
                </a:r>
              </a:p>
              <a:p>
                <a:pPr lvl="0"/>
                <a:r>
                  <a:rPr lang="en-IN" b="1" dirty="0"/>
                  <a:t>Bias </a:t>
                </a:r>
                <a14:m>
                  <m:oMath xmlns:m="http://schemas.openxmlformats.org/officeDocument/2006/math">
                    <m:r>
                      <a:rPr lang="en-IN" i="1">
                        <a:latin typeface="Cambria Math" panose="02040503050406030204" pitchFamily="18" charset="0"/>
                      </a:rPr>
                      <m:t>𝑏</m:t>
                    </m:r>
                    <m:r>
                      <a:rPr lang="en-IN">
                        <a:latin typeface="Cambria Math" panose="02040503050406030204" pitchFamily="18" charset="0"/>
                      </a:rPr>
                      <m:t>=−6.0</m:t>
                    </m:r>
                  </m:oMath>
                </a14:m>
                <a:r>
                  <a:rPr lang="en-IN" b="1" dirty="0"/>
                  <a:t>:</a:t>
                </a:r>
                <a:r>
                  <a:rPr lang="en-IN" dirty="0"/>
                  <a:t> Sets the bank's minimum threshold for risk tolerance.</a:t>
                </a:r>
              </a:p>
              <a:p>
                <a:pPr marL="0" lvl="0" indent="0">
                  <a:buNone/>
                </a:pPr>
                <a:endParaRPr lang="en-IN" dirty="0"/>
              </a:p>
              <a:p>
                <a:pPr marL="0" lvl="0" indent="0">
                  <a:buNone/>
                </a:pPr>
                <a:r>
                  <a:rPr lang="en-IN" b="1" dirty="0"/>
                  <a:t>Check for Applicant A and B</a:t>
                </a:r>
              </a:p>
              <a:p>
                <a:pPr marL="0" indent="0">
                  <a:buNone/>
                </a:pPr>
                <a:r>
                  <a:rPr lang="en-IN" b="1" dirty="0"/>
                  <a:t>Applicant A: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=4</m:t>
                    </m:r>
                  </m:oMath>
                </a14:m>
                <a:r>
                  <a:rPr lang="en-IN" b="1" dirty="0"/>
                  <a:t>($4,000 salary),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=7</m:t>
                    </m:r>
                  </m:oMath>
                </a14:m>
                <a:r>
                  <a:rPr lang="en-IN" b="1" dirty="0"/>
                  <a:t>(700 Credit Score)</a:t>
                </a:r>
              </a:p>
              <a:p>
                <a:pPr marL="0" indent="0">
                  <a:buNone/>
                </a:pPr>
                <a:r>
                  <a:rPr lang="en-IN" b="1" dirty="0"/>
                  <a:t>Applicant B: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=3</m:t>
                    </m:r>
                  </m:oMath>
                </a14:m>
                <a:r>
                  <a:rPr lang="en-IN" b="1" dirty="0"/>
                  <a:t>($3,000 salary),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=5</m:t>
                    </m:r>
                  </m:oMath>
                </a14:m>
                <a:r>
                  <a:rPr lang="en-IN" b="1" dirty="0"/>
                  <a:t>(500 Credit Score)</a:t>
                </a:r>
              </a:p>
              <a:p>
                <a:pPr marL="0" indent="0">
                  <a:buNone/>
                </a:pPr>
                <a:endParaRPr lang="en-IN" b="1" dirty="0"/>
              </a:p>
              <a:p>
                <a:pPr marL="0" lvl="0" indent="0">
                  <a:buNone/>
                </a:pPr>
                <a:endParaRPr lang="en-IN" dirty="0"/>
              </a:p>
              <a:p>
                <a:endParaRPr lang="en-IN" dirty="0"/>
              </a:p>
            </p:txBody>
          </p:sp>
        </mc:Choice>
        <mc:Fallback xmlns="">
          <p:sp>
            <p:nvSpPr>
              <p:cNvPr id="3" name="Content Placeholder 2">
                <a:extLst>
                  <a:ext uri="{FF2B5EF4-FFF2-40B4-BE49-F238E27FC236}">
                    <a16:creationId xmlns:a16="http://schemas.microsoft.com/office/drawing/2014/main" id="{D0AF04B8-8A2C-5EAE-935D-E6BF585946D7}"/>
                  </a:ext>
                </a:extLst>
              </p:cNvPr>
              <p:cNvSpPr>
                <a:spLocks noGrp="1" noRot="1" noChangeAspect="1" noMove="1" noResize="1" noEditPoints="1" noAdjustHandles="1" noChangeArrowheads="1" noChangeShapeType="1" noTextEdit="1"/>
              </p:cNvSpPr>
              <p:nvPr>
                <p:ph idx="1"/>
              </p:nvPr>
            </p:nvSpPr>
            <p:spPr>
              <a:xfrm>
                <a:off x="1154084" y="1417320"/>
                <a:ext cx="10466415" cy="4932680"/>
              </a:xfrm>
              <a:blipFill>
                <a:blip r:embed="rId2"/>
                <a:stretch>
                  <a:fillRect l="-1398" t="-1607"/>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E1EA0ED4-B69F-C1D3-F543-D16977038DA2}"/>
              </a:ext>
            </a:extLst>
          </p:cNvPr>
          <p:cNvSpPr>
            <a:spLocks noGrp="1"/>
          </p:cNvSpPr>
          <p:nvPr>
            <p:ph type="dt" sz="half" idx="10"/>
          </p:nvPr>
        </p:nvSpPr>
        <p:spPr/>
        <p:txBody>
          <a:bodyPr/>
          <a:lstStyle/>
          <a:p>
            <a:pPr defTabSz="1219170">
              <a:buClr>
                <a:srgbClr val="000000"/>
              </a:buClr>
            </a:pPr>
            <a:fld id="{ED2BA43E-C2D3-45F6-8EA4-498DC871DBD1}" type="datetime1">
              <a:rPr lang="en-US" kern="0" smtClean="0">
                <a:latin typeface="Arial"/>
                <a:cs typeface="Arial"/>
                <a:sym typeface="Arial"/>
              </a:rPr>
              <a:t>04-Aug-26</a:t>
            </a:fld>
            <a:endParaRPr lang="en-US" kern="0" dirty="0">
              <a:latin typeface="Arial"/>
              <a:cs typeface="Arial"/>
              <a:sym typeface="Arial"/>
            </a:endParaRPr>
          </a:p>
        </p:txBody>
      </p:sp>
      <p:sp>
        <p:nvSpPr>
          <p:cNvPr id="5" name="Slide Number Placeholder 4">
            <a:extLst>
              <a:ext uri="{FF2B5EF4-FFF2-40B4-BE49-F238E27FC236}">
                <a16:creationId xmlns:a16="http://schemas.microsoft.com/office/drawing/2014/main" id="{42246A3E-7FAB-1377-14B9-84FBC6E85608}"/>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46</a:t>
            </a:fld>
            <a:endParaRPr lang="en-US" kern="0" dirty="0">
              <a:latin typeface="Arial"/>
              <a:cs typeface="Arial"/>
              <a:sym typeface="Arial"/>
            </a:endParaRPr>
          </a:p>
        </p:txBody>
      </p:sp>
    </p:spTree>
    <p:extLst>
      <p:ext uri="{BB962C8B-B14F-4D97-AF65-F5344CB8AC3E}">
        <p14:creationId xmlns:p14="http://schemas.microsoft.com/office/powerpoint/2010/main" val="4755830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F10EF-56A6-5C10-681C-A4A88788E59D}"/>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4BCB22-C7DE-24BB-2647-76784217A1D2}"/>
                  </a:ext>
                </a:extLst>
              </p:cNvPr>
              <p:cNvSpPr>
                <a:spLocks noGrp="1"/>
              </p:cNvSpPr>
              <p:nvPr>
                <p:ph idx="1"/>
              </p:nvPr>
            </p:nvSpPr>
            <p:spPr>
              <a:xfrm>
                <a:off x="991926" y="1657910"/>
                <a:ext cx="10058400" cy="4023360"/>
              </a:xfrm>
            </p:spPr>
            <p:txBody>
              <a:bodyPr>
                <a:normAutofit lnSpcReduction="10000"/>
              </a:bodyPr>
              <a:lstStyle/>
              <a:p>
                <a:r>
                  <a:rPr lang="en-IN" b="1" dirty="0"/>
                  <a:t>Applicant A: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=4</m:t>
                    </m:r>
                  </m:oMath>
                </a14:m>
                <a:r>
                  <a:rPr lang="en-IN" b="1" dirty="0"/>
                  <a:t>($4,000 salary),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=7</m:t>
                    </m:r>
                  </m:oMath>
                </a14:m>
                <a:r>
                  <a:rPr lang="en-IN" b="1" dirty="0"/>
                  <a:t>(700 Credit Score)</a:t>
                </a:r>
              </a:p>
              <a:p>
                <a:pPr lvl="0"/>
                <a:r>
                  <a:rPr lang="en-IN" b="1" dirty="0"/>
                  <a:t>Compute Weighted Sum (</a:t>
                </a:r>
                <a14:m>
                  <m:oMath xmlns:m="http://schemas.openxmlformats.org/officeDocument/2006/math">
                    <m:r>
                      <a:rPr lang="en-IN" i="1">
                        <a:latin typeface="Cambria Math" panose="02040503050406030204" pitchFamily="18" charset="0"/>
                      </a:rPr>
                      <m:t>𝑧</m:t>
                    </m:r>
                  </m:oMath>
                </a14:m>
                <a:r>
                  <a:rPr lang="en-IN" b="1" dirty="0"/>
                  <a:t>):</a:t>
                </a:r>
                <a:endParaRPr lang="en-IN" dirty="0"/>
              </a:p>
              <a:p>
                <a:pPr lvl="0"/>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1</m:t>
                        </m:r>
                      </m:sub>
                    </m:sSub>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2</m:t>
                        </m:r>
                      </m:sub>
                    </m:sSub>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m:t>
                    </m:r>
                    <m:r>
                      <a:rPr lang="en-IN" i="1">
                        <a:latin typeface="Cambria Math" panose="02040503050406030204" pitchFamily="18" charset="0"/>
                      </a:rPr>
                      <m:t>𝑏</m:t>
                    </m:r>
                  </m:oMath>
                </a14:m>
                <a:endParaRPr lang="en-IN" dirty="0"/>
              </a:p>
              <a:p>
                <a:pPr lvl="0"/>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0.5×4</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0.8×7</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−6.0</m:t>
                        </m:r>
                      </m:e>
                    </m:d>
                  </m:oMath>
                </a14:m>
                <a:endParaRPr lang="en-IN" dirty="0"/>
              </a:p>
              <a:p>
                <a:pPr lvl="0"/>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=2.0+5.6−6.0=</m:t>
                    </m:r>
                    <m:r>
                      <a:rPr lang="en-IN" b="1">
                        <a:latin typeface="Cambria Math" panose="02040503050406030204" pitchFamily="18" charset="0"/>
                      </a:rPr>
                      <m:t>𝟏</m:t>
                    </m:r>
                    <m:r>
                      <a:rPr lang="en-IN">
                        <a:latin typeface="Cambria Math" panose="02040503050406030204" pitchFamily="18" charset="0"/>
                      </a:rPr>
                      <m:t>.</m:t>
                    </m:r>
                    <m:r>
                      <a:rPr lang="en-IN" b="1">
                        <a:latin typeface="Cambria Math" panose="02040503050406030204" pitchFamily="18" charset="0"/>
                      </a:rPr>
                      <m:t>𝟔</m:t>
                    </m:r>
                  </m:oMath>
                </a14:m>
                <a:endParaRPr lang="en-IN" dirty="0"/>
              </a:p>
              <a:p>
                <a:pPr lvl="0"/>
                <a:r>
                  <a:rPr lang="en-IN" b="1" dirty="0"/>
                  <a:t>Apply Step Activation Function:</a:t>
                </a:r>
                <a:endParaRPr lang="en-IN" dirty="0"/>
              </a:p>
              <a:p>
                <a:pPr lvl="0"/>
                <a14:m>
                  <m:oMath xmlns:m="http://schemas.openxmlformats.org/officeDocument/2006/math">
                    <m:acc>
                      <m:accPr>
                        <m:chr m:val="ˆ"/>
                        <m:ctrlPr>
                          <a:rPr lang="en-IN" i="1">
                            <a:latin typeface="Cambria Math" panose="02040503050406030204" pitchFamily="18" charset="0"/>
                          </a:rPr>
                        </m:ctrlPr>
                      </m:accPr>
                      <m:e>
                        <m:r>
                          <a:rPr lang="en-IN" i="1">
                            <a:latin typeface="Cambria Math" panose="02040503050406030204" pitchFamily="18" charset="0"/>
                          </a:rPr>
                          <m:t>𝑦</m:t>
                        </m:r>
                      </m:e>
                    </m:acc>
                    <m:r>
                      <a:rPr lang="en-IN">
                        <a:latin typeface="Cambria Math" panose="02040503050406030204" pitchFamily="18" charset="0"/>
                      </a:rPr>
                      <m:t>=</m:t>
                    </m:r>
                    <m:r>
                      <a:rPr lang="en-IN" i="1">
                        <a:latin typeface="Cambria Math" panose="02040503050406030204" pitchFamily="18" charset="0"/>
                      </a:rPr>
                      <m:t>𝑓</m:t>
                    </m:r>
                    <m:d>
                      <m:dPr>
                        <m:ctrlPr>
                          <a:rPr lang="en-IN">
                            <a:latin typeface="Cambria Math" panose="02040503050406030204" pitchFamily="18" charset="0"/>
                          </a:rPr>
                        </m:ctrlPr>
                      </m:dPr>
                      <m:e>
                        <m:r>
                          <a:rPr lang="en-IN">
                            <a:latin typeface="Cambria Math" panose="02040503050406030204" pitchFamily="18" charset="0"/>
                          </a:rPr>
                          <m:t>1.6</m:t>
                        </m:r>
                      </m:e>
                    </m:d>
                    <m:r>
                      <a:rPr lang="en-IN">
                        <a:latin typeface="Cambria Math" panose="02040503050406030204" pitchFamily="18" charset="0"/>
                      </a:rPr>
                      <m:t>=</m:t>
                    </m:r>
                    <m:r>
                      <a:rPr lang="en-IN" b="1">
                        <a:latin typeface="Cambria Math" panose="02040503050406030204" pitchFamily="18" charset="0"/>
                      </a:rPr>
                      <m:t>𝟏</m:t>
                    </m:r>
                    <m:r>
                      <a:rPr lang="en-IN">
                        <a:latin typeface="Cambria Math" panose="02040503050406030204" pitchFamily="18" charset="0"/>
                      </a:rPr>
                      <m:t> </m:t>
                    </m:r>
                    <m:d>
                      <m:dPr>
                        <m:ctrlPr>
                          <a:rPr lang="en-IN" i="0"/>
                        </m:ctrlPr>
                      </m:dPr>
                      <m:e>
                        <m:r>
                          <m:rPr>
                            <m:nor/>
                          </m:rPr>
                          <a:rPr lang="en-IN" i="0"/>
                          <m:t>Since </m:t>
                        </m:r>
                        <m:r>
                          <a:rPr lang="en-IN" i="1">
                            <a:latin typeface="Cambria Math" panose="02040503050406030204" pitchFamily="18" charset="0"/>
                          </a:rPr>
                          <m:t>𝑧</m:t>
                        </m:r>
                        <m:r>
                          <a:rPr lang="en-IN">
                            <a:latin typeface="Cambria Math" panose="02040503050406030204" pitchFamily="18" charset="0"/>
                          </a:rPr>
                          <m:t>≥0</m:t>
                        </m:r>
                      </m:e>
                    </m:d>
                  </m:oMath>
                </a14:m>
                <a:endParaRPr lang="en-IN" dirty="0"/>
              </a:p>
              <a:p>
                <a:pPr lvl="0"/>
                <a:r>
                  <a:rPr lang="en-IN" b="1" dirty="0"/>
                  <a:t>Decision:</a:t>
                </a:r>
                <a:r>
                  <a:rPr lang="en-IN" dirty="0"/>
                  <a:t> </a:t>
                </a:r>
                <a:r>
                  <a:rPr lang="en-IN" b="1" dirty="0"/>
                  <a:t>Approved</a:t>
                </a:r>
                <a:r>
                  <a:rPr lang="en-IN" dirty="0"/>
                  <a:t> (Low Risk).</a:t>
                </a:r>
              </a:p>
              <a:p>
                <a:r>
                  <a:rPr lang="en-IN" b="1" dirty="0"/>
                  <a:t>Applicant B: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=3</m:t>
                    </m:r>
                  </m:oMath>
                </a14:m>
                <a:r>
                  <a:rPr lang="en-IN" b="1" dirty="0"/>
                  <a:t>($3,000 salary),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=5</m:t>
                    </m:r>
                  </m:oMath>
                </a14:m>
                <a:r>
                  <a:rPr lang="en-IN" b="1" dirty="0"/>
                  <a:t>(500 Credit Score)</a:t>
                </a:r>
              </a:p>
              <a:p>
                <a:endParaRPr lang="en-IN" dirty="0"/>
              </a:p>
            </p:txBody>
          </p:sp>
        </mc:Choice>
        <mc:Fallback xmlns="">
          <p:sp>
            <p:nvSpPr>
              <p:cNvPr id="3" name="Content Placeholder 2">
                <a:extLst>
                  <a:ext uri="{FF2B5EF4-FFF2-40B4-BE49-F238E27FC236}">
                    <a16:creationId xmlns:a16="http://schemas.microsoft.com/office/drawing/2014/main" id="{874BCB22-C7DE-24BB-2647-76784217A1D2}"/>
                  </a:ext>
                </a:extLst>
              </p:cNvPr>
              <p:cNvSpPr>
                <a:spLocks noGrp="1" noRot="1" noChangeAspect="1" noMove="1" noResize="1" noEditPoints="1" noAdjustHandles="1" noChangeArrowheads="1" noChangeShapeType="1" noTextEdit="1"/>
              </p:cNvSpPr>
              <p:nvPr>
                <p:ph idx="1"/>
              </p:nvPr>
            </p:nvSpPr>
            <p:spPr>
              <a:xfrm>
                <a:off x="991926" y="1657910"/>
                <a:ext cx="10058400" cy="4023360"/>
              </a:xfrm>
              <a:blipFill>
                <a:blip r:embed="rId2"/>
                <a:stretch>
                  <a:fillRect l="-1576" t="-2273"/>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8D52D272-82D1-662C-809E-B35BBF84C2B3}"/>
              </a:ext>
            </a:extLst>
          </p:cNvPr>
          <p:cNvSpPr>
            <a:spLocks noGrp="1"/>
          </p:cNvSpPr>
          <p:nvPr>
            <p:ph type="dt" sz="half" idx="10"/>
          </p:nvPr>
        </p:nvSpPr>
        <p:spPr/>
        <p:txBody>
          <a:bodyPr/>
          <a:lstStyle/>
          <a:p>
            <a:pPr defTabSz="1219170">
              <a:buClr>
                <a:srgbClr val="000000"/>
              </a:buClr>
            </a:pPr>
            <a:fld id="{ED2BA43E-C2D3-45F6-8EA4-498DC871DBD1}" type="datetime1">
              <a:rPr lang="en-US" kern="0" smtClean="0">
                <a:latin typeface="Arial"/>
                <a:cs typeface="Arial"/>
                <a:sym typeface="Arial"/>
              </a:rPr>
              <a:t>04-Aug-26</a:t>
            </a:fld>
            <a:endParaRPr lang="en-US" kern="0" dirty="0">
              <a:latin typeface="Arial"/>
              <a:cs typeface="Arial"/>
              <a:sym typeface="Arial"/>
            </a:endParaRPr>
          </a:p>
        </p:txBody>
      </p:sp>
      <p:sp>
        <p:nvSpPr>
          <p:cNvPr id="5" name="Slide Number Placeholder 4">
            <a:extLst>
              <a:ext uri="{FF2B5EF4-FFF2-40B4-BE49-F238E27FC236}">
                <a16:creationId xmlns:a16="http://schemas.microsoft.com/office/drawing/2014/main" id="{24872C96-145E-3C94-5D2E-B52BF15054F7}"/>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47</a:t>
            </a:fld>
            <a:endParaRPr lang="en-US" kern="0" dirty="0">
              <a:latin typeface="Arial"/>
              <a:cs typeface="Arial"/>
              <a:sym typeface="Arial"/>
            </a:endParaRP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E21A9CDE-9988-CC11-A7CB-DF20FFFFCDE0}"/>
                  </a:ext>
                </a:extLst>
              </p:cNvPr>
              <p:cNvSpPr txBox="1">
                <a:spLocks/>
              </p:cNvSpPr>
              <p:nvPr/>
            </p:nvSpPr>
            <p:spPr>
              <a:xfrm>
                <a:off x="7489298" y="1956147"/>
                <a:ext cx="10058400" cy="4023360"/>
              </a:xfrm>
              <a:prstGeom prst="rect">
                <a:avLst/>
              </a:prstGeom>
            </p:spPr>
            <p:txBody>
              <a:bodyPr vert="horz" lIns="0" tIns="45720" rIns="0" bIns="45720" rtlCol="0">
                <a:normAutofit/>
              </a:bodyPr>
              <a:lstStyle>
                <a:lvl1pPr marL="91438" indent="-91438" algn="l" defTabSz="914377"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38" indent="-182875" algn="l" defTabSz="914377"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14" indent="-182875"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789" indent="-182875"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65" indent="-182875"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09997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29996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499963"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699958" indent="-228594" algn="l" defTabSz="914377"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lvl="0"/>
                <a:r>
                  <a:rPr lang="en-IN" b="1" dirty="0"/>
                  <a:t>Compute Weighted Sum (</a:t>
                </a:r>
                <a14:m>
                  <m:oMath xmlns:m="http://schemas.openxmlformats.org/officeDocument/2006/math">
                    <m:r>
                      <a:rPr lang="en-IN" i="1">
                        <a:latin typeface="Cambria Math" panose="02040503050406030204" pitchFamily="18" charset="0"/>
                      </a:rPr>
                      <m:t>𝑧</m:t>
                    </m:r>
                  </m:oMath>
                </a14:m>
                <a:r>
                  <a:rPr lang="en-IN" b="1" dirty="0"/>
                  <a:t>):</a:t>
                </a:r>
                <a:endParaRPr lang="en-IN" dirty="0"/>
              </a:p>
              <a:p>
                <a:pPr lvl="0"/>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1</m:t>
                        </m:r>
                      </m:sub>
                    </m:sSub>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2</m:t>
                        </m:r>
                      </m:sub>
                    </m:sSub>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m:t>
                    </m:r>
                    <m:r>
                      <a:rPr lang="en-IN" i="1">
                        <a:latin typeface="Cambria Math" panose="02040503050406030204" pitchFamily="18" charset="0"/>
                      </a:rPr>
                      <m:t>𝑏</m:t>
                    </m:r>
                  </m:oMath>
                </a14:m>
                <a:endParaRPr lang="en-IN" dirty="0"/>
              </a:p>
              <a:p>
                <a:pPr lvl="0"/>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0.5×3</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0.8×5</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−6.0</m:t>
                        </m:r>
                      </m:e>
                    </m:d>
                  </m:oMath>
                </a14:m>
                <a:endParaRPr lang="en-IN" dirty="0"/>
              </a:p>
              <a:p>
                <a:pPr lvl="0"/>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=1.5+4.0−6.0=−</m:t>
                    </m:r>
                    <m:r>
                      <a:rPr lang="en-IN" b="1">
                        <a:latin typeface="Cambria Math" panose="02040503050406030204" pitchFamily="18" charset="0"/>
                      </a:rPr>
                      <m:t>𝟎</m:t>
                    </m:r>
                    <m:r>
                      <a:rPr lang="en-IN">
                        <a:latin typeface="Cambria Math" panose="02040503050406030204" pitchFamily="18" charset="0"/>
                      </a:rPr>
                      <m:t>.</m:t>
                    </m:r>
                    <m:r>
                      <a:rPr lang="en-IN" b="1">
                        <a:latin typeface="Cambria Math" panose="02040503050406030204" pitchFamily="18" charset="0"/>
                      </a:rPr>
                      <m:t>𝟓</m:t>
                    </m:r>
                  </m:oMath>
                </a14:m>
                <a:endParaRPr lang="en-IN" dirty="0"/>
              </a:p>
              <a:p>
                <a:pPr lvl="0"/>
                <a:r>
                  <a:rPr lang="en-IN" b="1" dirty="0"/>
                  <a:t>Apply Step Activation Function:</a:t>
                </a:r>
                <a:endParaRPr lang="en-IN" dirty="0"/>
              </a:p>
              <a:p>
                <a:pPr lvl="0"/>
                <a14:m>
                  <m:oMath xmlns:m="http://schemas.openxmlformats.org/officeDocument/2006/math">
                    <m:acc>
                      <m:accPr>
                        <m:chr m:val="ˆ"/>
                        <m:ctrlPr>
                          <a:rPr lang="en-IN" i="1">
                            <a:latin typeface="Cambria Math" panose="02040503050406030204" pitchFamily="18" charset="0"/>
                          </a:rPr>
                        </m:ctrlPr>
                      </m:accPr>
                      <m:e>
                        <m:r>
                          <a:rPr lang="en-IN" i="1">
                            <a:latin typeface="Cambria Math" panose="02040503050406030204" pitchFamily="18" charset="0"/>
                          </a:rPr>
                          <m:t>𝑦</m:t>
                        </m:r>
                      </m:e>
                    </m:acc>
                    <m:r>
                      <a:rPr lang="en-IN">
                        <a:latin typeface="Cambria Math" panose="02040503050406030204" pitchFamily="18" charset="0"/>
                      </a:rPr>
                      <m:t>=</m:t>
                    </m:r>
                    <m:r>
                      <a:rPr lang="en-IN" i="1">
                        <a:latin typeface="Cambria Math" panose="02040503050406030204" pitchFamily="18" charset="0"/>
                      </a:rPr>
                      <m:t>𝑓</m:t>
                    </m:r>
                    <m:d>
                      <m:dPr>
                        <m:ctrlPr>
                          <a:rPr lang="en-IN">
                            <a:latin typeface="Cambria Math" panose="02040503050406030204" pitchFamily="18" charset="0"/>
                          </a:rPr>
                        </m:ctrlPr>
                      </m:dPr>
                      <m:e>
                        <m:r>
                          <a:rPr lang="en-IN">
                            <a:latin typeface="Cambria Math" panose="02040503050406030204" pitchFamily="18" charset="0"/>
                          </a:rPr>
                          <m:t>−0.5</m:t>
                        </m:r>
                      </m:e>
                    </m:d>
                    <m:r>
                      <a:rPr lang="en-IN">
                        <a:latin typeface="Cambria Math" panose="02040503050406030204" pitchFamily="18" charset="0"/>
                      </a:rPr>
                      <m:t>=</m:t>
                    </m:r>
                    <m:r>
                      <a:rPr lang="en-IN" b="1">
                        <a:latin typeface="Cambria Math" panose="02040503050406030204" pitchFamily="18" charset="0"/>
                      </a:rPr>
                      <m:t>𝟎</m:t>
                    </m:r>
                    <m:r>
                      <a:rPr lang="en-IN">
                        <a:latin typeface="Cambria Math" panose="02040503050406030204" pitchFamily="18" charset="0"/>
                      </a:rPr>
                      <m:t> </m:t>
                    </m:r>
                    <m:d>
                      <m:dPr>
                        <m:ctrlPr>
                          <a:rPr lang="en-IN" i="0"/>
                        </m:ctrlPr>
                      </m:dPr>
                      <m:e>
                        <m:r>
                          <m:rPr>
                            <m:nor/>
                          </m:rPr>
                          <a:rPr lang="en-IN" i="0"/>
                          <m:t>Since </m:t>
                        </m:r>
                        <m:r>
                          <a:rPr lang="en-IN" i="1">
                            <a:latin typeface="Cambria Math" panose="02040503050406030204" pitchFamily="18" charset="0"/>
                          </a:rPr>
                          <m:t>𝑧</m:t>
                        </m:r>
                        <m:r>
                          <a:rPr lang="en-IN">
                            <a:latin typeface="Cambria Math" panose="02040503050406030204" pitchFamily="18" charset="0"/>
                          </a:rPr>
                          <m:t>&lt;0</m:t>
                        </m:r>
                      </m:e>
                    </m:d>
                  </m:oMath>
                </a14:m>
                <a:endParaRPr lang="en-IN" dirty="0"/>
              </a:p>
              <a:p>
                <a:pPr lvl="0"/>
                <a:r>
                  <a:rPr lang="en-IN" b="1" dirty="0"/>
                  <a:t>Decision:</a:t>
                </a:r>
                <a:r>
                  <a:rPr lang="en-IN" dirty="0"/>
                  <a:t> </a:t>
                </a:r>
                <a:r>
                  <a:rPr lang="en-IN" b="1" dirty="0"/>
                  <a:t>Denied</a:t>
                </a:r>
                <a:r>
                  <a:rPr lang="en-IN" dirty="0"/>
                  <a:t> (High Risk).</a:t>
                </a:r>
              </a:p>
            </p:txBody>
          </p:sp>
        </mc:Choice>
        <mc:Fallback xmlns="">
          <p:sp>
            <p:nvSpPr>
              <p:cNvPr id="6" name="Content Placeholder 2">
                <a:extLst>
                  <a:ext uri="{FF2B5EF4-FFF2-40B4-BE49-F238E27FC236}">
                    <a16:creationId xmlns:a16="http://schemas.microsoft.com/office/drawing/2014/main" id="{E21A9CDE-9988-CC11-A7CB-DF20FFFFCDE0}"/>
                  </a:ext>
                </a:extLst>
              </p:cNvPr>
              <p:cNvSpPr txBox="1">
                <a:spLocks noRot="1" noChangeAspect="1" noMove="1" noResize="1" noEditPoints="1" noAdjustHandles="1" noChangeArrowheads="1" noChangeShapeType="1" noTextEdit="1"/>
              </p:cNvSpPr>
              <p:nvPr/>
            </p:nvSpPr>
            <p:spPr>
              <a:xfrm>
                <a:off x="7489298" y="1956147"/>
                <a:ext cx="10058400" cy="4023360"/>
              </a:xfrm>
              <a:prstGeom prst="rect">
                <a:avLst/>
              </a:prstGeom>
              <a:blipFill>
                <a:blip r:embed="rId3"/>
                <a:stretch>
                  <a:fillRect l="-1576" t="-1667"/>
                </a:stretch>
              </a:blipFill>
            </p:spPr>
            <p:txBody>
              <a:bodyPr/>
              <a:lstStyle/>
              <a:p>
                <a:r>
                  <a:rPr lang="en-IN">
                    <a:noFill/>
                  </a:rPr>
                  <a:t> </a:t>
                </a:r>
              </a:p>
            </p:txBody>
          </p:sp>
        </mc:Fallback>
      </mc:AlternateContent>
    </p:spTree>
    <p:extLst>
      <p:ext uri="{BB962C8B-B14F-4D97-AF65-F5344CB8AC3E}">
        <p14:creationId xmlns:p14="http://schemas.microsoft.com/office/powerpoint/2010/main" val="1779921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97BA2-1288-0BFF-D8F5-EAA03A61F8A4}"/>
              </a:ext>
            </a:extLst>
          </p:cNvPr>
          <p:cNvSpPr>
            <a:spLocks noGrp="1"/>
          </p:cNvSpPr>
          <p:nvPr>
            <p:ph type="title"/>
          </p:nvPr>
        </p:nvSpPr>
        <p:spPr/>
        <p:txBody>
          <a:bodyPr/>
          <a:lstStyle/>
          <a:p>
            <a:endParaRPr lang="en-IN"/>
          </a:p>
        </p:txBody>
      </p:sp>
      <p:pic>
        <p:nvPicPr>
          <p:cNvPr id="10" name="Content Placeholder 9">
            <a:extLst>
              <a:ext uri="{FF2B5EF4-FFF2-40B4-BE49-F238E27FC236}">
                <a16:creationId xmlns:a16="http://schemas.microsoft.com/office/drawing/2014/main" id="{798A64C2-5CED-FBCE-F8E8-4B43A3E28D0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598397" y="-524333"/>
            <a:ext cx="5821185" cy="7761582"/>
          </a:xfrm>
          <a:prstGeom prst="rect">
            <a:avLst/>
          </a:prstGeom>
        </p:spPr>
      </p:pic>
      <p:sp>
        <p:nvSpPr>
          <p:cNvPr id="4" name="Date Placeholder 3">
            <a:extLst>
              <a:ext uri="{FF2B5EF4-FFF2-40B4-BE49-F238E27FC236}">
                <a16:creationId xmlns:a16="http://schemas.microsoft.com/office/drawing/2014/main" id="{19E2E0AA-DBE3-0A66-C752-790496AF4FDA}"/>
              </a:ext>
            </a:extLst>
          </p:cNvPr>
          <p:cNvSpPr>
            <a:spLocks noGrp="1"/>
          </p:cNvSpPr>
          <p:nvPr>
            <p:ph type="dt" sz="half" idx="10"/>
          </p:nvPr>
        </p:nvSpPr>
        <p:spPr/>
        <p:txBody>
          <a:bodyPr/>
          <a:lstStyle/>
          <a:p>
            <a:pPr defTabSz="1219170">
              <a:buClr>
                <a:srgbClr val="000000"/>
              </a:buClr>
            </a:pPr>
            <a:fld id="{4BFDD663-70C5-43C9-8914-CDF2DDDE0E10}"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a:extLst>
              <a:ext uri="{FF2B5EF4-FFF2-40B4-BE49-F238E27FC236}">
                <a16:creationId xmlns:a16="http://schemas.microsoft.com/office/drawing/2014/main" id="{A6926B0A-8DF6-11A9-322F-67A41B07853F}"/>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48</a:t>
            </a:fld>
            <a:endParaRPr lang="en-US" kern="0" dirty="0">
              <a:latin typeface="Arial"/>
              <a:cs typeface="Arial"/>
              <a:sym typeface="Arial"/>
            </a:endParaRPr>
          </a:p>
        </p:txBody>
      </p:sp>
      <p:pic>
        <p:nvPicPr>
          <p:cNvPr id="12" name="Picture 11">
            <a:extLst>
              <a:ext uri="{FF2B5EF4-FFF2-40B4-BE49-F238E27FC236}">
                <a16:creationId xmlns:a16="http://schemas.microsoft.com/office/drawing/2014/main" id="{F59D2379-D331-778B-FB69-794BD66251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8730" y="-36478"/>
            <a:ext cx="5198217" cy="6930955"/>
          </a:xfrm>
          <a:prstGeom prst="rect">
            <a:avLst/>
          </a:prstGeom>
        </p:spPr>
      </p:pic>
    </p:spTree>
    <p:extLst>
      <p:ext uri="{BB962C8B-B14F-4D97-AF65-F5344CB8AC3E}">
        <p14:creationId xmlns:p14="http://schemas.microsoft.com/office/powerpoint/2010/main" val="32930790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7CCC3-5853-2853-6B0A-E5AB684A1457}"/>
              </a:ext>
            </a:extLst>
          </p:cNvPr>
          <p:cNvSpPr>
            <a:spLocks noGrp="1"/>
          </p:cNvSpPr>
          <p:nvPr>
            <p:ph type="title"/>
          </p:nvPr>
        </p:nvSpPr>
        <p:spPr/>
        <p:txBody>
          <a:bodyPr/>
          <a:lstStyle/>
          <a:p>
            <a:endParaRPr lang="en-IN"/>
          </a:p>
        </p:txBody>
      </p:sp>
      <p:pic>
        <p:nvPicPr>
          <p:cNvPr id="8" name="Content Placeholder 7">
            <a:extLst>
              <a:ext uri="{FF2B5EF4-FFF2-40B4-BE49-F238E27FC236}">
                <a16:creationId xmlns:a16="http://schemas.microsoft.com/office/drawing/2014/main" id="{1D21F6E7-1920-4171-0A48-2A512022E36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65771" y="145792"/>
            <a:ext cx="4640591" cy="6187456"/>
          </a:xfrm>
          <a:prstGeom prst="rect">
            <a:avLst/>
          </a:prstGeom>
        </p:spPr>
      </p:pic>
      <p:sp>
        <p:nvSpPr>
          <p:cNvPr id="4" name="Date Placeholder 3">
            <a:extLst>
              <a:ext uri="{FF2B5EF4-FFF2-40B4-BE49-F238E27FC236}">
                <a16:creationId xmlns:a16="http://schemas.microsoft.com/office/drawing/2014/main" id="{E95145E2-3817-2456-0666-B50C791B6C44}"/>
              </a:ext>
            </a:extLst>
          </p:cNvPr>
          <p:cNvSpPr>
            <a:spLocks noGrp="1"/>
          </p:cNvSpPr>
          <p:nvPr>
            <p:ph type="dt" sz="half" idx="10"/>
          </p:nvPr>
        </p:nvSpPr>
        <p:spPr/>
        <p:txBody>
          <a:bodyPr/>
          <a:lstStyle/>
          <a:p>
            <a:pPr defTabSz="1219170">
              <a:buClr>
                <a:srgbClr val="000000"/>
              </a:buClr>
            </a:pPr>
            <a:fld id="{C16AD3E4-F417-498F-ABE8-FC6099B55402}"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a:extLst>
              <a:ext uri="{FF2B5EF4-FFF2-40B4-BE49-F238E27FC236}">
                <a16:creationId xmlns:a16="http://schemas.microsoft.com/office/drawing/2014/main" id="{6A4EC125-3560-AF49-D23B-5F85523F9547}"/>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49</a:t>
            </a:fld>
            <a:endParaRPr lang="en-US" kern="0" dirty="0">
              <a:latin typeface="Arial"/>
              <a:cs typeface="Arial"/>
              <a:sym typeface="Arial"/>
            </a:endParaRPr>
          </a:p>
        </p:txBody>
      </p:sp>
    </p:spTree>
    <p:extLst>
      <p:ext uri="{BB962C8B-B14F-4D97-AF65-F5344CB8AC3E}">
        <p14:creationId xmlns:p14="http://schemas.microsoft.com/office/powerpoint/2010/main" val="156427840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Artificial Neuron vs Perceptron</a:t>
            </a:r>
          </a:p>
        </p:txBody>
      </p:sp>
      <p:graphicFrame>
        <p:nvGraphicFramePr>
          <p:cNvPr id="8" name="Content Placeholder 7"/>
          <p:cNvGraphicFramePr>
            <a:graphicFrameLocks noGrp="1"/>
          </p:cNvGraphicFramePr>
          <p:nvPr>
            <p:ph idx="1"/>
          </p:nvPr>
        </p:nvGraphicFramePr>
        <p:xfrm>
          <a:off x="878583" y="1471252"/>
          <a:ext cx="10545417" cy="4556760"/>
        </p:xfrm>
        <a:graphic>
          <a:graphicData uri="http://schemas.openxmlformats.org/drawingml/2006/table">
            <a:tbl>
              <a:tblPr/>
              <a:tblGrid>
                <a:gridCol w="3515139">
                  <a:extLst>
                    <a:ext uri="{9D8B030D-6E8A-4147-A177-3AD203B41FA5}">
                      <a16:colId xmlns:a16="http://schemas.microsoft.com/office/drawing/2014/main" val="4069465654"/>
                    </a:ext>
                  </a:extLst>
                </a:gridCol>
                <a:gridCol w="3515139">
                  <a:extLst>
                    <a:ext uri="{9D8B030D-6E8A-4147-A177-3AD203B41FA5}">
                      <a16:colId xmlns:a16="http://schemas.microsoft.com/office/drawing/2014/main" val="1680418609"/>
                    </a:ext>
                  </a:extLst>
                </a:gridCol>
                <a:gridCol w="3515139">
                  <a:extLst>
                    <a:ext uri="{9D8B030D-6E8A-4147-A177-3AD203B41FA5}">
                      <a16:colId xmlns:a16="http://schemas.microsoft.com/office/drawing/2014/main" val="446269931"/>
                    </a:ext>
                  </a:extLst>
                </a:gridCol>
              </a:tblGrid>
              <a:tr h="528320">
                <a:tc>
                  <a:txBody>
                    <a:bodyPr/>
                    <a:lstStyle/>
                    <a:p>
                      <a:r>
                        <a:rPr lang="en-US" sz="2700" b="1"/>
                        <a:t>Aspect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700" b="1"/>
                        <a:t>Artificial Neuron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700" b="1" dirty="0"/>
                        <a:t>Perceptron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4187401"/>
                  </a:ext>
                </a:extLst>
              </a:tr>
              <a:tr h="934720">
                <a:tc>
                  <a:txBody>
                    <a:bodyPr/>
                    <a:lstStyle/>
                    <a:p>
                      <a:r>
                        <a:rPr lang="en-US" sz="2700" b="1"/>
                        <a:t>Nature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700"/>
                        <a:t>General model</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700"/>
                        <a:t>Specific implementation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0881078"/>
                  </a:ext>
                </a:extLst>
              </a:tr>
              <a:tr h="528320">
                <a:tc>
                  <a:txBody>
                    <a:bodyPr/>
                    <a:lstStyle/>
                    <a:p>
                      <a:r>
                        <a:rPr lang="en-US" sz="2700" b="1"/>
                        <a:t>Activation function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700"/>
                        <a:t>Any function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700"/>
                        <a:t>Step function only</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1386532"/>
                  </a:ext>
                </a:extLst>
              </a:tr>
              <a:tr h="528320">
                <a:tc>
                  <a:txBody>
                    <a:bodyPr/>
                    <a:lstStyle/>
                    <a:p>
                      <a:r>
                        <a:rPr lang="en-US" sz="2700" b="1"/>
                        <a:t>Output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700"/>
                        <a:t>Continuous or discrete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700"/>
                        <a:t>Binary (0 or 1)</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0087912"/>
                  </a:ext>
                </a:extLst>
              </a:tr>
              <a:tr h="934720">
                <a:tc>
                  <a:txBody>
                    <a:bodyPr/>
                    <a:lstStyle/>
                    <a:p>
                      <a:r>
                        <a:rPr lang="en-US" sz="2700" b="1"/>
                        <a:t>Learning capability</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700"/>
                        <a:t>Supports complex models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700"/>
                        <a:t>Limited to linear problems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3794963"/>
                  </a:ext>
                </a:extLst>
              </a:tr>
              <a:tr h="528320">
                <a:tc>
                  <a:txBody>
                    <a:bodyPr/>
                    <a:lstStyle/>
                    <a:p>
                      <a:r>
                        <a:rPr lang="en-US" sz="2700" b="1"/>
                        <a:t>Usage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700"/>
                        <a:t>Deep neural networks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700"/>
                        <a:t>Simple classification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45199755"/>
                  </a:ext>
                </a:extLst>
              </a:tr>
              <a:tr h="528320">
                <a:tc>
                  <a:txBody>
                    <a:bodyPr/>
                    <a:lstStyle/>
                    <a:p>
                      <a:r>
                        <a:rPr lang="en-US" sz="2700" b="1" dirty="0"/>
                        <a:t>Flexibility</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700"/>
                        <a:t>High</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700" dirty="0"/>
                        <a:t>Low</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9905225"/>
                  </a:ext>
                </a:extLst>
              </a:tr>
            </a:tbl>
          </a:graphicData>
        </a:graphic>
      </p:graphicFrame>
      <p:sp>
        <p:nvSpPr>
          <p:cNvPr id="4" name="Date Placeholder 3"/>
          <p:cNvSpPr>
            <a:spLocks noGrp="1"/>
          </p:cNvSpPr>
          <p:nvPr>
            <p:ph type="dt" sz="half" idx="10"/>
          </p:nvPr>
        </p:nvSpPr>
        <p:spPr/>
        <p:txBody>
          <a:bodyPr/>
          <a:lstStyle/>
          <a:p>
            <a:pPr defTabSz="1219170">
              <a:buClr>
                <a:srgbClr val="000000"/>
              </a:buClr>
            </a:pPr>
            <a:fld id="{CCB2DB63-E1E4-4FC7-8CAC-BE89974ADA48}"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50</a:t>
            </a:fld>
            <a:endParaRPr lang="en-US" kern="0" dirty="0">
              <a:latin typeface="Arial"/>
              <a:cs typeface="Arial"/>
              <a:sym typeface="Arial"/>
            </a:endParaRPr>
          </a:p>
        </p:txBody>
      </p:sp>
    </p:spTree>
    <p:extLst>
      <p:ext uri="{BB962C8B-B14F-4D97-AF65-F5344CB8AC3E}">
        <p14:creationId xmlns:p14="http://schemas.microsoft.com/office/powerpoint/2010/main" val="17706958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599" y="267404"/>
            <a:ext cx="10058400" cy="794773"/>
          </a:xfrm>
        </p:spPr>
        <p:txBody>
          <a:bodyPr>
            <a:normAutofit/>
          </a:bodyPr>
          <a:lstStyle/>
          <a:p>
            <a:r>
              <a:rPr lang="en-US" sz="3733" dirty="0"/>
              <a:t>Artificial Neuron vs Perceptron Vs MCP neuron</a:t>
            </a:r>
          </a:p>
        </p:txBody>
      </p:sp>
      <p:sp>
        <p:nvSpPr>
          <p:cNvPr id="4" name="Date Placeholder 3"/>
          <p:cNvSpPr>
            <a:spLocks noGrp="1"/>
          </p:cNvSpPr>
          <p:nvPr>
            <p:ph type="dt" sz="half" idx="10"/>
          </p:nvPr>
        </p:nvSpPr>
        <p:spPr/>
        <p:txBody>
          <a:bodyPr/>
          <a:lstStyle/>
          <a:p>
            <a:pPr defTabSz="1219170">
              <a:buClr>
                <a:srgbClr val="000000"/>
              </a:buClr>
            </a:pPr>
            <a:fld id="{2BDF8149-1A45-4777-B5AA-F29E51066FD8}"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51</a:t>
            </a:fld>
            <a:endParaRPr lang="en-US" kern="0" dirty="0">
              <a:latin typeface="Arial"/>
              <a:cs typeface="Arial"/>
              <a:sym typeface="Arial"/>
            </a:endParaRPr>
          </a:p>
        </p:txBody>
      </p:sp>
      <p:graphicFrame>
        <p:nvGraphicFramePr>
          <p:cNvPr id="7" name="Content Placeholder 6"/>
          <p:cNvGraphicFramePr>
            <a:graphicFrameLocks noGrp="1"/>
          </p:cNvGraphicFramePr>
          <p:nvPr>
            <p:ph idx="1"/>
          </p:nvPr>
        </p:nvGraphicFramePr>
        <p:xfrm>
          <a:off x="1068387" y="1427428"/>
          <a:ext cx="10058400" cy="2468880"/>
        </p:xfrm>
        <a:graphic>
          <a:graphicData uri="http://schemas.openxmlformats.org/drawingml/2006/table">
            <a:tbl>
              <a:tblPr/>
              <a:tblGrid>
                <a:gridCol w="2514600">
                  <a:extLst>
                    <a:ext uri="{9D8B030D-6E8A-4147-A177-3AD203B41FA5}">
                      <a16:colId xmlns:a16="http://schemas.microsoft.com/office/drawing/2014/main" val="600149305"/>
                    </a:ext>
                  </a:extLst>
                </a:gridCol>
                <a:gridCol w="1725813">
                  <a:extLst>
                    <a:ext uri="{9D8B030D-6E8A-4147-A177-3AD203B41FA5}">
                      <a16:colId xmlns:a16="http://schemas.microsoft.com/office/drawing/2014/main" val="590691903"/>
                    </a:ext>
                  </a:extLst>
                </a:gridCol>
                <a:gridCol w="2620800">
                  <a:extLst>
                    <a:ext uri="{9D8B030D-6E8A-4147-A177-3AD203B41FA5}">
                      <a16:colId xmlns:a16="http://schemas.microsoft.com/office/drawing/2014/main" val="3272372928"/>
                    </a:ext>
                  </a:extLst>
                </a:gridCol>
                <a:gridCol w="3197187">
                  <a:extLst>
                    <a:ext uri="{9D8B030D-6E8A-4147-A177-3AD203B41FA5}">
                      <a16:colId xmlns:a16="http://schemas.microsoft.com/office/drawing/2014/main" val="2335241422"/>
                    </a:ext>
                  </a:extLst>
                </a:gridCol>
              </a:tblGrid>
              <a:tr h="406400">
                <a:tc>
                  <a:txBody>
                    <a:bodyPr/>
                    <a:lstStyle/>
                    <a:p>
                      <a:r>
                        <a:rPr lang="en-US" sz="1900" b="1" dirty="0"/>
                        <a:t>Feature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b="1" dirty="0"/>
                        <a:t>MCP</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b="1" dirty="0"/>
                        <a:t>Perceptron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b="1" dirty="0"/>
                        <a:t>Modern Artificial Neuron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12836839"/>
                  </a:ext>
                </a:extLst>
              </a:tr>
              <a:tr h="406400">
                <a:tc>
                  <a:txBody>
                    <a:bodyPr/>
                    <a:lstStyle/>
                    <a:p>
                      <a:r>
                        <a:rPr lang="en-US" sz="1900" b="1"/>
                        <a:t>Weight learning</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dirty="0"/>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dirty="0"/>
                        <a:t>Yes (Rule -based)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dirty="0"/>
                        <a:t>Yes (Gradient Based)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5806969"/>
                  </a:ext>
                </a:extLst>
              </a:tr>
              <a:tr h="406400">
                <a:tc>
                  <a:txBody>
                    <a:bodyPr/>
                    <a:lstStyle/>
                    <a:p>
                      <a:r>
                        <a:rPr lang="en-US" sz="1900" b="1"/>
                        <a:t>Activation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dirty="0"/>
                        <a:t>Step</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dirty="0"/>
                        <a:t>Step</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a:t>Flexible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1727973"/>
                  </a:ext>
                </a:extLst>
              </a:tr>
              <a:tr h="406400">
                <a:tc>
                  <a:txBody>
                    <a:bodyPr/>
                    <a:lstStyle/>
                    <a:p>
                      <a:r>
                        <a:rPr lang="en-US" sz="1900" b="1"/>
                        <a:t>Output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a:t>Binary</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dirty="0"/>
                        <a:t>Binary</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a:t>Continuous / nonlinear</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18542991"/>
                  </a:ext>
                </a:extLst>
              </a:tr>
              <a:tr h="406400">
                <a:tc>
                  <a:txBody>
                    <a:bodyPr/>
                    <a:lstStyle/>
                    <a:p>
                      <a:r>
                        <a:rPr lang="en-US" sz="1900" b="1"/>
                        <a:t>Differentiable</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dirty="0"/>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dirty="0"/>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dirty="0"/>
                        <a:t>Yes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551906"/>
                  </a:ext>
                </a:extLst>
              </a:tr>
              <a:tr h="406400">
                <a:tc>
                  <a:txBody>
                    <a:bodyPr/>
                    <a:lstStyle/>
                    <a:p>
                      <a:r>
                        <a:rPr lang="en-US" sz="1900" b="1" dirty="0"/>
                        <a:t>Deep learning support</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dirty="0"/>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dirty="0"/>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900" dirty="0"/>
                        <a:t>Yes</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2508730"/>
                  </a:ext>
                </a:extLst>
              </a:tr>
            </a:tbl>
          </a:graphicData>
        </a:graphic>
      </p:graphicFrame>
      <p:sp>
        <p:nvSpPr>
          <p:cNvPr id="9" name="Rectangle 8"/>
          <p:cNvSpPr/>
          <p:nvPr/>
        </p:nvSpPr>
        <p:spPr>
          <a:xfrm>
            <a:off x="848897" y="3980338"/>
            <a:ext cx="10363587" cy="954300"/>
          </a:xfrm>
          <a:prstGeom prst="rect">
            <a:avLst/>
          </a:prstGeom>
        </p:spPr>
        <p:txBody>
          <a:bodyPr wrap="square">
            <a:spAutoFit/>
          </a:bodyPr>
          <a:lstStyle/>
          <a:p>
            <a:pPr marL="380990" indent="-380990" algn="just" defTabSz="1219170">
              <a:buClr>
                <a:srgbClr val="000000"/>
              </a:buClr>
              <a:buFont typeface="Wingdings" panose="05000000000000000000" pitchFamily="2" charset="2"/>
              <a:buChar char="Ø"/>
            </a:pPr>
            <a:r>
              <a:rPr lang="en-US" sz="1867" kern="0" dirty="0">
                <a:solidFill>
                  <a:srgbClr val="000000"/>
                </a:solidFill>
                <a:latin typeface="Arial"/>
                <a:cs typeface="Arial"/>
                <a:sym typeface="Arial"/>
              </a:rPr>
              <a:t>Although an MCP neuron could theoretically adjust weights like a perceptron, learning is not defined in its original model, whereas the perceptron explicitly includes a rule-based weight update mechanism that learns without using differentiation or gradient descent.</a:t>
            </a:r>
          </a:p>
        </p:txBody>
      </p:sp>
      <p:sp>
        <p:nvSpPr>
          <p:cNvPr id="10" name="Rectangle 9"/>
          <p:cNvSpPr/>
          <p:nvPr/>
        </p:nvSpPr>
        <p:spPr>
          <a:xfrm>
            <a:off x="751902" y="5079732"/>
            <a:ext cx="10144097" cy="954300"/>
          </a:xfrm>
          <a:prstGeom prst="rect">
            <a:avLst/>
          </a:prstGeom>
        </p:spPr>
        <p:txBody>
          <a:bodyPr wrap="square">
            <a:spAutoFit/>
          </a:bodyPr>
          <a:lstStyle/>
          <a:p>
            <a:pPr marL="380990" indent="-380990" defTabSz="1219170">
              <a:buClr>
                <a:srgbClr val="000000"/>
              </a:buClr>
              <a:buFont typeface="Wingdings" panose="05000000000000000000" pitchFamily="2" charset="2"/>
              <a:buChar char="Ø"/>
            </a:pPr>
            <a:r>
              <a:rPr lang="en-US" sz="1867" kern="0" dirty="0">
                <a:solidFill>
                  <a:srgbClr val="000000"/>
                </a:solidFill>
                <a:latin typeface="Arial"/>
                <a:cs typeface="Arial"/>
                <a:sym typeface="Arial"/>
              </a:rPr>
              <a:t>MCP → artificial neuron </a:t>
            </a:r>
            <a:r>
              <a:rPr lang="en-US" sz="1867" b="1" kern="0" dirty="0">
                <a:solidFill>
                  <a:srgbClr val="000000"/>
                </a:solidFill>
                <a:latin typeface="Arial"/>
                <a:cs typeface="Arial"/>
                <a:sym typeface="Arial"/>
              </a:rPr>
              <a:t>without learning rule</a:t>
            </a:r>
            <a:endParaRPr lang="en-US" sz="1867" kern="0" dirty="0">
              <a:solidFill>
                <a:srgbClr val="000000"/>
              </a:solidFill>
              <a:latin typeface="Arial"/>
              <a:cs typeface="Arial"/>
              <a:sym typeface="Arial"/>
            </a:endParaRPr>
          </a:p>
          <a:p>
            <a:pPr marL="380990" indent="-380990" defTabSz="1219170">
              <a:buClr>
                <a:srgbClr val="000000"/>
              </a:buClr>
              <a:buFont typeface="Wingdings" panose="05000000000000000000" pitchFamily="2" charset="2"/>
              <a:buChar char="Ø"/>
            </a:pPr>
            <a:r>
              <a:rPr lang="en-US" sz="1867" kern="0" dirty="0">
                <a:solidFill>
                  <a:srgbClr val="000000"/>
                </a:solidFill>
                <a:latin typeface="Arial"/>
                <a:cs typeface="Arial"/>
                <a:sym typeface="Arial"/>
              </a:rPr>
              <a:t>Perceptron → artificial neuron </a:t>
            </a:r>
            <a:r>
              <a:rPr lang="en-US" sz="1867" b="1" kern="0" dirty="0">
                <a:solidFill>
                  <a:srgbClr val="000000"/>
                </a:solidFill>
                <a:latin typeface="Arial"/>
                <a:cs typeface="Arial"/>
                <a:sym typeface="Arial"/>
              </a:rPr>
              <a:t>with rule-based learning</a:t>
            </a:r>
            <a:endParaRPr lang="en-US" sz="1867" kern="0" dirty="0">
              <a:solidFill>
                <a:srgbClr val="000000"/>
              </a:solidFill>
              <a:latin typeface="Arial"/>
              <a:cs typeface="Arial"/>
              <a:sym typeface="Arial"/>
            </a:endParaRPr>
          </a:p>
          <a:p>
            <a:pPr marL="380990" indent="-380990" defTabSz="1219170">
              <a:buClr>
                <a:srgbClr val="000000"/>
              </a:buClr>
              <a:buFont typeface="Wingdings" panose="05000000000000000000" pitchFamily="2" charset="2"/>
              <a:buChar char="Ø"/>
            </a:pPr>
            <a:r>
              <a:rPr lang="en-US" sz="1867" kern="0" dirty="0">
                <a:solidFill>
                  <a:srgbClr val="000000"/>
                </a:solidFill>
                <a:latin typeface="Arial"/>
                <a:cs typeface="Arial"/>
                <a:sym typeface="Arial"/>
              </a:rPr>
              <a:t>Modern neuron → artificial neuron </a:t>
            </a:r>
            <a:r>
              <a:rPr lang="en-US" sz="1867" b="1" kern="0" dirty="0">
                <a:solidFill>
                  <a:srgbClr val="000000"/>
                </a:solidFill>
                <a:latin typeface="Arial"/>
                <a:cs typeface="Arial"/>
                <a:sym typeface="Arial"/>
              </a:rPr>
              <a:t>with gradient learning</a:t>
            </a:r>
            <a:endParaRPr lang="en-US" sz="1867" kern="0" dirty="0">
              <a:solidFill>
                <a:srgbClr val="000000"/>
              </a:solidFill>
              <a:latin typeface="Arial"/>
              <a:cs typeface="Arial"/>
              <a:sym typeface="Arial"/>
            </a:endParaRPr>
          </a:p>
        </p:txBody>
      </p:sp>
    </p:spTree>
    <p:extLst>
      <p:ext uri="{BB962C8B-B14F-4D97-AF65-F5344CB8AC3E}">
        <p14:creationId xmlns:p14="http://schemas.microsoft.com/office/powerpoint/2010/main" val="3899813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599" y="267404"/>
            <a:ext cx="10058400" cy="794773"/>
          </a:xfrm>
        </p:spPr>
        <p:txBody>
          <a:bodyPr>
            <a:normAutofit/>
          </a:bodyPr>
          <a:lstStyle/>
          <a:p>
            <a:r>
              <a:rPr lang="en-US" sz="3733" dirty="0"/>
              <a:t>Multilayer Artificial Neural Network (MLANN)</a:t>
            </a:r>
          </a:p>
        </p:txBody>
      </p:sp>
      <p:sp>
        <p:nvSpPr>
          <p:cNvPr id="4" name="Date Placeholder 3"/>
          <p:cNvSpPr>
            <a:spLocks noGrp="1"/>
          </p:cNvSpPr>
          <p:nvPr>
            <p:ph type="dt" sz="half" idx="10"/>
          </p:nvPr>
        </p:nvSpPr>
        <p:spPr/>
        <p:txBody>
          <a:bodyPr/>
          <a:lstStyle/>
          <a:p>
            <a:pPr defTabSz="1219170">
              <a:buClr>
                <a:srgbClr val="000000"/>
              </a:buClr>
            </a:pPr>
            <a:fld id="{0A550334-FB37-4B43-8286-7346819AC8D1}"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52</a:t>
            </a:fld>
            <a:endParaRPr lang="en-US" kern="0" dirty="0">
              <a:latin typeface="Arial"/>
              <a:cs typeface="Arial"/>
              <a:sym typeface="Arial"/>
            </a:endParaRPr>
          </a:p>
        </p:txBody>
      </p:sp>
      <p:sp>
        <p:nvSpPr>
          <p:cNvPr id="3" name="Content Placeholder 2"/>
          <p:cNvSpPr>
            <a:spLocks noGrp="1"/>
          </p:cNvSpPr>
          <p:nvPr>
            <p:ph idx="1"/>
          </p:nvPr>
        </p:nvSpPr>
        <p:spPr>
          <a:xfrm>
            <a:off x="1001865" y="1457347"/>
            <a:ext cx="10058400" cy="4677053"/>
          </a:xfrm>
        </p:spPr>
        <p:txBody>
          <a:bodyPr>
            <a:normAutofit/>
          </a:bodyPr>
          <a:lstStyle/>
          <a:p>
            <a:pPr algn="just">
              <a:buFont typeface="Wingdings" panose="05000000000000000000" pitchFamily="2" charset="2"/>
              <a:buChar char="Ø"/>
            </a:pPr>
            <a:r>
              <a:rPr lang="en-US" b="1" dirty="0"/>
              <a:t>A multilayer artificial neural network (MLANN) </a:t>
            </a:r>
            <a:r>
              <a:rPr lang="en-US" dirty="0"/>
              <a:t>is a computational model composed of multiple layers of artificial neurons, where each layer contains several interconnected neurons that collectively transform input data into meaningful output through weighted connections and nonlinear activation functions.</a:t>
            </a:r>
          </a:p>
          <a:p>
            <a:pPr algn="just">
              <a:buFont typeface="Wingdings" panose="05000000000000000000" pitchFamily="2" charset="2"/>
              <a:buChar char="Ø"/>
            </a:pPr>
            <a:r>
              <a:rPr lang="en-US" dirty="0"/>
              <a:t>In simple words there are Many layers, Many neurons per layer and Fully interconnected for Learning complex patterns</a:t>
            </a:r>
          </a:p>
          <a:p>
            <a:pPr algn="just">
              <a:buFont typeface="Wingdings" panose="05000000000000000000" pitchFamily="2" charset="2"/>
              <a:buChar char="Ø"/>
            </a:pPr>
            <a:r>
              <a:rPr lang="en-US" b="1" dirty="0"/>
              <a:t>Input layer: </a:t>
            </a:r>
            <a:r>
              <a:rPr lang="en-US" dirty="0"/>
              <a:t>Receives raw input values, No processing, Just passes data forward.</a:t>
            </a:r>
          </a:p>
          <a:p>
            <a:pPr algn="just">
              <a:buFont typeface="Wingdings" panose="05000000000000000000" pitchFamily="2" charset="2"/>
              <a:buChar char="Ø"/>
            </a:pPr>
            <a:r>
              <a:rPr lang="en-US" b="1" dirty="0"/>
              <a:t>Hidden layer(s): </a:t>
            </a:r>
            <a:r>
              <a:rPr lang="en-US" dirty="0"/>
              <a:t>One or more intermediate layers with one or more neurons, Each neuron performs weighted sum + activation, Responsible for feature learning</a:t>
            </a:r>
          </a:p>
          <a:p>
            <a:pPr algn="just">
              <a:buFont typeface="Wingdings" panose="05000000000000000000" pitchFamily="2" charset="2"/>
              <a:buChar char="Ø"/>
            </a:pPr>
            <a:r>
              <a:rPr lang="en-US" b="1" dirty="0"/>
              <a:t>Output layer: </a:t>
            </a:r>
            <a:r>
              <a:rPr lang="en-US" dirty="0"/>
              <a:t>Produces final prediction like Classification or regression result</a:t>
            </a:r>
          </a:p>
          <a:p>
            <a:pPr algn="just">
              <a:buFont typeface="Wingdings" panose="05000000000000000000" pitchFamily="2" charset="2"/>
              <a:buChar char="Ø"/>
            </a:pPr>
            <a:r>
              <a:rPr lang="en-US" b="1" dirty="0"/>
              <a:t>Interconnection concept: </a:t>
            </a:r>
            <a:r>
              <a:rPr lang="en-US" dirty="0"/>
              <a:t>In a multilayer neural network, each neuron in one layer is typically connected to all neurons in the next layer; each connection has an associated weight that controls its influence, and each neuron includes a bias that shifts its activation.</a:t>
            </a:r>
          </a:p>
        </p:txBody>
      </p:sp>
    </p:spTree>
    <p:extLst>
      <p:ext uri="{BB962C8B-B14F-4D97-AF65-F5344CB8AC3E}">
        <p14:creationId xmlns:p14="http://schemas.microsoft.com/office/powerpoint/2010/main" val="26518692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5599" y="267404"/>
            <a:ext cx="10058400" cy="794773"/>
          </a:xfrm>
        </p:spPr>
        <p:txBody>
          <a:bodyPr>
            <a:normAutofit/>
          </a:bodyPr>
          <a:lstStyle/>
          <a:p>
            <a:r>
              <a:rPr lang="en-US" sz="3733" dirty="0"/>
              <a:t>Multilayer Artificial Neural Network (MLANN)</a:t>
            </a:r>
          </a:p>
        </p:txBody>
      </p:sp>
      <p:sp>
        <p:nvSpPr>
          <p:cNvPr id="4" name="Date Placeholder 3"/>
          <p:cNvSpPr>
            <a:spLocks noGrp="1"/>
          </p:cNvSpPr>
          <p:nvPr>
            <p:ph type="dt" sz="half" idx="10"/>
          </p:nvPr>
        </p:nvSpPr>
        <p:spPr/>
        <p:txBody>
          <a:bodyPr/>
          <a:lstStyle/>
          <a:p>
            <a:pPr defTabSz="1219170">
              <a:buClr>
                <a:srgbClr val="000000"/>
              </a:buClr>
            </a:pPr>
            <a:fld id="{4D71D448-D587-4FB6-90C7-91E37C7301A5}"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53</a:t>
            </a:fld>
            <a:endParaRPr lang="en-US" kern="0" dirty="0">
              <a:latin typeface="Arial"/>
              <a:cs typeface="Arial"/>
              <a:sym typeface="Arial"/>
            </a:endParaRPr>
          </a:p>
        </p:txBody>
      </p:sp>
      <p:pic>
        <p:nvPicPr>
          <p:cNvPr id="4098" name="Picture 2" descr="Structure of multilayer artificial neural network.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987" y="1632932"/>
            <a:ext cx="3891767" cy="420376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Structure of the Multi-Layer Perceptron Neural Network. | Download Scientific Diagra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3939" y="1833601"/>
            <a:ext cx="6958888" cy="38024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00127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200" y="267404"/>
            <a:ext cx="10924800" cy="794773"/>
          </a:xfrm>
        </p:spPr>
        <p:txBody>
          <a:bodyPr>
            <a:noAutofit/>
          </a:bodyPr>
          <a:lstStyle/>
          <a:p>
            <a:r>
              <a:rPr lang="en-US" sz="2933" b="1" dirty="0"/>
              <a:t>Generic mathematical formula for intermediate neuron in multilayer ANN</a:t>
            </a:r>
          </a:p>
        </p:txBody>
      </p:sp>
      <p:sp>
        <p:nvSpPr>
          <p:cNvPr id="4" name="Date Placeholder 3"/>
          <p:cNvSpPr>
            <a:spLocks noGrp="1"/>
          </p:cNvSpPr>
          <p:nvPr>
            <p:ph type="dt" sz="half" idx="10"/>
          </p:nvPr>
        </p:nvSpPr>
        <p:spPr/>
        <p:txBody>
          <a:bodyPr/>
          <a:lstStyle/>
          <a:p>
            <a:pPr defTabSz="1219170">
              <a:buClr>
                <a:srgbClr val="000000"/>
              </a:buClr>
            </a:pPr>
            <a:fld id="{814405F8-F3A5-4D4E-AB53-14CE653DCB34}"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54</a:t>
            </a:fld>
            <a:endParaRPr lang="en-US" kern="0" dirty="0">
              <a:latin typeface="Arial"/>
              <a:cs typeface="Arial"/>
              <a:sym typeface="Arial"/>
            </a:endParaRPr>
          </a:p>
        </p:txBody>
      </p:sp>
      <p:sp>
        <p:nvSpPr>
          <p:cNvPr id="3" name="Rectangle 2"/>
          <p:cNvSpPr/>
          <p:nvPr/>
        </p:nvSpPr>
        <p:spPr>
          <a:xfrm>
            <a:off x="705599" y="1304930"/>
            <a:ext cx="10506884" cy="379656"/>
          </a:xfrm>
          <a:prstGeom prst="rect">
            <a:avLst/>
          </a:prstGeom>
        </p:spPr>
        <p:txBody>
          <a:bodyPr wrap="square">
            <a:spAutoFit/>
          </a:bodyPr>
          <a:lstStyle/>
          <a:p>
            <a:pPr defTabSz="1219170">
              <a:buClr>
                <a:srgbClr val="000000"/>
              </a:buClr>
            </a:pPr>
            <a:r>
              <a:rPr lang="en-US" sz="1867" kern="0" dirty="0">
                <a:solidFill>
                  <a:srgbClr val="000000"/>
                </a:solidFill>
                <a:latin typeface="Times New Roman" panose="02020603050405020304" pitchFamily="18" charset="0"/>
                <a:cs typeface="Times New Roman" panose="02020603050405020304" pitchFamily="18" charset="0"/>
                <a:sym typeface="Arial"/>
              </a:rPr>
              <a:t>Consider: layer index → </a:t>
            </a:r>
            <a:r>
              <a:rPr lang="en-US" sz="1867" i="1" kern="0" dirty="0">
                <a:solidFill>
                  <a:srgbClr val="000000"/>
                </a:solidFill>
                <a:latin typeface="Times New Roman" panose="02020603050405020304" pitchFamily="18" charset="0"/>
                <a:cs typeface="Times New Roman" panose="02020603050405020304" pitchFamily="18" charset="0"/>
                <a:sym typeface="Arial"/>
              </a:rPr>
              <a:t>l, </a:t>
            </a:r>
            <a:r>
              <a:rPr lang="en-US" sz="1867" kern="0" dirty="0">
                <a:solidFill>
                  <a:srgbClr val="000000"/>
                </a:solidFill>
                <a:latin typeface="Times New Roman" panose="02020603050405020304" pitchFamily="18" charset="0"/>
                <a:cs typeface="Times New Roman" panose="02020603050405020304" pitchFamily="18" charset="0"/>
                <a:sym typeface="Arial"/>
              </a:rPr>
              <a:t>neuron index in that layer → </a:t>
            </a:r>
            <a:r>
              <a:rPr lang="en-US" sz="1867" i="1" kern="0" dirty="0">
                <a:solidFill>
                  <a:srgbClr val="000000"/>
                </a:solidFill>
                <a:latin typeface="Times New Roman" panose="02020603050405020304" pitchFamily="18" charset="0"/>
                <a:cs typeface="Times New Roman" panose="02020603050405020304" pitchFamily="18" charset="0"/>
                <a:sym typeface="Arial"/>
              </a:rPr>
              <a:t>j, </a:t>
            </a:r>
            <a:r>
              <a:rPr lang="en-US" sz="1867" kern="0" dirty="0">
                <a:solidFill>
                  <a:srgbClr val="000000"/>
                </a:solidFill>
                <a:latin typeface="Times New Roman" panose="02020603050405020304" pitchFamily="18" charset="0"/>
                <a:cs typeface="Times New Roman" panose="02020603050405020304" pitchFamily="18" charset="0"/>
                <a:sym typeface="Arial"/>
              </a:rPr>
              <a:t>neurons in previous layer → </a:t>
            </a:r>
            <a:r>
              <a:rPr lang="en-US" sz="1867" i="1" kern="0" dirty="0" err="1">
                <a:solidFill>
                  <a:srgbClr val="000000"/>
                </a:solidFill>
                <a:latin typeface="Times New Roman" panose="02020603050405020304" pitchFamily="18" charset="0"/>
                <a:cs typeface="Times New Roman" panose="02020603050405020304" pitchFamily="18" charset="0"/>
                <a:sym typeface="Arial"/>
              </a:rPr>
              <a:t>i</a:t>
            </a:r>
            <a:endParaRPr lang="en-US" sz="1867" i="1" kern="0" dirty="0">
              <a:solidFill>
                <a:srgbClr val="000000"/>
              </a:solidFill>
              <a:latin typeface="Times New Roman" panose="02020603050405020304" pitchFamily="18" charset="0"/>
              <a:cs typeface="Times New Roman" panose="02020603050405020304" pitchFamily="18" charset="0"/>
              <a:sym typeface="Arial"/>
            </a:endParaRPr>
          </a:p>
        </p:txBody>
      </p:sp>
      <p:sp>
        <p:nvSpPr>
          <p:cNvPr id="7" name="Rectangle 6"/>
          <p:cNvSpPr/>
          <p:nvPr/>
        </p:nvSpPr>
        <p:spPr>
          <a:xfrm>
            <a:off x="619057" y="1805349"/>
            <a:ext cx="3374642"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Weighted sum (pre-activation)</a:t>
            </a:r>
          </a:p>
        </p:txBody>
      </p:sp>
      <p:pic>
        <p:nvPicPr>
          <p:cNvPr id="8" name="Picture 7"/>
          <p:cNvPicPr>
            <a:picLocks noChangeAspect="1"/>
          </p:cNvPicPr>
          <p:nvPr/>
        </p:nvPicPr>
        <p:blipFill>
          <a:blip r:embed="rId2"/>
          <a:stretch>
            <a:fillRect/>
          </a:stretch>
        </p:blipFill>
        <p:spPr>
          <a:xfrm>
            <a:off x="447589" y="2267257"/>
            <a:ext cx="6269905" cy="3140151"/>
          </a:xfrm>
          <a:prstGeom prst="rect">
            <a:avLst/>
          </a:prstGeom>
        </p:spPr>
      </p:pic>
      <p:sp>
        <p:nvSpPr>
          <p:cNvPr id="9" name="Rectangle 8"/>
          <p:cNvSpPr/>
          <p:nvPr/>
        </p:nvSpPr>
        <p:spPr>
          <a:xfrm>
            <a:off x="7981611" y="2156868"/>
            <a:ext cx="1221809"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Activation</a:t>
            </a:r>
          </a:p>
        </p:txBody>
      </p:sp>
      <p:pic>
        <p:nvPicPr>
          <p:cNvPr id="10" name="Picture 9"/>
          <p:cNvPicPr>
            <a:picLocks noChangeAspect="1"/>
          </p:cNvPicPr>
          <p:nvPr/>
        </p:nvPicPr>
        <p:blipFill>
          <a:blip r:embed="rId3"/>
          <a:stretch>
            <a:fillRect/>
          </a:stretch>
        </p:blipFill>
        <p:spPr>
          <a:xfrm>
            <a:off x="7932447" y="2654396"/>
            <a:ext cx="1907376" cy="708821"/>
          </a:xfrm>
          <a:prstGeom prst="rect">
            <a:avLst/>
          </a:prstGeom>
        </p:spPr>
      </p:pic>
      <p:sp>
        <p:nvSpPr>
          <p:cNvPr id="11" name="Rectangle 10"/>
          <p:cNvSpPr/>
          <p:nvPr/>
        </p:nvSpPr>
        <p:spPr>
          <a:xfrm>
            <a:off x="6717493" y="3450376"/>
            <a:ext cx="5093896" cy="954300"/>
          </a:xfrm>
          <a:prstGeom prst="rect">
            <a:avLst/>
          </a:prstGeom>
        </p:spPr>
        <p:txBody>
          <a:bodyPr wrap="square">
            <a:spAutoFit/>
          </a:bodyPr>
          <a:lstStyle/>
          <a:p>
            <a:pPr defTabSz="1219170">
              <a:buClr>
                <a:srgbClr val="000000"/>
              </a:buClr>
            </a:pPr>
            <a:r>
              <a:rPr lang="en-US" sz="1867" kern="0" dirty="0">
                <a:solidFill>
                  <a:srgbClr val="000000"/>
                </a:solidFill>
                <a:latin typeface="Arial"/>
                <a:cs typeface="Arial"/>
                <a:sym typeface="Arial"/>
              </a:rPr>
              <a:t>Where:</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f(⋅)= activation function (</a:t>
            </a:r>
            <a:r>
              <a:rPr lang="en-US" sz="1867" kern="0" dirty="0" err="1">
                <a:solidFill>
                  <a:srgbClr val="000000"/>
                </a:solidFill>
                <a:latin typeface="Arial"/>
                <a:cs typeface="Arial"/>
                <a:sym typeface="Arial"/>
              </a:rPr>
              <a:t>ReLU</a:t>
            </a:r>
            <a:r>
              <a:rPr lang="en-US" sz="1867" kern="0" dirty="0">
                <a:solidFill>
                  <a:srgbClr val="000000"/>
                </a:solidFill>
                <a:latin typeface="Arial"/>
                <a:cs typeface="Arial"/>
                <a:sym typeface="Arial"/>
              </a:rPr>
              <a:t>, sigmoid, </a:t>
            </a:r>
            <a:r>
              <a:rPr lang="en-US" sz="1867" kern="0" dirty="0" err="1">
                <a:solidFill>
                  <a:srgbClr val="000000"/>
                </a:solidFill>
                <a:latin typeface="Arial"/>
                <a:cs typeface="Arial"/>
                <a:sym typeface="Arial"/>
              </a:rPr>
              <a:t>tanh</a:t>
            </a:r>
            <a:r>
              <a:rPr lang="en-US" sz="1867" kern="0" dirty="0">
                <a:solidFill>
                  <a:srgbClr val="000000"/>
                </a:solidFill>
                <a:latin typeface="Arial"/>
                <a:cs typeface="Arial"/>
                <a:sym typeface="Arial"/>
              </a:rPr>
              <a:t>, etc.)</a:t>
            </a:r>
          </a:p>
        </p:txBody>
      </p:sp>
      <p:sp>
        <p:nvSpPr>
          <p:cNvPr id="12" name="Rectangle 11"/>
          <p:cNvSpPr/>
          <p:nvPr/>
        </p:nvSpPr>
        <p:spPr>
          <a:xfrm>
            <a:off x="2949950" y="4831968"/>
            <a:ext cx="4086375" cy="379656"/>
          </a:xfrm>
          <a:prstGeom prst="rect">
            <a:avLst/>
          </a:prstGeom>
        </p:spPr>
        <p:txBody>
          <a:bodyPr wrap="none">
            <a:spAutoFit/>
          </a:bodyPr>
          <a:lstStyle/>
          <a:p>
            <a:pPr defTabSz="1219170">
              <a:buClr>
                <a:srgbClr val="000000"/>
              </a:buClr>
            </a:pPr>
            <a:r>
              <a:rPr lang="en-US" sz="1867" b="1" kern="0" dirty="0">
                <a:solidFill>
                  <a:srgbClr val="000000"/>
                </a:solidFill>
                <a:latin typeface="Arial"/>
                <a:cs typeface="Arial"/>
                <a:sym typeface="Arial"/>
              </a:rPr>
              <a:t>Combined generic neuron formula</a:t>
            </a:r>
          </a:p>
        </p:txBody>
      </p:sp>
      <p:pic>
        <p:nvPicPr>
          <p:cNvPr id="13" name="Picture 12"/>
          <p:cNvPicPr>
            <a:picLocks noChangeAspect="1"/>
          </p:cNvPicPr>
          <p:nvPr/>
        </p:nvPicPr>
        <p:blipFill>
          <a:blip r:embed="rId4"/>
          <a:stretch>
            <a:fillRect/>
          </a:stretch>
        </p:blipFill>
        <p:spPr>
          <a:xfrm>
            <a:off x="2796203" y="5172174"/>
            <a:ext cx="3921291" cy="1046519"/>
          </a:xfrm>
          <a:prstGeom prst="rect">
            <a:avLst/>
          </a:prstGeom>
        </p:spPr>
      </p:pic>
      <p:sp>
        <p:nvSpPr>
          <p:cNvPr id="14" name="Rectangle 13"/>
          <p:cNvSpPr/>
          <p:nvPr/>
        </p:nvSpPr>
        <p:spPr>
          <a:xfrm>
            <a:off x="7717139" y="4831968"/>
            <a:ext cx="4423006" cy="379656"/>
          </a:xfrm>
          <a:prstGeom prst="rect">
            <a:avLst/>
          </a:prstGeom>
        </p:spPr>
        <p:txBody>
          <a:bodyPr wrap="none">
            <a:spAutoFit/>
          </a:bodyPr>
          <a:lstStyle/>
          <a:p>
            <a:pPr defTabSz="1219170">
              <a:buClr>
                <a:srgbClr val="000000"/>
              </a:buClr>
            </a:pPr>
            <a:r>
              <a:rPr lang="en-US" sz="1867" b="1" kern="0" dirty="0">
                <a:solidFill>
                  <a:srgbClr val="000000"/>
                </a:solidFill>
                <a:latin typeface="Arial"/>
                <a:cs typeface="Arial"/>
                <a:sym typeface="Arial"/>
              </a:rPr>
              <a:t>Matrix form (compact representation)</a:t>
            </a:r>
          </a:p>
        </p:txBody>
      </p:sp>
      <p:pic>
        <p:nvPicPr>
          <p:cNvPr id="15" name="Picture 14"/>
          <p:cNvPicPr>
            <a:picLocks noChangeAspect="1"/>
          </p:cNvPicPr>
          <p:nvPr/>
        </p:nvPicPr>
        <p:blipFill>
          <a:blip r:embed="rId5"/>
          <a:stretch>
            <a:fillRect/>
          </a:stretch>
        </p:blipFill>
        <p:spPr>
          <a:xfrm>
            <a:off x="7962423" y="5147467"/>
            <a:ext cx="3544524" cy="703595"/>
          </a:xfrm>
          <a:prstGeom prst="rect">
            <a:avLst/>
          </a:prstGeom>
        </p:spPr>
      </p:pic>
      <p:sp>
        <p:nvSpPr>
          <p:cNvPr id="16" name="Rectangle 15"/>
          <p:cNvSpPr/>
          <p:nvPr/>
        </p:nvSpPr>
        <p:spPr>
          <a:xfrm>
            <a:off x="6631372" y="5792277"/>
            <a:ext cx="5511445"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This is the standard forward propagation equation.</a:t>
            </a:r>
          </a:p>
        </p:txBody>
      </p:sp>
    </p:spTree>
    <p:extLst>
      <p:ext uri="{BB962C8B-B14F-4D97-AF65-F5344CB8AC3E}">
        <p14:creationId xmlns:p14="http://schemas.microsoft.com/office/powerpoint/2010/main" val="25516538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dirty="0"/>
              <a:t>Single Artificial Neuron (ANN Model)</a:t>
            </a:r>
            <a:endParaRPr lang="en-US" dirty="0"/>
          </a:p>
        </p:txBody>
      </p:sp>
      <p:sp>
        <p:nvSpPr>
          <p:cNvPr id="3" name="Content Placeholder 2"/>
          <p:cNvSpPr>
            <a:spLocks noGrp="1"/>
          </p:cNvSpPr>
          <p:nvPr>
            <p:ph idx="1"/>
          </p:nvPr>
        </p:nvSpPr>
        <p:spPr>
          <a:xfrm>
            <a:off x="1068387" y="1499412"/>
            <a:ext cx="10058400" cy="4023360"/>
          </a:xfrm>
        </p:spPr>
        <p:txBody>
          <a:bodyPr/>
          <a:lstStyle/>
          <a:p>
            <a:r>
              <a:rPr lang="en-US" dirty="0"/>
              <a:t>A single neuron mimics how biological neurons combine inputs and produce an output.</a:t>
            </a:r>
          </a:p>
          <a:p>
            <a:r>
              <a:rPr lang="en-US" dirty="0"/>
              <a:t>Given inputs:</a:t>
            </a:r>
          </a:p>
        </p:txBody>
      </p:sp>
      <p:sp>
        <p:nvSpPr>
          <p:cNvPr id="4" name="Date Placeholder 3"/>
          <p:cNvSpPr>
            <a:spLocks noGrp="1"/>
          </p:cNvSpPr>
          <p:nvPr>
            <p:ph type="dt" sz="half" idx="10"/>
          </p:nvPr>
        </p:nvSpPr>
        <p:spPr/>
        <p:txBody>
          <a:bodyPr/>
          <a:lstStyle/>
          <a:p>
            <a:pPr defTabSz="1219170">
              <a:buClr>
                <a:srgbClr val="000000"/>
              </a:buClr>
            </a:pPr>
            <a:fld id="{BB017972-19EB-43D9-9709-106CD8733ED6}"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55</a:t>
            </a:fld>
            <a:endParaRPr lang="en-US" kern="0" dirty="0">
              <a:latin typeface="Arial"/>
              <a:cs typeface="Arial"/>
              <a:sym typeface="Arial"/>
            </a:endParaRPr>
          </a:p>
        </p:txBody>
      </p:sp>
      <p:pic>
        <p:nvPicPr>
          <p:cNvPr id="7" name="Picture 6"/>
          <p:cNvPicPr>
            <a:picLocks noChangeAspect="1"/>
          </p:cNvPicPr>
          <p:nvPr/>
        </p:nvPicPr>
        <p:blipFill>
          <a:blip r:embed="rId2"/>
          <a:stretch>
            <a:fillRect/>
          </a:stretch>
        </p:blipFill>
        <p:spPr>
          <a:xfrm>
            <a:off x="2728445" y="2018391"/>
            <a:ext cx="1436297" cy="346251"/>
          </a:xfrm>
          <a:prstGeom prst="rect">
            <a:avLst/>
          </a:prstGeom>
        </p:spPr>
      </p:pic>
      <p:sp>
        <p:nvSpPr>
          <p:cNvPr id="8" name="Rectangle 7"/>
          <p:cNvSpPr/>
          <p:nvPr/>
        </p:nvSpPr>
        <p:spPr>
          <a:xfrm>
            <a:off x="1068387" y="2534703"/>
            <a:ext cx="155202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with weights:</a:t>
            </a:r>
          </a:p>
        </p:txBody>
      </p:sp>
      <p:pic>
        <p:nvPicPr>
          <p:cNvPr id="9" name="Picture 8"/>
          <p:cNvPicPr>
            <a:picLocks noChangeAspect="1"/>
          </p:cNvPicPr>
          <p:nvPr/>
        </p:nvPicPr>
        <p:blipFill>
          <a:blip r:embed="rId3"/>
          <a:stretch>
            <a:fillRect/>
          </a:stretch>
        </p:blipFill>
        <p:spPr>
          <a:xfrm>
            <a:off x="2728444" y="2523381"/>
            <a:ext cx="1300217" cy="421692"/>
          </a:xfrm>
          <a:prstGeom prst="rect">
            <a:avLst/>
          </a:prstGeom>
        </p:spPr>
      </p:pic>
      <p:sp>
        <p:nvSpPr>
          <p:cNvPr id="10" name="Rectangle 9"/>
          <p:cNvSpPr/>
          <p:nvPr/>
        </p:nvSpPr>
        <p:spPr>
          <a:xfrm>
            <a:off x="1097280" y="3096469"/>
            <a:ext cx="1353256"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and bias b,</a:t>
            </a:r>
          </a:p>
        </p:txBody>
      </p:sp>
      <p:sp>
        <p:nvSpPr>
          <p:cNvPr id="11" name="Rectangle 10"/>
          <p:cNvSpPr/>
          <p:nvPr/>
        </p:nvSpPr>
        <p:spPr>
          <a:xfrm>
            <a:off x="1097280" y="3617959"/>
            <a:ext cx="2496196"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the neuron computes:</a:t>
            </a:r>
          </a:p>
        </p:txBody>
      </p:sp>
      <p:pic>
        <p:nvPicPr>
          <p:cNvPr id="12" name="Picture 11"/>
          <p:cNvPicPr>
            <a:picLocks noChangeAspect="1"/>
          </p:cNvPicPr>
          <p:nvPr/>
        </p:nvPicPr>
        <p:blipFill>
          <a:blip r:embed="rId4"/>
          <a:stretch>
            <a:fillRect/>
          </a:stretch>
        </p:blipFill>
        <p:spPr>
          <a:xfrm>
            <a:off x="3758189" y="3540621"/>
            <a:ext cx="3503000" cy="462201"/>
          </a:xfrm>
          <a:prstGeom prst="rect">
            <a:avLst/>
          </a:prstGeom>
        </p:spPr>
      </p:pic>
      <p:sp>
        <p:nvSpPr>
          <p:cNvPr id="13" name="Rectangle 12"/>
          <p:cNvSpPr/>
          <p:nvPr/>
        </p:nvSpPr>
        <p:spPr>
          <a:xfrm>
            <a:off x="1097281" y="4291649"/>
            <a:ext cx="2228495"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or in compact form:</a:t>
            </a:r>
          </a:p>
        </p:txBody>
      </p:sp>
      <p:pic>
        <p:nvPicPr>
          <p:cNvPr id="14" name="Picture 13"/>
          <p:cNvPicPr>
            <a:picLocks noChangeAspect="1"/>
          </p:cNvPicPr>
          <p:nvPr/>
        </p:nvPicPr>
        <p:blipFill>
          <a:blip r:embed="rId5"/>
          <a:stretch>
            <a:fillRect/>
          </a:stretch>
        </p:blipFill>
        <p:spPr>
          <a:xfrm>
            <a:off x="3914108" y="4226703"/>
            <a:ext cx="1744713" cy="385040"/>
          </a:xfrm>
          <a:prstGeom prst="rect">
            <a:avLst/>
          </a:prstGeom>
        </p:spPr>
      </p:pic>
      <p:sp>
        <p:nvSpPr>
          <p:cNvPr id="15" name="Rectangle 14"/>
          <p:cNvSpPr/>
          <p:nvPr/>
        </p:nvSpPr>
        <p:spPr>
          <a:xfrm>
            <a:off x="1023136" y="5038879"/>
            <a:ext cx="2946640"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Then activation is applied:</a:t>
            </a:r>
          </a:p>
        </p:txBody>
      </p:sp>
      <p:pic>
        <p:nvPicPr>
          <p:cNvPr id="16" name="Picture 15"/>
          <p:cNvPicPr>
            <a:picLocks noChangeAspect="1"/>
          </p:cNvPicPr>
          <p:nvPr/>
        </p:nvPicPr>
        <p:blipFill>
          <a:blip r:embed="rId6"/>
          <a:stretch>
            <a:fillRect/>
          </a:stretch>
        </p:blipFill>
        <p:spPr>
          <a:xfrm>
            <a:off x="4164742" y="5022827"/>
            <a:ext cx="1345549" cy="420484"/>
          </a:xfrm>
          <a:prstGeom prst="rect">
            <a:avLst/>
          </a:prstGeom>
        </p:spPr>
      </p:pic>
      <p:sp>
        <p:nvSpPr>
          <p:cNvPr id="17" name="Rectangle 16"/>
          <p:cNvSpPr/>
          <p:nvPr/>
        </p:nvSpPr>
        <p:spPr>
          <a:xfrm>
            <a:off x="971133" y="5580908"/>
            <a:ext cx="3134191"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Sigmoid Activation Function</a:t>
            </a:r>
          </a:p>
        </p:txBody>
      </p:sp>
      <p:pic>
        <p:nvPicPr>
          <p:cNvPr id="18" name="Picture 17"/>
          <p:cNvPicPr>
            <a:picLocks noChangeAspect="1"/>
          </p:cNvPicPr>
          <p:nvPr/>
        </p:nvPicPr>
        <p:blipFill>
          <a:blip r:embed="rId7"/>
          <a:stretch>
            <a:fillRect/>
          </a:stretch>
        </p:blipFill>
        <p:spPr>
          <a:xfrm>
            <a:off x="4248307" y="5439696"/>
            <a:ext cx="1849280" cy="829397"/>
          </a:xfrm>
          <a:prstGeom prst="rect">
            <a:avLst/>
          </a:prstGeom>
        </p:spPr>
      </p:pic>
      <p:pic>
        <p:nvPicPr>
          <p:cNvPr id="2050" name="Picture 2" descr="Mathematical scheme of the artificial neuron. Multiple inputs, weight, bias, summing and activation functions. Neural network elements. Machine learning. Vector illustration."/>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261190" y="1852567"/>
            <a:ext cx="4013985" cy="248780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Schematic diagram of sigmoid neuron (right) and activation function (left)  | Download Scientific Diagram"/>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97587" y="4325755"/>
            <a:ext cx="5639352" cy="18709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918972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Multilayer ANN</a:t>
            </a:r>
          </a:p>
        </p:txBody>
      </p:sp>
      <p:sp>
        <p:nvSpPr>
          <p:cNvPr id="4" name="Date Placeholder 3"/>
          <p:cNvSpPr>
            <a:spLocks noGrp="1"/>
          </p:cNvSpPr>
          <p:nvPr>
            <p:ph type="dt" sz="half" idx="10"/>
          </p:nvPr>
        </p:nvSpPr>
        <p:spPr/>
        <p:txBody>
          <a:bodyPr/>
          <a:lstStyle/>
          <a:p>
            <a:pPr defTabSz="1219170">
              <a:buClr>
                <a:srgbClr val="000000"/>
              </a:buClr>
            </a:pPr>
            <a:fld id="{CBC4DA0F-8A32-402C-BCF5-17B062CFF962}"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56</a:t>
            </a:fld>
            <a:endParaRPr lang="en-US" kern="0" dirty="0">
              <a:latin typeface="Arial"/>
              <a:cs typeface="Arial"/>
              <a:sym typeface="Arial"/>
            </a:endParaRPr>
          </a:p>
        </p:txBody>
      </p:sp>
      <p:pic>
        <p:nvPicPr>
          <p:cNvPr id="4098" name="Picture 2" descr="Forward and Backward propagation multi-layer neural network algorithm...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6989" y="1442774"/>
            <a:ext cx="8185609" cy="4787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140818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1" y="410292"/>
            <a:ext cx="10058400" cy="794773"/>
          </a:xfrm>
        </p:spPr>
        <p:txBody>
          <a:bodyPr/>
          <a:lstStyle/>
          <a:p>
            <a:r>
              <a:rPr lang="en-US" dirty="0"/>
              <a:t>Multilayer ANN: Forward Propagation</a:t>
            </a:r>
          </a:p>
        </p:txBody>
      </p:sp>
      <p:sp>
        <p:nvSpPr>
          <p:cNvPr id="4" name="Date Placeholder 3"/>
          <p:cNvSpPr>
            <a:spLocks noGrp="1"/>
          </p:cNvSpPr>
          <p:nvPr>
            <p:ph type="dt" sz="half" idx="10"/>
          </p:nvPr>
        </p:nvSpPr>
        <p:spPr/>
        <p:txBody>
          <a:bodyPr/>
          <a:lstStyle/>
          <a:p>
            <a:pPr defTabSz="1219170">
              <a:buClr>
                <a:srgbClr val="000000"/>
              </a:buClr>
            </a:pPr>
            <a:fld id="{A57A9E78-CF05-4F11-B790-770295C43655}"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57</a:t>
            </a:fld>
            <a:endParaRPr lang="en-US" kern="0" dirty="0">
              <a:latin typeface="Arial"/>
              <a:cs typeface="Arial"/>
              <a:sym typeface="Arial"/>
            </a:endParaRPr>
          </a:p>
        </p:txBody>
      </p:sp>
      <p:sp>
        <p:nvSpPr>
          <p:cNvPr id="7" name="Rectangle 6"/>
          <p:cNvSpPr/>
          <p:nvPr/>
        </p:nvSpPr>
        <p:spPr>
          <a:xfrm>
            <a:off x="1053406" y="1363712"/>
            <a:ext cx="9751532" cy="1816266"/>
          </a:xfrm>
          <a:prstGeom prst="rect">
            <a:avLst/>
          </a:prstGeom>
        </p:spPr>
        <p:txBody>
          <a:bodyPr wrap="square">
            <a:spAutoFit/>
          </a:bodyPr>
          <a:lstStyle/>
          <a:p>
            <a:pPr defTabSz="1219170">
              <a:buClr>
                <a:srgbClr val="000000"/>
              </a:buClr>
            </a:pPr>
            <a:r>
              <a:rPr lang="en-US" sz="1867" kern="0" dirty="0">
                <a:solidFill>
                  <a:srgbClr val="000000"/>
                </a:solidFill>
                <a:latin typeface="Arial"/>
                <a:cs typeface="Arial"/>
                <a:sym typeface="Arial"/>
              </a:rPr>
              <a:t>Forward propagation is how data flows </a:t>
            </a:r>
            <a:r>
              <a:rPr lang="en-US" sz="1867" b="1" kern="0" dirty="0">
                <a:solidFill>
                  <a:srgbClr val="000000"/>
                </a:solidFill>
                <a:latin typeface="Arial"/>
                <a:cs typeface="Arial"/>
                <a:sym typeface="Arial"/>
              </a:rPr>
              <a:t>input → output</a:t>
            </a:r>
            <a:r>
              <a:rPr lang="en-US" sz="1867" kern="0" dirty="0">
                <a:solidFill>
                  <a:srgbClr val="000000"/>
                </a:solidFill>
                <a:latin typeface="Arial"/>
                <a:cs typeface="Arial"/>
                <a:sym typeface="Arial"/>
              </a:rPr>
              <a:t>.</a:t>
            </a:r>
          </a:p>
          <a:p>
            <a:pPr defTabSz="1219170">
              <a:buClr>
                <a:srgbClr val="000000"/>
              </a:buClr>
            </a:pPr>
            <a:r>
              <a:rPr lang="en-US" sz="1867" kern="0" dirty="0">
                <a:solidFill>
                  <a:srgbClr val="000000"/>
                </a:solidFill>
                <a:latin typeface="Arial"/>
                <a:cs typeface="Arial"/>
                <a:sym typeface="Arial"/>
              </a:rPr>
              <a:t>Steps:</a:t>
            </a:r>
          </a:p>
          <a:p>
            <a:pPr defTabSz="1219170">
              <a:buClr>
                <a:srgbClr val="000000"/>
              </a:buClr>
              <a:buFont typeface="+mj-lt"/>
              <a:buAutoNum type="arabicPeriod"/>
            </a:pPr>
            <a:r>
              <a:rPr lang="en-US" sz="1867" kern="0" dirty="0">
                <a:solidFill>
                  <a:srgbClr val="000000"/>
                </a:solidFill>
                <a:latin typeface="Arial"/>
                <a:cs typeface="Arial"/>
                <a:sym typeface="Arial"/>
              </a:rPr>
              <a:t>Multiply inputs with weights</a:t>
            </a:r>
          </a:p>
          <a:p>
            <a:pPr defTabSz="1219170">
              <a:buClr>
                <a:srgbClr val="000000"/>
              </a:buClr>
              <a:buFont typeface="+mj-lt"/>
              <a:buAutoNum type="arabicPeriod"/>
            </a:pPr>
            <a:r>
              <a:rPr lang="en-US" sz="1867" kern="0" dirty="0">
                <a:solidFill>
                  <a:srgbClr val="000000"/>
                </a:solidFill>
                <a:latin typeface="Arial"/>
                <a:cs typeface="Arial"/>
                <a:sym typeface="Arial"/>
              </a:rPr>
              <a:t>Add bias</a:t>
            </a:r>
          </a:p>
          <a:p>
            <a:pPr defTabSz="1219170">
              <a:buClr>
                <a:srgbClr val="000000"/>
              </a:buClr>
              <a:buFont typeface="+mj-lt"/>
              <a:buAutoNum type="arabicPeriod"/>
            </a:pPr>
            <a:r>
              <a:rPr lang="en-US" sz="1867" kern="0" dirty="0">
                <a:solidFill>
                  <a:srgbClr val="000000"/>
                </a:solidFill>
                <a:latin typeface="Arial"/>
                <a:cs typeface="Arial"/>
                <a:sym typeface="Arial"/>
              </a:rPr>
              <a:t>Apply activation</a:t>
            </a:r>
          </a:p>
          <a:p>
            <a:pPr defTabSz="1219170">
              <a:buClr>
                <a:srgbClr val="000000"/>
              </a:buClr>
              <a:buFont typeface="+mj-lt"/>
              <a:buAutoNum type="arabicPeriod"/>
            </a:pPr>
            <a:r>
              <a:rPr lang="en-US" sz="1867" kern="0" dirty="0">
                <a:solidFill>
                  <a:srgbClr val="000000"/>
                </a:solidFill>
                <a:latin typeface="Arial"/>
                <a:cs typeface="Arial"/>
                <a:sym typeface="Arial"/>
              </a:rPr>
              <a:t>Produce prediction</a:t>
            </a:r>
          </a:p>
        </p:txBody>
      </p:sp>
      <p:pic>
        <p:nvPicPr>
          <p:cNvPr id="8" name="Picture 7"/>
          <p:cNvPicPr>
            <a:picLocks noChangeAspect="1"/>
          </p:cNvPicPr>
          <p:nvPr/>
        </p:nvPicPr>
        <p:blipFill>
          <a:blip r:embed="rId2"/>
          <a:stretch>
            <a:fillRect/>
          </a:stretch>
        </p:blipFill>
        <p:spPr>
          <a:xfrm>
            <a:off x="4208021" y="2938116"/>
            <a:ext cx="1958656" cy="1043757"/>
          </a:xfrm>
          <a:prstGeom prst="rect">
            <a:avLst/>
          </a:prstGeom>
        </p:spPr>
      </p:pic>
      <p:sp>
        <p:nvSpPr>
          <p:cNvPr id="9" name="Rectangle 8"/>
          <p:cNvSpPr/>
          <p:nvPr/>
        </p:nvSpPr>
        <p:spPr>
          <a:xfrm>
            <a:off x="1097282" y="4044109"/>
            <a:ext cx="1816523" cy="379656"/>
          </a:xfrm>
          <a:prstGeom prst="rect">
            <a:avLst/>
          </a:prstGeom>
        </p:spPr>
        <p:txBody>
          <a:bodyPr wrap="none">
            <a:spAutoFit/>
          </a:bodyPr>
          <a:lstStyle/>
          <a:p>
            <a:pPr defTabSz="1219170">
              <a:buClr>
                <a:srgbClr val="000000"/>
              </a:buClr>
            </a:pPr>
            <a:r>
              <a:rPr lang="en-US" sz="1867" b="1" kern="0" dirty="0">
                <a:solidFill>
                  <a:srgbClr val="000000"/>
                </a:solidFill>
                <a:latin typeface="Arial"/>
                <a:cs typeface="Arial"/>
                <a:sym typeface="Arial"/>
              </a:rPr>
              <a:t>Loss Function</a:t>
            </a:r>
          </a:p>
        </p:txBody>
      </p:sp>
      <p:sp>
        <p:nvSpPr>
          <p:cNvPr id="10" name="Rectangle 9"/>
          <p:cNvSpPr/>
          <p:nvPr/>
        </p:nvSpPr>
        <p:spPr>
          <a:xfrm>
            <a:off x="1816197" y="4368972"/>
            <a:ext cx="2977097"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Measures prediction error:</a:t>
            </a:r>
          </a:p>
        </p:txBody>
      </p:sp>
      <p:pic>
        <p:nvPicPr>
          <p:cNvPr id="11" name="Picture 10"/>
          <p:cNvPicPr>
            <a:picLocks noChangeAspect="1"/>
          </p:cNvPicPr>
          <p:nvPr/>
        </p:nvPicPr>
        <p:blipFill>
          <a:blip r:embed="rId3"/>
          <a:stretch>
            <a:fillRect/>
          </a:stretch>
        </p:blipFill>
        <p:spPr>
          <a:xfrm>
            <a:off x="4772691" y="4044110"/>
            <a:ext cx="2339685" cy="894961"/>
          </a:xfrm>
          <a:prstGeom prst="rect">
            <a:avLst/>
          </a:prstGeom>
        </p:spPr>
      </p:pic>
      <p:sp>
        <p:nvSpPr>
          <p:cNvPr id="12" name="Rectangle 3"/>
          <p:cNvSpPr>
            <a:spLocks noChangeArrowheads="1"/>
          </p:cNvSpPr>
          <p:nvPr/>
        </p:nvSpPr>
        <p:spPr bwMode="auto">
          <a:xfrm>
            <a:off x="951684" y="5001308"/>
            <a:ext cx="503316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spAutoFit/>
          </a:bodyPr>
          <a:lstStyle/>
          <a:p>
            <a:pPr defTabSz="1219170" eaLnBrk="0" fontAlgn="base" hangingPunct="0">
              <a:spcBef>
                <a:spcPct val="0"/>
              </a:spcBef>
              <a:spcAft>
                <a:spcPct val="0"/>
              </a:spcAft>
            </a:pPr>
            <a:r>
              <a:rPr lang="en-US" altLang="en-US" sz="2400" b="1" kern="0" dirty="0">
                <a:solidFill>
                  <a:prstClr val="black"/>
                </a:solidFill>
                <a:latin typeface="Arial" panose="020B0604020202020204" pitchFamily="34" charset="0"/>
                <a:cs typeface="Arial"/>
                <a:sym typeface="Arial"/>
              </a:rPr>
              <a:t>Goal:</a:t>
            </a:r>
          </a:p>
          <a:p>
            <a:pPr marL="0" lvl="1" defTabSz="1219170" eaLnBrk="0" fontAlgn="base" hangingPunct="0">
              <a:spcBef>
                <a:spcPct val="0"/>
              </a:spcBef>
              <a:spcAft>
                <a:spcPct val="0"/>
              </a:spcAft>
            </a:pPr>
            <a:r>
              <a:rPr lang="en-US" altLang="en-US" sz="2400" kern="0" dirty="0">
                <a:solidFill>
                  <a:prstClr val="black"/>
                </a:solidFill>
                <a:latin typeface="Arial" panose="020B0604020202020204" pitchFamily="34" charset="0"/>
                <a:cs typeface="Arial"/>
                <a:sym typeface="Arial"/>
              </a:rPr>
              <a:t>	Minimize loss</a:t>
            </a:r>
          </a:p>
        </p:txBody>
      </p:sp>
      <p:pic>
        <p:nvPicPr>
          <p:cNvPr id="13" name="Picture 12"/>
          <p:cNvPicPr>
            <a:picLocks noChangeAspect="1"/>
          </p:cNvPicPr>
          <p:nvPr/>
        </p:nvPicPr>
        <p:blipFill>
          <a:blip r:embed="rId4"/>
          <a:stretch>
            <a:fillRect/>
          </a:stretch>
        </p:blipFill>
        <p:spPr>
          <a:xfrm>
            <a:off x="7003856" y="2600363"/>
            <a:ext cx="4826104" cy="2290791"/>
          </a:xfrm>
          <a:prstGeom prst="rect">
            <a:avLst/>
          </a:prstGeom>
        </p:spPr>
      </p:pic>
    </p:spTree>
    <p:extLst>
      <p:ext uri="{BB962C8B-B14F-4D97-AF65-F5344CB8AC3E}">
        <p14:creationId xmlns:p14="http://schemas.microsoft.com/office/powerpoint/2010/main" val="108606725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B1DEA-B01E-6985-9032-3880B17A10E5}"/>
              </a:ext>
            </a:extLst>
          </p:cNvPr>
          <p:cNvSpPr>
            <a:spLocks noGrp="1"/>
          </p:cNvSpPr>
          <p:nvPr>
            <p:ph type="title"/>
          </p:nvPr>
        </p:nvSpPr>
        <p:spPr/>
        <p:txBody>
          <a:bodyPr/>
          <a:lstStyle/>
          <a:p>
            <a:endParaRPr lang="en-IN"/>
          </a:p>
        </p:txBody>
      </p:sp>
      <p:pic>
        <p:nvPicPr>
          <p:cNvPr id="8" name="Content Placeholder 7">
            <a:extLst>
              <a:ext uri="{FF2B5EF4-FFF2-40B4-BE49-F238E27FC236}">
                <a16:creationId xmlns:a16="http://schemas.microsoft.com/office/drawing/2014/main" id="{A0C56942-9E3F-FCCE-CAF1-81E2A922E07F}"/>
              </a:ext>
            </a:extLst>
          </p:cNvPr>
          <p:cNvPicPr>
            <a:picLocks noGrp="1" noChangeAspect="1"/>
          </p:cNvPicPr>
          <p:nvPr>
            <p:ph idx="1"/>
          </p:nvPr>
        </p:nvPicPr>
        <p:blipFill>
          <a:blip r:embed="rId2"/>
          <a:stretch>
            <a:fillRect/>
          </a:stretch>
        </p:blipFill>
        <p:spPr>
          <a:xfrm>
            <a:off x="2340282" y="2047875"/>
            <a:ext cx="7381261" cy="4022725"/>
          </a:xfrm>
          <a:prstGeom prst="rect">
            <a:avLst/>
          </a:prstGeom>
        </p:spPr>
      </p:pic>
      <p:sp>
        <p:nvSpPr>
          <p:cNvPr id="4" name="Date Placeholder 3">
            <a:extLst>
              <a:ext uri="{FF2B5EF4-FFF2-40B4-BE49-F238E27FC236}">
                <a16:creationId xmlns:a16="http://schemas.microsoft.com/office/drawing/2014/main" id="{E4EB73A3-56D9-BD1F-17E9-EDC47880D261}"/>
              </a:ext>
            </a:extLst>
          </p:cNvPr>
          <p:cNvSpPr>
            <a:spLocks noGrp="1"/>
          </p:cNvSpPr>
          <p:nvPr>
            <p:ph type="dt" sz="half" idx="10"/>
          </p:nvPr>
        </p:nvSpPr>
        <p:spPr/>
        <p:txBody>
          <a:bodyPr/>
          <a:lstStyle/>
          <a:p>
            <a:pPr defTabSz="1219170">
              <a:buClr>
                <a:srgbClr val="000000"/>
              </a:buClr>
            </a:pPr>
            <a:fld id="{831C3695-9198-4464-A836-1ADC0236D3D7}"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a:extLst>
              <a:ext uri="{FF2B5EF4-FFF2-40B4-BE49-F238E27FC236}">
                <a16:creationId xmlns:a16="http://schemas.microsoft.com/office/drawing/2014/main" id="{11DA36C1-BFB3-44D9-6DCC-A5E2D721B88E}"/>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58</a:t>
            </a:fld>
            <a:endParaRPr lang="en-US" kern="0" dirty="0">
              <a:latin typeface="Arial"/>
              <a:cs typeface="Arial"/>
              <a:sym typeface="Arial"/>
            </a:endParaRPr>
          </a:p>
        </p:txBody>
      </p:sp>
    </p:spTree>
    <p:extLst>
      <p:ext uri="{BB962C8B-B14F-4D97-AF65-F5344CB8AC3E}">
        <p14:creationId xmlns:p14="http://schemas.microsoft.com/office/powerpoint/2010/main" val="23570428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795F0-A59E-BFEC-31CD-9274AB89878D}"/>
              </a:ext>
            </a:extLst>
          </p:cNvPr>
          <p:cNvSpPr>
            <a:spLocks noGrp="1"/>
          </p:cNvSpPr>
          <p:nvPr>
            <p:ph type="title"/>
          </p:nvPr>
        </p:nvSpPr>
        <p:spPr/>
        <p:txBody>
          <a:bodyPr/>
          <a:lstStyle/>
          <a:p>
            <a:endParaRPr lang="en-IN"/>
          </a:p>
        </p:txBody>
      </p:sp>
      <p:pic>
        <p:nvPicPr>
          <p:cNvPr id="8" name="Content Placeholder 7">
            <a:extLst>
              <a:ext uri="{FF2B5EF4-FFF2-40B4-BE49-F238E27FC236}">
                <a16:creationId xmlns:a16="http://schemas.microsoft.com/office/drawing/2014/main" id="{069B0B70-5F20-593A-35FC-F11C29F612BF}"/>
              </a:ext>
            </a:extLst>
          </p:cNvPr>
          <p:cNvPicPr>
            <a:picLocks noGrp="1" noChangeAspect="1"/>
          </p:cNvPicPr>
          <p:nvPr>
            <p:ph idx="1"/>
          </p:nvPr>
        </p:nvPicPr>
        <p:blipFill>
          <a:blip r:embed="rId2"/>
          <a:stretch>
            <a:fillRect/>
          </a:stretch>
        </p:blipFill>
        <p:spPr>
          <a:xfrm>
            <a:off x="2034618" y="2206366"/>
            <a:ext cx="7992590" cy="3705742"/>
          </a:xfrm>
          <a:prstGeom prst="rect">
            <a:avLst/>
          </a:prstGeom>
        </p:spPr>
      </p:pic>
      <p:sp>
        <p:nvSpPr>
          <p:cNvPr id="4" name="Date Placeholder 3">
            <a:extLst>
              <a:ext uri="{FF2B5EF4-FFF2-40B4-BE49-F238E27FC236}">
                <a16:creationId xmlns:a16="http://schemas.microsoft.com/office/drawing/2014/main" id="{E284F8BA-225F-4C56-4363-E30EDF0A12C8}"/>
              </a:ext>
            </a:extLst>
          </p:cNvPr>
          <p:cNvSpPr>
            <a:spLocks noGrp="1"/>
          </p:cNvSpPr>
          <p:nvPr>
            <p:ph type="dt" sz="half" idx="10"/>
          </p:nvPr>
        </p:nvSpPr>
        <p:spPr/>
        <p:txBody>
          <a:bodyPr/>
          <a:lstStyle/>
          <a:p>
            <a:pPr defTabSz="1219170">
              <a:buClr>
                <a:srgbClr val="000000"/>
              </a:buClr>
            </a:pPr>
            <a:fld id="{F0E2EB56-F035-49CF-AC3C-E766B030578D}"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a:extLst>
              <a:ext uri="{FF2B5EF4-FFF2-40B4-BE49-F238E27FC236}">
                <a16:creationId xmlns:a16="http://schemas.microsoft.com/office/drawing/2014/main" id="{22048959-411C-B807-1121-7D3AE0EC2D69}"/>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59</a:t>
            </a:fld>
            <a:endParaRPr lang="en-US" kern="0" dirty="0">
              <a:latin typeface="Arial"/>
              <a:cs typeface="Arial"/>
              <a:sym typeface="Arial"/>
            </a:endParaRPr>
          </a:p>
        </p:txBody>
      </p:sp>
    </p:spTree>
    <p:extLst>
      <p:ext uri="{BB962C8B-B14F-4D97-AF65-F5344CB8AC3E}">
        <p14:creationId xmlns:p14="http://schemas.microsoft.com/office/powerpoint/2010/main" val="45510387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2"/>
              <p:cNvSpPr/>
              <p:nvPr/>
            </p:nvSpPr>
            <p:spPr>
              <a:xfrm>
                <a:off x="371765" y="1823522"/>
                <a:ext cx="7654280" cy="3778791"/>
              </a:xfrm>
              <a:prstGeom prst="rect">
                <a:avLst/>
              </a:prstGeom>
            </p:spPr>
            <p:txBody>
              <a:bodyPr wrap="square">
                <a:spAutoFit/>
              </a:bodyPr>
              <a:lstStyle/>
              <a:p>
                <a:pPr defTabSz="1219170">
                  <a:buClr>
                    <a:srgbClr val="000000"/>
                  </a:buClr>
                </a:pPr>
                <a:r>
                  <a:rPr lang="en-GB" sz="2400" kern="0" dirty="0">
                    <a:solidFill>
                      <a:srgbClr val="000000"/>
                    </a:solidFill>
                    <a:latin typeface="Arial" panose="020B0604020202020204" pitchFamily="34" charset="0"/>
                    <a:ea typeface="Calibri" panose="020F0502020204030204" pitchFamily="34" charset="0"/>
                    <a:cs typeface="Arial" panose="020B0604020202020204" pitchFamily="34" charset="0"/>
                    <a:sym typeface="Arial"/>
                  </a:rPr>
                  <a:t>We have data points in the form of {x</a:t>
                </a:r>
                <a:r>
                  <a:rPr lang="en-GB" sz="2400" kern="0" baseline="30000" dirty="0">
                    <a:solidFill>
                      <a:srgbClr val="000000"/>
                    </a:solidFill>
                    <a:latin typeface="Arial" panose="020B0604020202020204" pitchFamily="34" charset="0"/>
                    <a:ea typeface="Calibri" panose="020F0502020204030204" pitchFamily="34" charset="0"/>
                    <a:cs typeface="Arial" panose="020B0604020202020204" pitchFamily="34" charset="0"/>
                    <a:sym typeface="Arial"/>
                  </a:rPr>
                  <a:t>(</a:t>
                </a:r>
                <a:r>
                  <a:rPr lang="en-GB" sz="2400" kern="0" baseline="30000" dirty="0" err="1">
                    <a:solidFill>
                      <a:srgbClr val="000000"/>
                    </a:solidFill>
                    <a:latin typeface="Arial" panose="020B0604020202020204" pitchFamily="34" charset="0"/>
                    <a:ea typeface="Calibri" panose="020F0502020204030204" pitchFamily="34" charset="0"/>
                    <a:cs typeface="Arial" panose="020B0604020202020204" pitchFamily="34" charset="0"/>
                    <a:sym typeface="Arial"/>
                  </a:rPr>
                  <a:t>i</a:t>
                </a:r>
                <a:r>
                  <a:rPr lang="en-GB" sz="2400" kern="0" baseline="30000" dirty="0">
                    <a:solidFill>
                      <a:srgbClr val="000000"/>
                    </a:solidFill>
                    <a:latin typeface="Arial" panose="020B0604020202020204" pitchFamily="34" charset="0"/>
                    <a:ea typeface="Calibri" panose="020F0502020204030204" pitchFamily="34" charset="0"/>
                    <a:cs typeface="Arial" panose="020B0604020202020204" pitchFamily="34" charset="0"/>
                    <a:sym typeface="Arial"/>
                  </a:rPr>
                  <a:t>),</a:t>
                </a:r>
                <a:r>
                  <a:rPr lang="en-GB" sz="2400" kern="0" dirty="0">
                    <a:solidFill>
                      <a:srgbClr val="000000"/>
                    </a:solidFill>
                    <a:latin typeface="Arial" panose="020B0604020202020204" pitchFamily="34" charset="0"/>
                    <a:ea typeface="Calibri" panose="020F0502020204030204" pitchFamily="34" charset="0"/>
                    <a:cs typeface="Arial" panose="020B0604020202020204" pitchFamily="34" charset="0"/>
                    <a:sym typeface="Arial"/>
                  </a:rPr>
                  <a:t> y</a:t>
                </a:r>
                <a:r>
                  <a:rPr lang="en-GB" sz="2400" kern="0" baseline="30000" dirty="0">
                    <a:solidFill>
                      <a:srgbClr val="000000"/>
                    </a:solidFill>
                    <a:latin typeface="Arial" panose="020B0604020202020204" pitchFamily="34" charset="0"/>
                    <a:ea typeface="Calibri" panose="020F0502020204030204" pitchFamily="34" charset="0"/>
                    <a:cs typeface="Arial" panose="020B0604020202020204" pitchFamily="34" charset="0"/>
                    <a:sym typeface="Arial"/>
                  </a:rPr>
                  <a:t>(</a:t>
                </a:r>
                <a:r>
                  <a:rPr lang="en-GB" sz="2400" kern="0" baseline="30000" dirty="0" err="1">
                    <a:solidFill>
                      <a:srgbClr val="000000"/>
                    </a:solidFill>
                    <a:latin typeface="Arial" panose="020B0604020202020204" pitchFamily="34" charset="0"/>
                    <a:ea typeface="Calibri" panose="020F0502020204030204" pitchFamily="34" charset="0"/>
                    <a:cs typeface="Arial" panose="020B0604020202020204" pitchFamily="34" charset="0"/>
                    <a:sym typeface="Arial"/>
                  </a:rPr>
                  <a:t>i</a:t>
                </a:r>
                <a:r>
                  <a:rPr lang="en-GB" sz="2400" kern="0" baseline="30000" dirty="0">
                    <a:solidFill>
                      <a:srgbClr val="000000"/>
                    </a:solidFill>
                    <a:latin typeface="Arial" panose="020B0604020202020204" pitchFamily="34" charset="0"/>
                    <a:ea typeface="Calibri" panose="020F0502020204030204" pitchFamily="34" charset="0"/>
                    <a:cs typeface="Arial" panose="020B0604020202020204" pitchFamily="34" charset="0"/>
                    <a:sym typeface="Arial"/>
                  </a:rPr>
                  <a:t>)</a:t>
                </a:r>
                <a:r>
                  <a:rPr lang="en-GB" sz="2400" kern="0" dirty="0">
                    <a:solidFill>
                      <a:srgbClr val="000000"/>
                    </a:solidFill>
                    <a:latin typeface="Arial" panose="020B0604020202020204" pitchFamily="34" charset="0"/>
                    <a:ea typeface="Calibri" panose="020F0502020204030204" pitchFamily="34" charset="0"/>
                    <a:cs typeface="Arial" panose="020B0604020202020204" pitchFamily="34" charset="0"/>
                    <a:sym typeface="Arial"/>
                  </a:rPr>
                  <a:t>} where </a:t>
                </a:r>
                <a:r>
                  <a:rPr lang="en-GB" sz="2400" kern="0" dirty="0" err="1">
                    <a:solidFill>
                      <a:srgbClr val="000000"/>
                    </a:solidFill>
                    <a:latin typeface="Arial" panose="020B0604020202020204" pitchFamily="34" charset="0"/>
                    <a:ea typeface="Calibri" panose="020F0502020204030204" pitchFamily="34" charset="0"/>
                    <a:cs typeface="Arial" panose="020B0604020202020204" pitchFamily="34" charset="0"/>
                    <a:sym typeface="Arial"/>
                  </a:rPr>
                  <a:t>i</a:t>
                </a:r>
                <a:r>
                  <a:rPr lang="en-GB" sz="2400" kern="0" dirty="0">
                    <a:solidFill>
                      <a:srgbClr val="000000"/>
                    </a:solidFill>
                    <a:latin typeface="Arial" panose="020B0604020202020204" pitchFamily="34" charset="0"/>
                    <a:ea typeface="Calibri" panose="020F0502020204030204" pitchFamily="34" charset="0"/>
                    <a:cs typeface="Arial" panose="020B0604020202020204" pitchFamily="34" charset="0"/>
                    <a:sym typeface="Arial"/>
                  </a:rPr>
                  <a:t>=1, 2, 3,….m.</a:t>
                </a:r>
              </a:p>
              <a:p>
                <a:pPr defTabSz="1219170">
                  <a:buClr>
                    <a:srgbClr val="000000"/>
                  </a:buClr>
                </a:pPr>
                <a:endParaRPr lang="en-GB" sz="2400" kern="0" dirty="0">
                  <a:solidFill>
                    <a:srgbClr val="000000"/>
                  </a:solidFill>
                  <a:latin typeface="Arial"/>
                  <a:cs typeface="Arial"/>
                  <a:sym typeface="Arial"/>
                </a:endParaRPr>
              </a:p>
              <a:p>
                <a:pPr defTabSz="1219170">
                  <a:buClr>
                    <a:srgbClr val="000000"/>
                  </a:buClr>
                </a:pPr>
                <a:r>
                  <a:rPr lang="en-GB" sz="2400" kern="0" dirty="0">
                    <a:solidFill>
                      <a:srgbClr val="000000"/>
                    </a:solidFill>
                    <a:latin typeface="Arial"/>
                    <a:cs typeface="Arial"/>
                    <a:sym typeface="Arial"/>
                  </a:rPr>
                  <a:t>And our objective is to learn a hypothesis h(x</a:t>
                </a:r>
                <a:r>
                  <a:rPr lang="en-GB" sz="2400" kern="0" baseline="30000" dirty="0">
                    <a:solidFill>
                      <a:srgbClr val="000000"/>
                    </a:solidFill>
                    <a:latin typeface="Arial"/>
                    <a:cs typeface="Arial"/>
                    <a:sym typeface="Arial"/>
                  </a:rPr>
                  <a:t>(</a:t>
                </a:r>
                <a:r>
                  <a:rPr lang="en-GB" sz="2400" kern="0" baseline="30000" dirty="0" err="1">
                    <a:solidFill>
                      <a:srgbClr val="000000"/>
                    </a:solidFill>
                    <a:latin typeface="Arial"/>
                    <a:cs typeface="Arial"/>
                    <a:sym typeface="Arial"/>
                  </a:rPr>
                  <a:t>i</a:t>
                </a:r>
                <a:r>
                  <a:rPr lang="en-GB" sz="2400" kern="0" baseline="30000" dirty="0">
                    <a:solidFill>
                      <a:srgbClr val="000000"/>
                    </a:solidFill>
                    <a:latin typeface="Arial"/>
                    <a:cs typeface="Arial"/>
                    <a:sym typeface="Arial"/>
                  </a:rPr>
                  <a:t>)</a:t>
                </a:r>
                <a:r>
                  <a:rPr lang="en-GB" sz="2400" kern="0" dirty="0">
                    <a:solidFill>
                      <a:srgbClr val="000000"/>
                    </a:solidFill>
                    <a:latin typeface="Arial"/>
                    <a:cs typeface="Arial"/>
                    <a:sym typeface="Arial"/>
                  </a:rPr>
                  <a:t>)=</a:t>
                </a:r>
                <a:r>
                  <a:rPr lang="en-GB" sz="2400" kern="0" dirty="0" err="1">
                    <a:solidFill>
                      <a:srgbClr val="000000"/>
                    </a:solidFill>
                    <a:latin typeface="Arial"/>
                    <a:cs typeface="Arial"/>
                    <a:sym typeface="Arial"/>
                  </a:rPr>
                  <a:t>a+bx</a:t>
                </a:r>
                <a:r>
                  <a:rPr lang="en-GB" sz="2400" kern="0" dirty="0">
                    <a:solidFill>
                      <a:srgbClr val="000000"/>
                    </a:solidFill>
                    <a:latin typeface="Arial"/>
                    <a:cs typeface="Arial"/>
                    <a:sym typeface="Arial"/>
                  </a:rPr>
                  <a:t>  or </a:t>
                </a:r>
                <a:r>
                  <a:rPr lang="en-GB" sz="2400" kern="0" dirty="0" err="1">
                    <a:solidFill>
                      <a:srgbClr val="000000"/>
                    </a:solidFill>
                    <a:latin typeface="Arial"/>
                    <a:cs typeface="Arial"/>
                    <a:sym typeface="Arial"/>
                  </a:rPr>
                  <a:t>h</a:t>
                </a:r>
                <a:r>
                  <a:rPr lang="en-GB" sz="2400" kern="0" baseline="-25000" dirty="0" err="1">
                    <a:solidFill>
                      <a:srgbClr val="000000"/>
                    </a:solidFill>
                    <a:latin typeface="Arial"/>
                    <a:cs typeface="Arial"/>
                    <a:sym typeface="Arial"/>
                  </a:rPr>
                  <a:t>θ</a:t>
                </a:r>
                <a:r>
                  <a:rPr lang="en-GB" sz="2400" kern="0" dirty="0">
                    <a:solidFill>
                      <a:srgbClr val="000000"/>
                    </a:solidFill>
                    <a:latin typeface="Arial"/>
                    <a:cs typeface="Arial"/>
                    <a:sym typeface="Arial"/>
                  </a:rPr>
                  <a:t>(x</a:t>
                </a:r>
                <a:r>
                  <a:rPr lang="en-GB" sz="2400" kern="0" baseline="30000" dirty="0">
                    <a:solidFill>
                      <a:srgbClr val="000000"/>
                    </a:solidFill>
                    <a:latin typeface="Arial"/>
                    <a:cs typeface="Arial"/>
                    <a:sym typeface="Arial"/>
                  </a:rPr>
                  <a:t>(</a:t>
                </a:r>
                <a:r>
                  <a:rPr lang="en-GB" sz="2400" kern="0" baseline="30000" dirty="0" err="1">
                    <a:solidFill>
                      <a:srgbClr val="000000"/>
                    </a:solidFill>
                    <a:latin typeface="Arial"/>
                    <a:cs typeface="Arial"/>
                    <a:sym typeface="Arial"/>
                  </a:rPr>
                  <a:t>i</a:t>
                </a:r>
                <a:r>
                  <a:rPr lang="en-GB" sz="2400" kern="0" baseline="30000" dirty="0">
                    <a:solidFill>
                      <a:srgbClr val="000000"/>
                    </a:solidFill>
                    <a:latin typeface="Arial"/>
                    <a:cs typeface="Arial"/>
                    <a:sym typeface="Arial"/>
                  </a:rPr>
                  <a:t>)</a:t>
                </a:r>
                <a:r>
                  <a:rPr lang="en-GB" sz="2400" kern="0" dirty="0">
                    <a:solidFill>
                      <a:srgbClr val="000000"/>
                    </a:solidFill>
                    <a:latin typeface="Arial"/>
                    <a:cs typeface="Arial"/>
                    <a:sym typeface="Arial"/>
                  </a:rPr>
                  <a:t>)= θ</a:t>
                </a:r>
                <a:r>
                  <a:rPr lang="en-GB" sz="2400" kern="0" baseline="-25000" dirty="0">
                    <a:solidFill>
                      <a:srgbClr val="000000"/>
                    </a:solidFill>
                    <a:latin typeface="Arial"/>
                    <a:cs typeface="Arial"/>
                    <a:sym typeface="Arial"/>
                  </a:rPr>
                  <a:t>0</a:t>
                </a:r>
                <a:r>
                  <a:rPr lang="en-GB" sz="2400" kern="0" dirty="0">
                    <a:solidFill>
                      <a:srgbClr val="000000"/>
                    </a:solidFill>
                    <a:latin typeface="Arial"/>
                    <a:cs typeface="Arial"/>
                    <a:sym typeface="Arial"/>
                  </a:rPr>
                  <a:t>+θ</a:t>
                </a:r>
                <a:r>
                  <a:rPr lang="en-GB" sz="2400" kern="0" baseline="-25000" dirty="0">
                    <a:solidFill>
                      <a:srgbClr val="000000"/>
                    </a:solidFill>
                    <a:latin typeface="Arial"/>
                    <a:cs typeface="Arial"/>
                    <a:sym typeface="Arial"/>
                  </a:rPr>
                  <a:t>1</a:t>
                </a:r>
                <a:r>
                  <a:rPr lang="en-GB" sz="2400" kern="0" dirty="0">
                    <a:solidFill>
                      <a:srgbClr val="000000"/>
                    </a:solidFill>
                    <a:latin typeface="Arial"/>
                    <a:cs typeface="Arial"/>
                    <a:sym typeface="Arial"/>
                  </a:rPr>
                  <a:t>x</a:t>
                </a:r>
                <a:r>
                  <a:rPr lang="en-GB" sz="2400" kern="0" baseline="30000" dirty="0">
                    <a:solidFill>
                      <a:srgbClr val="000000"/>
                    </a:solidFill>
                    <a:latin typeface="Arial"/>
                    <a:cs typeface="Arial"/>
                    <a:sym typeface="Arial"/>
                  </a:rPr>
                  <a:t>(</a:t>
                </a:r>
                <a:r>
                  <a:rPr lang="en-GB" sz="2400" kern="0" baseline="30000" dirty="0" err="1">
                    <a:solidFill>
                      <a:srgbClr val="000000"/>
                    </a:solidFill>
                    <a:latin typeface="Arial"/>
                    <a:cs typeface="Arial"/>
                    <a:sym typeface="Arial"/>
                  </a:rPr>
                  <a:t>i</a:t>
                </a:r>
                <a:r>
                  <a:rPr lang="en-GB" sz="2400" kern="0" baseline="30000" dirty="0">
                    <a:solidFill>
                      <a:srgbClr val="000000"/>
                    </a:solidFill>
                    <a:latin typeface="Arial"/>
                    <a:cs typeface="Arial"/>
                    <a:sym typeface="Arial"/>
                  </a:rPr>
                  <a:t>)</a:t>
                </a:r>
                <a:endParaRPr lang="en-GB" sz="2400" kern="0" dirty="0">
                  <a:solidFill>
                    <a:srgbClr val="000000"/>
                  </a:solidFill>
                  <a:latin typeface="Arial"/>
                  <a:cs typeface="Arial"/>
                  <a:sym typeface="Arial"/>
                </a:endParaRPr>
              </a:p>
              <a:p>
                <a:pPr defTabSz="1219170">
                  <a:buClr>
                    <a:srgbClr val="000000"/>
                  </a:buClr>
                </a:pPr>
                <a:endParaRPr lang="en-GB" sz="2400" kern="0" dirty="0">
                  <a:solidFill>
                    <a:srgbClr val="000000"/>
                  </a:solidFill>
                  <a:latin typeface="Arial"/>
                  <a:cs typeface="Arial"/>
                  <a:sym typeface="Arial"/>
                </a:endParaRPr>
              </a:p>
              <a:p>
                <a:pPr defTabSz="1219170">
                  <a:buClr>
                    <a:srgbClr val="000000"/>
                  </a:buClr>
                </a:pPr>
                <a:r>
                  <a:rPr lang="en-GB" sz="2400" kern="0" dirty="0">
                    <a:solidFill>
                      <a:srgbClr val="000000"/>
                    </a:solidFill>
                    <a:latin typeface="Arial"/>
                    <a:cs typeface="Arial"/>
                    <a:sym typeface="Arial"/>
                  </a:rPr>
                  <a:t>Subject to minimized cost function </a:t>
                </a:r>
              </a:p>
              <a:p>
                <a:pPr defTabSz="1219170">
                  <a:buClr>
                    <a:srgbClr val="000000"/>
                  </a:buClr>
                </a:pPr>
                <a14:m>
                  <m:oMath xmlns:m="http://schemas.openxmlformats.org/officeDocument/2006/math">
                    <m:r>
                      <a:rPr lang="en-GB" sz="1867" i="1" kern="0">
                        <a:solidFill>
                          <a:srgbClr val="000000"/>
                        </a:solidFill>
                        <a:latin typeface="Cambria Math" panose="02040503050406030204" pitchFamily="18" charset="0"/>
                        <a:sym typeface="Arial"/>
                      </a:rPr>
                      <m:t>𝐽</m:t>
                    </m:r>
                    <m:r>
                      <a:rPr lang="en-GB" sz="1867" i="1" kern="0">
                        <a:solidFill>
                          <a:srgbClr val="000000"/>
                        </a:solidFill>
                        <a:latin typeface="Cambria Math" panose="02040503050406030204" pitchFamily="18" charset="0"/>
                        <a:sym typeface="Arial"/>
                      </a:rPr>
                      <m:t> </m:t>
                    </m:r>
                    <m:d>
                      <m:dPr>
                        <m:ctrlPr>
                          <a:rPr lang="en-GB" sz="1867" i="1" kern="0">
                            <a:solidFill>
                              <a:srgbClr val="000000"/>
                            </a:solidFill>
                            <a:latin typeface="Cambria Math" panose="02040503050406030204" pitchFamily="18" charset="0"/>
                            <a:sym typeface="Arial"/>
                          </a:rPr>
                        </m:ctrlPr>
                      </m:dPr>
                      <m:e>
                        <m:sSub>
                          <m:sSubPr>
                            <m:ctrlPr>
                              <a:rPr lang="en-GB" sz="1867" i="1" kern="0">
                                <a:solidFill>
                                  <a:srgbClr val="000000"/>
                                </a:solidFill>
                                <a:latin typeface="Cambria Math" panose="02040503050406030204" pitchFamily="18" charset="0"/>
                                <a:sym typeface="Arial"/>
                              </a:rPr>
                            </m:ctrlPr>
                          </m:sSubPr>
                          <m:e>
                            <m:r>
                              <a:rPr lang="en-GB" sz="1867" i="1" kern="0">
                                <a:solidFill>
                                  <a:srgbClr val="000000"/>
                                </a:solidFill>
                                <a:latin typeface="Cambria Math" panose="02040503050406030204" pitchFamily="18" charset="0"/>
                                <a:sym typeface="Arial"/>
                              </a:rPr>
                              <m:t>𝜃</m:t>
                            </m:r>
                          </m:e>
                          <m:sub>
                            <m:r>
                              <a:rPr lang="en-GB" sz="1867" i="1" kern="0">
                                <a:solidFill>
                                  <a:srgbClr val="000000"/>
                                </a:solidFill>
                                <a:latin typeface="Cambria Math" panose="02040503050406030204" pitchFamily="18" charset="0"/>
                                <a:sym typeface="Arial"/>
                              </a:rPr>
                              <m:t>1</m:t>
                            </m:r>
                          </m:sub>
                        </m:sSub>
                        <m:r>
                          <a:rPr lang="en-GB" sz="1867" i="1" kern="0">
                            <a:solidFill>
                              <a:srgbClr val="000000"/>
                            </a:solidFill>
                            <a:latin typeface="Cambria Math" panose="02040503050406030204" pitchFamily="18" charset="0"/>
                            <a:sym typeface="Arial"/>
                          </a:rPr>
                          <m:t>,</m:t>
                        </m:r>
                        <m:sSub>
                          <m:sSubPr>
                            <m:ctrlPr>
                              <a:rPr lang="en-GB" sz="1867" i="1" kern="0">
                                <a:solidFill>
                                  <a:srgbClr val="000000"/>
                                </a:solidFill>
                                <a:latin typeface="Cambria Math" panose="02040503050406030204" pitchFamily="18" charset="0"/>
                                <a:sym typeface="Arial"/>
                              </a:rPr>
                            </m:ctrlPr>
                          </m:sSubPr>
                          <m:e>
                            <m:r>
                              <a:rPr lang="en-GB" sz="1867" i="1" kern="0">
                                <a:solidFill>
                                  <a:srgbClr val="000000"/>
                                </a:solidFill>
                                <a:latin typeface="Cambria Math" panose="02040503050406030204" pitchFamily="18" charset="0"/>
                                <a:sym typeface="Arial"/>
                              </a:rPr>
                              <m:t>𝜃</m:t>
                            </m:r>
                          </m:e>
                          <m:sub>
                            <m:r>
                              <a:rPr lang="en-GB" sz="1867" i="1" kern="0">
                                <a:solidFill>
                                  <a:srgbClr val="000000"/>
                                </a:solidFill>
                                <a:latin typeface="Cambria Math" panose="02040503050406030204" pitchFamily="18" charset="0"/>
                                <a:sym typeface="Arial"/>
                              </a:rPr>
                              <m:t>2</m:t>
                            </m:r>
                          </m:sub>
                        </m:sSub>
                        <m:r>
                          <a:rPr lang="en-GB" sz="1867" i="1" kern="0">
                            <a:solidFill>
                              <a:srgbClr val="000000"/>
                            </a:solidFill>
                            <a:latin typeface="Cambria Math" panose="02040503050406030204" pitchFamily="18" charset="0"/>
                            <a:sym typeface="Arial"/>
                          </a:rPr>
                          <m:t> </m:t>
                        </m:r>
                      </m:e>
                    </m:d>
                    <m:r>
                      <a:rPr lang="en-GB" sz="1867" i="1" kern="0">
                        <a:solidFill>
                          <a:srgbClr val="000000"/>
                        </a:solidFill>
                        <a:latin typeface="Cambria Math" panose="02040503050406030204" pitchFamily="18" charset="0"/>
                        <a:sym typeface="Arial"/>
                      </a:rPr>
                      <m:t>=</m:t>
                    </m:r>
                    <m:f>
                      <m:fPr>
                        <m:ctrlPr>
                          <a:rPr lang="en-GB" sz="1867" i="1" kern="0">
                            <a:solidFill>
                              <a:srgbClr val="000000"/>
                            </a:solidFill>
                            <a:latin typeface="Cambria Math" panose="02040503050406030204" pitchFamily="18" charset="0"/>
                            <a:sym typeface="Arial"/>
                          </a:rPr>
                        </m:ctrlPr>
                      </m:fPr>
                      <m:num>
                        <m:r>
                          <a:rPr lang="en-GB" sz="1867" i="1" kern="0">
                            <a:solidFill>
                              <a:srgbClr val="000000"/>
                            </a:solidFill>
                            <a:latin typeface="Cambria Math" panose="02040503050406030204" pitchFamily="18" charset="0"/>
                            <a:sym typeface="Arial"/>
                          </a:rPr>
                          <m:t>1</m:t>
                        </m:r>
                      </m:num>
                      <m:den>
                        <m:r>
                          <a:rPr lang="en-GB" sz="1867" i="1" kern="0">
                            <a:solidFill>
                              <a:srgbClr val="000000"/>
                            </a:solidFill>
                            <a:latin typeface="Cambria Math" panose="02040503050406030204" pitchFamily="18" charset="0"/>
                            <a:sym typeface="Arial"/>
                          </a:rPr>
                          <m:t>2</m:t>
                        </m:r>
                        <m:r>
                          <a:rPr lang="en-GB" sz="1867" i="1" kern="0">
                            <a:solidFill>
                              <a:srgbClr val="000000"/>
                            </a:solidFill>
                            <a:latin typeface="Cambria Math" panose="02040503050406030204" pitchFamily="18" charset="0"/>
                            <a:sym typeface="Arial"/>
                          </a:rPr>
                          <m:t>𝑚</m:t>
                        </m:r>
                      </m:den>
                    </m:f>
                    <m:nary>
                      <m:naryPr>
                        <m:chr m:val="∑"/>
                        <m:limLoc m:val="undOvr"/>
                        <m:ctrlPr>
                          <a:rPr lang="en-GB" sz="1867" i="1" kern="0">
                            <a:solidFill>
                              <a:srgbClr val="000000"/>
                            </a:solidFill>
                            <a:latin typeface="Cambria Math" panose="02040503050406030204" pitchFamily="18" charset="0"/>
                            <a:sym typeface="Arial"/>
                          </a:rPr>
                        </m:ctrlPr>
                      </m:naryPr>
                      <m:sub>
                        <m:r>
                          <a:rPr lang="en-GB" sz="1867" i="1" kern="0">
                            <a:solidFill>
                              <a:srgbClr val="000000"/>
                            </a:solidFill>
                            <a:latin typeface="Cambria Math" panose="02040503050406030204" pitchFamily="18" charset="0"/>
                            <a:sym typeface="Arial"/>
                          </a:rPr>
                          <m:t>𝑖</m:t>
                        </m:r>
                        <m:r>
                          <a:rPr lang="en-GB" sz="1867" i="1" kern="0">
                            <a:solidFill>
                              <a:srgbClr val="000000"/>
                            </a:solidFill>
                            <a:latin typeface="Cambria Math" panose="02040503050406030204" pitchFamily="18" charset="0"/>
                            <a:sym typeface="Arial"/>
                          </a:rPr>
                          <m:t>=1</m:t>
                        </m:r>
                      </m:sub>
                      <m:sup>
                        <m:r>
                          <a:rPr lang="en-GB" sz="1867" i="1" kern="0">
                            <a:solidFill>
                              <a:srgbClr val="000000"/>
                            </a:solidFill>
                            <a:latin typeface="Cambria Math" panose="02040503050406030204" pitchFamily="18" charset="0"/>
                            <a:sym typeface="Arial"/>
                          </a:rPr>
                          <m:t>𝑚</m:t>
                        </m:r>
                      </m:sup>
                      <m:e>
                        <m:d>
                          <m:dPr>
                            <m:ctrlPr>
                              <a:rPr lang="en-GB" sz="1867" i="1" kern="0">
                                <a:solidFill>
                                  <a:srgbClr val="000000"/>
                                </a:solidFill>
                                <a:latin typeface="Cambria Math" panose="02040503050406030204" pitchFamily="18" charset="0"/>
                                <a:sym typeface="Arial"/>
                              </a:rPr>
                            </m:ctrlPr>
                          </m:dPr>
                          <m:e>
                            <m:sSub>
                              <m:sSubPr>
                                <m:ctrlPr>
                                  <a:rPr lang="en-GB" sz="1867" i="1" kern="0">
                                    <a:solidFill>
                                      <a:srgbClr val="000000"/>
                                    </a:solidFill>
                                    <a:latin typeface="Cambria Math" panose="02040503050406030204" pitchFamily="18" charset="0"/>
                                    <a:sym typeface="Arial"/>
                                  </a:rPr>
                                </m:ctrlPr>
                              </m:sSubPr>
                              <m:e>
                                <m:r>
                                  <a:rPr lang="en-GB" sz="1867" i="1" kern="0">
                                    <a:solidFill>
                                      <a:srgbClr val="000000"/>
                                    </a:solidFill>
                                    <a:latin typeface="Cambria Math" panose="02040503050406030204" pitchFamily="18" charset="0"/>
                                    <a:sym typeface="Arial"/>
                                  </a:rPr>
                                  <m:t>ℎ</m:t>
                                </m:r>
                              </m:e>
                              <m:sub>
                                <m:r>
                                  <a:rPr lang="en-GB" sz="1867" i="1" kern="0">
                                    <a:solidFill>
                                      <a:srgbClr val="000000"/>
                                    </a:solidFill>
                                    <a:latin typeface="Cambria Math" panose="02040503050406030204" pitchFamily="18" charset="0"/>
                                    <a:sym typeface="Arial"/>
                                  </a:rPr>
                                  <m:t>𝜃</m:t>
                                </m:r>
                              </m:sub>
                            </m:sSub>
                            <m:d>
                              <m:dPr>
                                <m:ctrlPr>
                                  <a:rPr lang="en-GB" sz="1867" i="1" kern="0">
                                    <a:solidFill>
                                      <a:srgbClr val="000000"/>
                                    </a:solidFill>
                                    <a:latin typeface="Cambria Math" panose="02040503050406030204" pitchFamily="18" charset="0"/>
                                    <a:sym typeface="Arial"/>
                                  </a:rPr>
                                </m:ctrlPr>
                              </m:dPr>
                              <m:e>
                                <m:sSup>
                                  <m:sSupPr>
                                    <m:ctrlPr>
                                      <a:rPr lang="en-GB" sz="1867" i="1" kern="0">
                                        <a:solidFill>
                                          <a:srgbClr val="000000"/>
                                        </a:solidFill>
                                        <a:latin typeface="Cambria Math" panose="02040503050406030204" pitchFamily="18" charset="0"/>
                                        <a:sym typeface="Arial"/>
                                      </a:rPr>
                                    </m:ctrlPr>
                                  </m:sSupPr>
                                  <m:e>
                                    <m:r>
                                      <a:rPr lang="en-GB" sz="1867" i="1" kern="0">
                                        <a:solidFill>
                                          <a:srgbClr val="000000"/>
                                        </a:solidFill>
                                        <a:latin typeface="Cambria Math" panose="02040503050406030204" pitchFamily="18" charset="0"/>
                                        <a:sym typeface="Arial"/>
                                      </a:rPr>
                                      <m:t>𝑥</m:t>
                                    </m:r>
                                  </m:e>
                                  <m:sup>
                                    <m:r>
                                      <a:rPr lang="en-GB" sz="1867" i="1" kern="0">
                                        <a:solidFill>
                                          <a:srgbClr val="000000"/>
                                        </a:solidFill>
                                        <a:latin typeface="Cambria Math" panose="02040503050406030204" pitchFamily="18" charset="0"/>
                                        <a:sym typeface="Arial"/>
                                      </a:rPr>
                                      <m:t>(</m:t>
                                    </m:r>
                                    <m:r>
                                      <a:rPr lang="en-GB" sz="1867" i="1" kern="0">
                                        <a:solidFill>
                                          <a:srgbClr val="000000"/>
                                        </a:solidFill>
                                        <a:latin typeface="Cambria Math" panose="02040503050406030204" pitchFamily="18" charset="0"/>
                                        <a:sym typeface="Arial"/>
                                      </a:rPr>
                                      <m:t>𝑖</m:t>
                                    </m:r>
                                    <m:r>
                                      <a:rPr lang="en-GB" sz="1867" i="1" kern="0">
                                        <a:solidFill>
                                          <a:srgbClr val="000000"/>
                                        </a:solidFill>
                                        <a:latin typeface="Cambria Math" panose="02040503050406030204" pitchFamily="18" charset="0"/>
                                        <a:sym typeface="Arial"/>
                                      </a:rPr>
                                      <m:t>)</m:t>
                                    </m:r>
                                  </m:sup>
                                </m:sSup>
                              </m:e>
                            </m:d>
                            <m:r>
                              <a:rPr lang="en-GB" sz="1867" i="1" kern="0">
                                <a:solidFill>
                                  <a:srgbClr val="000000"/>
                                </a:solidFill>
                                <a:latin typeface="Cambria Math" panose="02040503050406030204" pitchFamily="18" charset="0"/>
                                <a:sym typeface="Arial"/>
                              </a:rPr>
                              <m:t>−</m:t>
                            </m:r>
                            <m:sSup>
                              <m:sSupPr>
                                <m:ctrlPr>
                                  <a:rPr lang="en-GB" sz="1867" i="1" kern="0">
                                    <a:solidFill>
                                      <a:srgbClr val="000000"/>
                                    </a:solidFill>
                                    <a:latin typeface="Cambria Math" panose="02040503050406030204" pitchFamily="18" charset="0"/>
                                    <a:sym typeface="Arial"/>
                                  </a:rPr>
                                </m:ctrlPr>
                              </m:sSupPr>
                              <m:e>
                                <m:r>
                                  <a:rPr lang="en-GB" sz="1867" i="1" kern="0">
                                    <a:solidFill>
                                      <a:srgbClr val="000000"/>
                                    </a:solidFill>
                                    <a:latin typeface="Cambria Math" panose="02040503050406030204" pitchFamily="18" charset="0"/>
                                    <a:sym typeface="Arial"/>
                                  </a:rPr>
                                  <m:t>𝑦</m:t>
                                </m:r>
                              </m:e>
                              <m:sup>
                                <m:r>
                                  <a:rPr lang="en-GB" sz="1867" i="1" kern="0">
                                    <a:solidFill>
                                      <a:srgbClr val="000000"/>
                                    </a:solidFill>
                                    <a:latin typeface="Cambria Math" panose="02040503050406030204" pitchFamily="18" charset="0"/>
                                    <a:sym typeface="Arial"/>
                                  </a:rPr>
                                  <m:t>(</m:t>
                                </m:r>
                                <m:r>
                                  <a:rPr lang="en-GB" sz="1867" i="1" kern="0">
                                    <a:solidFill>
                                      <a:srgbClr val="000000"/>
                                    </a:solidFill>
                                    <a:latin typeface="Cambria Math" panose="02040503050406030204" pitchFamily="18" charset="0"/>
                                    <a:sym typeface="Arial"/>
                                  </a:rPr>
                                  <m:t>𝑖</m:t>
                                </m:r>
                                <m:r>
                                  <a:rPr lang="en-GB" sz="1867" i="1" kern="0">
                                    <a:solidFill>
                                      <a:srgbClr val="000000"/>
                                    </a:solidFill>
                                    <a:latin typeface="Cambria Math" panose="02040503050406030204" pitchFamily="18" charset="0"/>
                                    <a:sym typeface="Arial"/>
                                  </a:rPr>
                                  <m:t>)</m:t>
                                </m:r>
                              </m:sup>
                            </m:sSup>
                          </m:e>
                        </m:d>
                      </m:e>
                    </m:nary>
                  </m:oMath>
                </a14:m>
                <a:r>
                  <a:rPr lang="en-GB" sz="1867" kern="0" baseline="30000" dirty="0">
                    <a:solidFill>
                      <a:srgbClr val="000000"/>
                    </a:solidFill>
                    <a:latin typeface="Arial"/>
                    <a:cs typeface="Arial"/>
                    <a:sym typeface="Arial"/>
                  </a:rPr>
                  <a:t>2</a:t>
                </a:r>
              </a:p>
              <a:p>
                <a:pPr defTabSz="1219170">
                  <a:buClr>
                    <a:srgbClr val="000000"/>
                  </a:buClr>
                </a:pPr>
                <a:r>
                  <a:rPr lang="en-GB" sz="1867" kern="0" dirty="0">
                    <a:solidFill>
                      <a:srgbClr val="000000"/>
                    </a:solidFill>
                    <a:latin typeface="Arial"/>
                    <a:cs typeface="Arial"/>
                    <a:sym typeface="Arial"/>
                  </a:rPr>
                  <a:t>Or</a:t>
                </a:r>
              </a:p>
              <a:p>
                <a:pPr defTabSz="1219170">
                  <a:buClr>
                    <a:srgbClr val="000000"/>
                  </a:buClr>
                </a:pPr>
                <a14:m>
                  <m:oMath xmlns:m="http://schemas.openxmlformats.org/officeDocument/2006/math">
                    <m:r>
                      <a:rPr lang="en-GB" sz="1867" i="1" kern="0">
                        <a:solidFill>
                          <a:srgbClr val="000000"/>
                        </a:solidFill>
                        <a:latin typeface="Cambria Math" panose="02040503050406030204" pitchFamily="18" charset="0"/>
                        <a:sym typeface="Arial"/>
                      </a:rPr>
                      <m:t>𝐽</m:t>
                    </m:r>
                    <m:r>
                      <a:rPr lang="en-GB" sz="1867" i="1" kern="0">
                        <a:solidFill>
                          <a:srgbClr val="000000"/>
                        </a:solidFill>
                        <a:latin typeface="Cambria Math" panose="02040503050406030204" pitchFamily="18" charset="0"/>
                        <a:sym typeface="Arial"/>
                      </a:rPr>
                      <m:t> </m:t>
                    </m:r>
                    <m:d>
                      <m:dPr>
                        <m:ctrlPr>
                          <a:rPr lang="en-GB" sz="1867" i="1" kern="0">
                            <a:solidFill>
                              <a:srgbClr val="000000"/>
                            </a:solidFill>
                            <a:latin typeface="Cambria Math" panose="02040503050406030204" pitchFamily="18" charset="0"/>
                            <a:sym typeface="Arial"/>
                          </a:rPr>
                        </m:ctrlPr>
                      </m:dPr>
                      <m:e>
                        <m:sSub>
                          <m:sSubPr>
                            <m:ctrlPr>
                              <a:rPr lang="en-GB" sz="1867" i="1" kern="0">
                                <a:solidFill>
                                  <a:srgbClr val="000000"/>
                                </a:solidFill>
                                <a:latin typeface="Cambria Math" panose="02040503050406030204" pitchFamily="18" charset="0"/>
                                <a:sym typeface="Arial"/>
                              </a:rPr>
                            </m:ctrlPr>
                          </m:sSubPr>
                          <m:e>
                            <m:r>
                              <a:rPr lang="en-GB" sz="1867" i="1" kern="0">
                                <a:solidFill>
                                  <a:srgbClr val="000000"/>
                                </a:solidFill>
                                <a:latin typeface="Cambria Math" panose="02040503050406030204" pitchFamily="18" charset="0"/>
                                <a:sym typeface="Arial"/>
                              </a:rPr>
                              <m:t>𝜃</m:t>
                            </m:r>
                          </m:e>
                          <m:sub>
                            <m:r>
                              <a:rPr lang="en-GB" sz="1867" i="1" kern="0">
                                <a:solidFill>
                                  <a:srgbClr val="000000"/>
                                </a:solidFill>
                                <a:latin typeface="Cambria Math" panose="02040503050406030204" pitchFamily="18" charset="0"/>
                                <a:sym typeface="Arial"/>
                              </a:rPr>
                              <m:t>1</m:t>
                            </m:r>
                          </m:sub>
                        </m:sSub>
                        <m:r>
                          <a:rPr lang="en-GB" sz="1867" i="1" kern="0">
                            <a:solidFill>
                              <a:srgbClr val="000000"/>
                            </a:solidFill>
                            <a:latin typeface="Cambria Math" panose="02040503050406030204" pitchFamily="18" charset="0"/>
                            <a:sym typeface="Arial"/>
                          </a:rPr>
                          <m:t>,</m:t>
                        </m:r>
                        <m:sSub>
                          <m:sSubPr>
                            <m:ctrlPr>
                              <a:rPr lang="en-GB" sz="1867" i="1" kern="0">
                                <a:solidFill>
                                  <a:srgbClr val="000000"/>
                                </a:solidFill>
                                <a:latin typeface="Cambria Math" panose="02040503050406030204" pitchFamily="18" charset="0"/>
                                <a:sym typeface="Arial"/>
                              </a:rPr>
                            </m:ctrlPr>
                          </m:sSubPr>
                          <m:e>
                            <m:r>
                              <a:rPr lang="en-GB" sz="1867" i="1" kern="0">
                                <a:solidFill>
                                  <a:srgbClr val="000000"/>
                                </a:solidFill>
                                <a:latin typeface="Cambria Math" panose="02040503050406030204" pitchFamily="18" charset="0"/>
                                <a:sym typeface="Arial"/>
                              </a:rPr>
                              <m:t>𝜃</m:t>
                            </m:r>
                          </m:e>
                          <m:sub>
                            <m:r>
                              <a:rPr lang="en-GB" sz="1867" i="1" kern="0">
                                <a:solidFill>
                                  <a:srgbClr val="000000"/>
                                </a:solidFill>
                                <a:latin typeface="Cambria Math" panose="02040503050406030204" pitchFamily="18" charset="0"/>
                                <a:sym typeface="Arial"/>
                              </a:rPr>
                              <m:t>2</m:t>
                            </m:r>
                          </m:sub>
                        </m:sSub>
                        <m:r>
                          <a:rPr lang="en-GB" sz="1867" i="1" kern="0">
                            <a:solidFill>
                              <a:srgbClr val="000000"/>
                            </a:solidFill>
                            <a:latin typeface="Cambria Math" panose="02040503050406030204" pitchFamily="18" charset="0"/>
                            <a:sym typeface="Arial"/>
                          </a:rPr>
                          <m:t> </m:t>
                        </m:r>
                      </m:e>
                    </m:d>
                    <m:r>
                      <a:rPr lang="en-GB" sz="1867" i="1" kern="0">
                        <a:solidFill>
                          <a:srgbClr val="000000"/>
                        </a:solidFill>
                        <a:latin typeface="Cambria Math" panose="02040503050406030204" pitchFamily="18" charset="0"/>
                        <a:sym typeface="Arial"/>
                      </a:rPr>
                      <m:t>=</m:t>
                    </m:r>
                    <m:f>
                      <m:fPr>
                        <m:ctrlPr>
                          <a:rPr lang="en-GB" sz="1867" i="1" kern="0">
                            <a:solidFill>
                              <a:srgbClr val="000000"/>
                            </a:solidFill>
                            <a:latin typeface="Cambria Math" panose="02040503050406030204" pitchFamily="18" charset="0"/>
                            <a:sym typeface="Arial"/>
                          </a:rPr>
                        </m:ctrlPr>
                      </m:fPr>
                      <m:num>
                        <m:r>
                          <a:rPr lang="en-GB" sz="1867" i="1" kern="0">
                            <a:solidFill>
                              <a:srgbClr val="000000"/>
                            </a:solidFill>
                            <a:latin typeface="Cambria Math" panose="02040503050406030204" pitchFamily="18" charset="0"/>
                            <a:sym typeface="Arial"/>
                          </a:rPr>
                          <m:t>1</m:t>
                        </m:r>
                      </m:num>
                      <m:den>
                        <m:r>
                          <a:rPr lang="en-GB" sz="1867" i="1" kern="0">
                            <a:solidFill>
                              <a:srgbClr val="000000"/>
                            </a:solidFill>
                            <a:latin typeface="Cambria Math" panose="02040503050406030204" pitchFamily="18" charset="0"/>
                            <a:sym typeface="Arial"/>
                          </a:rPr>
                          <m:t>2</m:t>
                        </m:r>
                        <m:r>
                          <a:rPr lang="en-GB" sz="1867" i="1" kern="0">
                            <a:solidFill>
                              <a:srgbClr val="000000"/>
                            </a:solidFill>
                            <a:latin typeface="Cambria Math" panose="02040503050406030204" pitchFamily="18" charset="0"/>
                            <a:sym typeface="Arial"/>
                          </a:rPr>
                          <m:t>𝑚</m:t>
                        </m:r>
                      </m:den>
                    </m:f>
                    <m:nary>
                      <m:naryPr>
                        <m:chr m:val="∑"/>
                        <m:limLoc m:val="undOvr"/>
                        <m:ctrlPr>
                          <a:rPr lang="en-GB" sz="1867" i="1" kern="0">
                            <a:solidFill>
                              <a:srgbClr val="000000"/>
                            </a:solidFill>
                            <a:latin typeface="Cambria Math" panose="02040503050406030204" pitchFamily="18" charset="0"/>
                            <a:sym typeface="Arial"/>
                          </a:rPr>
                        </m:ctrlPr>
                      </m:naryPr>
                      <m:sub>
                        <m:r>
                          <a:rPr lang="en-GB" sz="1867" i="1" kern="0">
                            <a:solidFill>
                              <a:srgbClr val="000000"/>
                            </a:solidFill>
                            <a:latin typeface="Cambria Math" panose="02040503050406030204" pitchFamily="18" charset="0"/>
                            <a:sym typeface="Arial"/>
                          </a:rPr>
                          <m:t>𝑖</m:t>
                        </m:r>
                        <m:r>
                          <a:rPr lang="en-GB" sz="1867" i="1" kern="0">
                            <a:solidFill>
                              <a:srgbClr val="000000"/>
                            </a:solidFill>
                            <a:latin typeface="Cambria Math" panose="02040503050406030204" pitchFamily="18" charset="0"/>
                            <a:sym typeface="Arial"/>
                          </a:rPr>
                          <m:t>=1</m:t>
                        </m:r>
                      </m:sub>
                      <m:sup>
                        <m:r>
                          <a:rPr lang="en-GB" sz="1867" i="1" kern="0">
                            <a:solidFill>
                              <a:srgbClr val="000000"/>
                            </a:solidFill>
                            <a:latin typeface="Cambria Math" panose="02040503050406030204" pitchFamily="18" charset="0"/>
                            <a:sym typeface="Arial"/>
                          </a:rPr>
                          <m:t>𝑚</m:t>
                        </m:r>
                      </m:sup>
                      <m:e>
                        <m:d>
                          <m:dPr>
                            <m:ctrlPr>
                              <a:rPr lang="en-GB" sz="1867" i="1" kern="0">
                                <a:solidFill>
                                  <a:srgbClr val="000000"/>
                                </a:solidFill>
                                <a:latin typeface="Cambria Math" panose="02040503050406030204" pitchFamily="18" charset="0"/>
                                <a:sym typeface="Arial"/>
                              </a:rPr>
                            </m:ctrlPr>
                          </m:dPr>
                          <m:e>
                            <m:sSub>
                              <m:sSubPr>
                                <m:ctrlPr>
                                  <a:rPr lang="en-GB" sz="1867" i="1" kern="0">
                                    <a:solidFill>
                                      <a:srgbClr val="000000"/>
                                    </a:solidFill>
                                    <a:latin typeface="Cambria Math" panose="02040503050406030204" pitchFamily="18" charset="0"/>
                                    <a:sym typeface="Arial"/>
                                  </a:rPr>
                                </m:ctrlPr>
                              </m:sSubPr>
                              <m:e>
                                <m:r>
                                  <a:rPr lang="en-GB" sz="1867" i="1" kern="0">
                                    <a:solidFill>
                                      <a:srgbClr val="000000"/>
                                    </a:solidFill>
                                    <a:latin typeface="Cambria Math" panose="02040503050406030204" pitchFamily="18" charset="0"/>
                                    <a:sym typeface="Arial"/>
                                  </a:rPr>
                                  <m:t>𝜃</m:t>
                                </m:r>
                              </m:e>
                              <m:sub>
                                <m:r>
                                  <a:rPr lang="en-GB" sz="1867" i="1" kern="0">
                                    <a:solidFill>
                                      <a:srgbClr val="000000"/>
                                    </a:solidFill>
                                    <a:latin typeface="Cambria Math" panose="02040503050406030204" pitchFamily="18" charset="0"/>
                                    <a:sym typeface="Arial"/>
                                  </a:rPr>
                                  <m:t>0</m:t>
                                </m:r>
                              </m:sub>
                            </m:sSub>
                            <m:r>
                              <a:rPr lang="en-GB" sz="1867" i="1" kern="0">
                                <a:solidFill>
                                  <a:srgbClr val="000000"/>
                                </a:solidFill>
                                <a:latin typeface="Cambria Math" panose="02040503050406030204" pitchFamily="18" charset="0"/>
                                <a:sym typeface="Arial"/>
                              </a:rPr>
                              <m:t>+</m:t>
                            </m:r>
                            <m:sSub>
                              <m:sSubPr>
                                <m:ctrlPr>
                                  <a:rPr lang="en-GB" sz="1867" i="1" kern="0">
                                    <a:solidFill>
                                      <a:srgbClr val="000000"/>
                                    </a:solidFill>
                                    <a:latin typeface="Cambria Math" panose="02040503050406030204" pitchFamily="18" charset="0"/>
                                    <a:sym typeface="Arial"/>
                                  </a:rPr>
                                </m:ctrlPr>
                              </m:sSubPr>
                              <m:e>
                                <m:r>
                                  <a:rPr lang="en-GB" sz="1867" i="1" kern="0">
                                    <a:solidFill>
                                      <a:srgbClr val="000000"/>
                                    </a:solidFill>
                                    <a:latin typeface="Cambria Math" panose="02040503050406030204" pitchFamily="18" charset="0"/>
                                    <a:sym typeface="Arial"/>
                                  </a:rPr>
                                  <m:t>𝜃</m:t>
                                </m:r>
                              </m:e>
                              <m:sub>
                                <m:r>
                                  <a:rPr lang="en-GB" sz="1867" i="1" kern="0">
                                    <a:solidFill>
                                      <a:srgbClr val="000000"/>
                                    </a:solidFill>
                                    <a:latin typeface="Cambria Math" panose="02040503050406030204" pitchFamily="18" charset="0"/>
                                    <a:sym typeface="Arial"/>
                                  </a:rPr>
                                  <m:t>1</m:t>
                                </m:r>
                              </m:sub>
                            </m:sSub>
                            <m:sSup>
                              <m:sSupPr>
                                <m:ctrlPr>
                                  <a:rPr lang="en-GB" sz="1867" i="1" kern="0">
                                    <a:solidFill>
                                      <a:srgbClr val="000000"/>
                                    </a:solidFill>
                                    <a:latin typeface="Cambria Math" panose="02040503050406030204" pitchFamily="18" charset="0"/>
                                    <a:sym typeface="Arial"/>
                                  </a:rPr>
                                </m:ctrlPr>
                              </m:sSupPr>
                              <m:e>
                                <m:r>
                                  <a:rPr lang="en-GB" sz="1867" i="1" kern="0">
                                    <a:solidFill>
                                      <a:srgbClr val="000000"/>
                                    </a:solidFill>
                                    <a:latin typeface="Cambria Math" panose="02040503050406030204" pitchFamily="18" charset="0"/>
                                    <a:sym typeface="Arial"/>
                                  </a:rPr>
                                  <m:t>𝑥</m:t>
                                </m:r>
                              </m:e>
                              <m:sup>
                                <m:r>
                                  <a:rPr lang="en-GB" sz="1867" i="1" kern="0">
                                    <a:solidFill>
                                      <a:srgbClr val="000000"/>
                                    </a:solidFill>
                                    <a:latin typeface="Cambria Math" panose="02040503050406030204" pitchFamily="18" charset="0"/>
                                    <a:sym typeface="Arial"/>
                                  </a:rPr>
                                  <m:t>(</m:t>
                                </m:r>
                                <m:r>
                                  <a:rPr lang="en-GB" sz="1867" i="1" kern="0">
                                    <a:solidFill>
                                      <a:srgbClr val="000000"/>
                                    </a:solidFill>
                                    <a:latin typeface="Cambria Math" panose="02040503050406030204" pitchFamily="18" charset="0"/>
                                    <a:sym typeface="Arial"/>
                                  </a:rPr>
                                  <m:t>𝑖</m:t>
                                </m:r>
                                <m:r>
                                  <a:rPr lang="en-GB" sz="1867" i="1" kern="0">
                                    <a:solidFill>
                                      <a:srgbClr val="000000"/>
                                    </a:solidFill>
                                    <a:latin typeface="Cambria Math" panose="02040503050406030204" pitchFamily="18" charset="0"/>
                                    <a:sym typeface="Arial"/>
                                  </a:rPr>
                                  <m:t>)</m:t>
                                </m:r>
                              </m:sup>
                            </m:sSup>
                            <m:r>
                              <a:rPr lang="en-GB" sz="1867" i="1" kern="0">
                                <a:solidFill>
                                  <a:srgbClr val="000000"/>
                                </a:solidFill>
                                <a:latin typeface="Cambria Math" panose="02040503050406030204" pitchFamily="18" charset="0"/>
                                <a:sym typeface="Arial"/>
                              </a:rPr>
                              <m:t>−</m:t>
                            </m:r>
                            <m:sSup>
                              <m:sSupPr>
                                <m:ctrlPr>
                                  <a:rPr lang="en-GB" sz="1867" i="1" kern="0">
                                    <a:solidFill>
                                      <a:srgbClr val="000000"/>
                                    </a:solidFill>
                                    <a:latin typeface="Cambria Math" panose="02040503050406030204" pitchFamily="18" charset="0"/>
                                    <a:sym typeface="Arial"/>
                                  </a:rPr>
                                </m:ctrlPr>
                              </m:sSupPr>
                              <m:e>
                                <m:r>
                                  <a:rPr lang="en-GB" sz="1867" i="1" kern="0">
                                    <a:solidFill>
                                      <a:srgbClr val="000000"/>
                                    </a:solidFill>
                                    <a:latin typeface="Cambria Math" panose="02040503050406030204" pitchFamily="18" charset="0"/>
                                    <a:sym typeface="Arial"/>
                                  </a:rPr>
                                  <m:t>𝑦</m:t>
                                </m:r>
                              </m:e>
                              <m:sup>
                                <m:r>
                                  <a:rPr lang="en-GB" sz="1867" i="1" kern="0">
                                    <a:solidFill>
                                      <a:srgbClr val="000000"/>
                                    </a:solidFill>
                                    <a:latin typeface="Cambria Math" panose="02040503050406030204" pitchFamily="18" charset="0"/>
                                    <a:sym typeface="Arial"/>
                                  </a:rPr>
                                  <m:t>(</m:t>
                                </m:r>
                                <m:r>
                                  <a:rPr lang="en-GB" sz="1867" i="1" kern="0">
                                    <a:solidFill>
                                      <a:srgbClr val="000000"/>
                                    </a:solidFill>
                                    <a:latin typeface="Cambria Math" panose="02040503050406030204" pitchFamily="18" charset="0"/>
                                    <a:sym typeface="Arial"/>
                                  </a:rPr>
                                  <m:t>𝑖</m:t>
                                </m:r>
                                <m:r>
                                  <a:rPr lang="en-GB" sz="1867" i="1" kern="0">
                                    <a:solidFill>
                                      <a:srgbClr val="000000"/>
                                    </a:solidFill>
                                    <a:latin typeface="Cambria Math" panose="02040503050406030204" pitchFamily="18" charset="0"/>
                                    <a:sym typeface="Arial"/>
                                  </a:rPr>
                                  <m:t>)</m:t>
                                </m:r>
                              </m:sup>
                            </m:sSup>
                          </m:e>
                        </m:d>
                      </m:e>
                    </m:nary>
                  </m:oMath>
                </a14:m>
                <a:r>
                  <a:rPr lang="en-GB" sz="1867" kern="0" baseline="30000" dirty="0">
                    <a:solidFill>
                      <a:srgbClr val="000000"/>
                    </a:solidFill>
                    <a:latin typeface="Arial"/>
                    <a:cs typeface="Arial"/>
                    <a:sym typeface="Arial"/>
                  </a:rPr>
                  <a:t>2</a:t>
                </a:r>
              </a:p>
            </p:txBody>
          </p:sp>
        </mc:Choice>
        <mc:Fallback xmlns="">
          <p:sp>
            <p:nvSpPr>
              <p:cNvPr id="3" name="Rectangle 2"/>
              <p:cNvSpPr>
                <a:spLocks noRot="1" noChangeAspect="1" noMove="1" noResize="1" noEditPoints="1" noAdjustHandles="1" noChangeArrowheads="1" noChangeShapeType="1" noTextEdit="1"/>
              </p:cNvSpPr>
              <p:nvPr/>
            </p:nvSpPr>
            <p:spPr>
              <a:xfrm>
                <a:off x="371765" y="1823522"/>
                <a:ext cx="7654280" cy="3778791"/>
              </a:xfrm>
              <a:prstGeom prst="rect">
                <a:avLst/>
              </a:prstGeom>
              <a:blipFill>
                <a:blip r:embed="rId2"/>
                <a:stretch>
                  <a:fillRect l="-1274" t="-1129" b="-15645"/>
                </a:stretch>
              </a:blipFill>
            </p:spPr>
            <p:txBody>
              <a:bodyPr/>
              <a:lstStyle/>
              <a:p>
                <a:r>
                  <a:rPr lang="en-US">
                    <a:noFill/>
                  </a:rPr>
                  <a:t> </a:t>
                </a:r>
              </a:p>
            </p:txBody>
          </p:sp>
        </mc:Fallback>
      </mc:AlternateContent>
      <p:pic>
        <p:nvPicPr>
          <p:cNvPr id="7" name="Picture 6"/>
          <p:cNvPicPr>
            <a:picLocks noChangeAspect="1"/>
          </p:cNvPicPr>
          <p:nvPr/>
        </p:nvPicPr>
        <p:blipFill>
          <a:blip r:embed="rId3"/>
          <a:stretch>
            <a:fillRect/>
          </a:stretch>
        </p:blipFill>
        <p:spPr>
          <a:xfrm>
            <a:off x="7490335" y="3362036"/>
            <a:ext cx="4233124" cy="2897019"/>
          </a:xfrm>
          <a:prstGeom prst="rect">
            <a:avLst/>
          </a:prstGeom>
        </p:spPr>
      </p:pic>
      <p:sp>
        <p:nvSpPr>
          <p:cNvPr id="5" name="Title 1"/>
          <p:cNvSpPr txBox="1">
            <a:spLocks/>
          </p:cNvSpPr>
          <p:nvPr/>
        </p:nvSpPr>
        <p:spPr>
          <a:xfrm>
            <a:off x="976425" y="341908"/>
            <a:ext cx="10058400" cy="794773"/>
          </a:xfrm>
          <a:prstGeom prst="rect">
            <a:avLst/>
          </a:prstGeom>
        </p:spPr>
        <p:txBody>
          <a:bodyPr vert="horz" lIns="121920" tIns="60960" rIns="121920" bIns="60960" rtlCol="0" anchor="b">
            <a:normAutofit/>
          </a:bodyPr>
          <a:lst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a:lstStyle>
          <a:p>
            <a:pPr defTabSz="914377"/>
            <a:r>
              <a:rPr lang="en-US" sz="4800" spc="-51">
                <a:solidFill>
                  <a:prstClr val="black">
                    <a:lumMod val="75000"/>
                    <a:lumOff val="25000"/>
                  </a:prstClr>
                </a:solidFill>
                <a:latin typeface="Calibri Light" panose="020F0302020204030204"/>
                <a:sym typeface="Arial"/>
              </a:rPr>
              <a:t>Gradient Descent Learning</a:t>
            </a:r>
            <a:endParaRPr lang="en-US" sz="4800" spc="-51" dirty="0">
              <a:solidFill>
                <a:prstClr val="black">
                  <a:lumMod val="75000"/>
                  <a:lumOff val="25000"/>
                </a:prstClr>
              </a:solidFill>
              <a:latin typeface="Calibri Light" panose="020F0302020204030204"/>
              <a:sym typeface="Arial"/>
            </a:endParaRPr>
          </a:p>
        </p:txBody>
      </p:sp>
      <p:sp>
        <p:nvSpPr>
          <p:cNvPr id="2" name="Date Placeholder 1">
            <a:extLst>
              <a:ext uri="{FF2B5EF4-FFF2-40B4-BE49-F238E27FC236}">
                <a16:creationId xmlns:a16="http://schemas.microsoft.com/office/drawing/2014/main" id="{38C12128-FBC3-03E6-68D7-16A2A5067BD5}"/>
              </a:ext>
            </a:extLst>
          </p:cNvPr>
          <p:cNvSpPr>
            <a:spLocks noGrp="1"/>
          </p:cNvSpPr>
          <p:nvPr>
            <p:ph type="dt" sz="half" idx="10"/>
          </p:nvPr>
        </p:nvSpPr>
        <p:spPr/>
        <p:txBody>
          <a:bodyPr/>
          <a:lstStyle/>
          <a:p>
            <a:pPr defTabSz="1219170">
              <a:buClr>
                <a:srgbClr val="000000"/>
              </a:buClr>
            </a:pPr>
            <a:fld id="{96877B96-FCB0-45CF-AF5D-C8125D523CA3}" type="datetime1">
              <a:rPr lang="en-US" kern="0" smtClean="0">
                <a:latin typeface="Arial"/>
                <a:cs typeface="Arial"/>
                <a:sym typeface="Arial"/>
              </a:rPr>
              <a:t>04-Aug-26</a:t>
            </a:fld>
            <a:endParaRPr lang="en-US" kern="0" dirty="0">
              <a:latin typeface="Arial"/>
              <a:cs typeface="Arial"/>
              <a:sym typeface="Arial"/>
            </a:endParaRPr>
          </a:p>
        </p:txBody>
      </p:sp>
      <p:sp>
        <p:nvSpPr>
          <p:cNvPr id="4" name="Slide Number Placeholder 3">
            <a:extLst>
              <a:ext uri="{FF2B5EF4-FFF2-40B4-BE49-F238E27FC236}">
                <a16:creationId xmlns:a16="http://schemas.microsoft.com/office/drawing/2014/main" id="{F787A2AE-9E9C-68BA-527E-24D0BB525D53}"/>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60</a:t>
            </a:fld>
            <a:endParaRPr lang="en-US" kern="0" dirty="0">
              <a:latin typeface="Arial"/>
              <a:cs typeface="Arial"/>
              <a:sym typeface="Arial"/>
            </a:endParaRPr>
          </a:p>
        </p:txBody>
      </p:sp>
    </p:spTree>
    <p:extLst>
      <p:ext uri="{BB962C8B-B14F-4D97-AF65-F5344CB8AC3E}">
        <p14:creationId xmlns:p14="http://schemas.microsoft.com/office/powerpoint/2010/main" val="32792831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73025" y="531181"/>
            <a:ext cx="7952867" cy="5642652"/>
          </a:xfrm>
          <a:prstGeom prst="rect">
            <a:avLst/>
          </a:prstGeom>
        </p:spPr>
      </p:pic>
      <p:sp>
        <p:nvSpPr>
          <p:cNvPr id="2" name="Date Placeholder 1">
            <a:extLst>
              <a:ext uri="{FF2B5EF4-FFF2-40B4-BE49-F238E27FC236}">
                <a16:creationId xmlns:a16="http://schemas.microsoft.com/office/drawing/2014/main" id="{BF5BB2D5-B027-2D27-04C9-2E9C5FAC830A}"/>
              </a:ext>
            </a:extLst>
          </p:cNvPr>
          <p:cNvSpPr>
            <a:spLocks noGrp="1"/>
          </p:cNvSpPr>
          <p:nvPr>
            <p:ph type="dt" sz="half" idx="10"/>
          </p:nvPr>
        </p:nvSpPr>
        <p:spPr/>
        <p:txBody>
          <a:bodyPr/>
          <a:lstStyle/>
          <a:p>
            <a:pPr defTabSz="1219170">
              <a:buClr>
                <a:srgbClr val="000000"/>
              </a:buClr>
            </a:pPr>
            <a:fld id="{BE1B7763-99CC-4616-8A71-29F9907BD9AA}"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5C50DB55-76EC-35AF-810E-9F7C3FDD0402}"/>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61</a:t>
            </a:fld>
            <a:endParaRPr lang="en-US" kern="0" dirty="0">
              <a:latin typeface="Arial"/>
              <a:cs typeface="Arial"/>
              <a:sym typeface="Arial"/>
            </a:endParaRPr>
          </a:p>
        </p:txBody>
      </p:sp>
    </p:spTree>
    <p:extLst>
      <p:ext uri="{BB962C8B-B14F-4D97-AF65-F5344CB8AC3E}">
        <p14:creationId xmlns:p14="http://schemas.microsoft.com/office/powerpoint/2010/main" val="41797956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286604"/>
            <a:ext cx="10058400" cy="1302051"/>
          </a:xfrm>
        </p:spPr>
        <p:txBody>
          <a:bodyPr/>
          <a:lstStyle/>
          <a:p>
            <a:r>
              <a:rPr lang="en-GB" dirty="0"/>
              <a:t>Algorithm</a:t>
            </a:r>
          </a:p>
        </p:txBody>
      </p:sp>
      <p:sp>
        <p:nvSpPr>
          <p:cNvPr id="3" name="Rectangle 2"/>
          <p:cNvSpPr/>
          <p:nvPr/>
        </p:nvSpPr>
        <p:spPr>
          <a:xfrm>
            <a:off x="1440874" y="1922436"/>
            <a:ext cx="8294255" cy="3818225"/>
          </a:xfrm>
          <a:prstGeom prst="rect">
            <a:avLst/>
          </a:prstGeom>
        </p:spPr>
        <p:txBody>
          <a:bodyPr wrap="square">
            <a:spAutoFit/>
          </a:bodyPr>
          <a:lstStyle/>
          <a:p>
            <a:pPr algn="just" defTabSz="1219170">
              <a:lnSpc>
                <a:spcPct val="107000"/>
              </a:lnSpc>
              <a:spcAft>
                <a:spcPts val="1067"/>
              </a:spcAft>
              <a:buClr>
                <a:srgbClr val="000000"/>
              </a:buClr>
            </a:pPr>
            <a:r>
              <a:rPr lang="en-GB" sz="3200"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Have some function </a:t>
            </a:r>
            <a:r>
              <a:rPr lang="en-GB" sz="3200" i="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J(θ</a:t>
            </a:r>
            <a:r>
              <a:rPr lang="en-GB" sz="3200" i="1" kern="0"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0</a:t>
            </a:r>
            <a:r>
              <a:rPr lang="en-GB" sz="3200" i="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 θ</a:t>
            </a:r>
            <a:r>
              <a:rPr lang="en-GB" sz="3200" i="1" kern="0"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1</a:t>
            </a:r>
            <a:r>
              <a:rPr lang="en-GB" sz="3200" i="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a:t>
            </a:r>
            <a:endParaRPr lang="en-GB" sz="2667" i="1" kern="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a:p>
            <a:pPr algn="just" defTabSz="1219170">
              <a:lnSpc>
                <a:spcPct val="107000"/>
              </a:lnSpc>
              <a:spcAft>
                <a:spcPts val="1067"/>
              </a:spcAft>
              <a:buClr>
                <a:srgbClr val="000000"/>
              </a:buClr>
            </a:pPr>
            <a:r>
              <a:rPr lang="en-GB" sz="3200"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Want to minimize </a:t>
            </a:r>
            <a:r>
              <a:rPr lang="en-GB" sz="3200" b="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min</a:t>
            </a:r>
            <a:r>
              <a:rPr lang="en-GB" sz="3200"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 </a:t>
            </a:r>
            <a:r>
              <a:rPr lang="en-GB" sz="3200" i="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J(θ</a:t>
            </a:r>
            <a:r>
              <a:rPr lang="en-GB" sz="3200" i="1" kern="0"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0</a:t>
            </a:r>
            <a:r>
              <a:rPr lang="en-GB" sz="3200" i="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 θ</a:t>
            </a:r>
            <a:r>
              <a:rPr lang="en-GB" sz="3200" i="1" kern="0"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1</a:t>
            </a:r>
            <a:r>
              <a:rPr lang="en-GB" sz="3200" i="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a:t>
            </a:r>
            <a:endParaRPr lang="en-GB" sz="2667" i="1" kern="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a:p>
            <a:pPr algn="just" defTabSz="1219170">
              <a:lnSpc>
                <a:spcPct val="107000"/>
              </a:lnSpc>
              <a:spcAft>
                <a:spcPts val="1067"/>
              </a:spcAft>
              <a:buClr>
                <a:srgbClr val="000000"/>
              </a:buClr>
            </a:pPr>
            <a:r>
              <a:rPr lang="en-GB" sz="3200" b="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Outline</a:t>
            </a:r>
            <a:endParaRPr lang="en-GB" sz="2667" b="1" kern="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a:p>
            <a:pPr marL="457189" indent="-457189" algn="just" defTabSz="1219170">
              <a:lnSpc>
                <a:spcPct val="107000"/>
              </a:lnSpc>
              <a:spcAft>
                <a:spcPts val="1067"/>
              </a:spcAft>
              <a:buClr>
                <a:srgbClr val="000000"/>
              </a:buClr>
              <a:buFont typeface="Arial" panose="020B0604020202020204" pitchFamily="34" charset="0"/>
              <a:buChar char="•"/>
            </a:pPr>
            <a:r>
              <a:rPr lang="en-GB" sz="3200"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Start with some </a:t>
            </a:r>
            <a:r>
              <a:rPr lang="en-GB" sz="3200" i="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θ</a:t>
            </a:r>
            <a:r>
              <a:rPr lang="en-GB" sz="3200" i="1" kern="0"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0</a:t>
            </a:r>
            <a:r>
              <a:rPr lang="en-GB" sz="3200" i="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 θ</a:t>
            </a:r>
            <a:r>
              <a:rPr lang="en-GB" sz="3200" i="1" kern="0"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1</a:t>
            </a:r>
            <a:endParaRPr lang="en-GB" sz="2667" i="1" kern="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a:p>
            <a:pPr marL="457189" indent="-457189" algn="just" defTabSz="1219170">
              <a:lnSpc>
                <a:spcPct val="107000"/>
              </a:lnSpc>
              <a:spcAft>
                <a:spcPts val="1067"/>
              </a:spcAft>
              <a:buClr>
                <a:srgbClr val="000000"/>
              </a:buClr>
              <a:buFont typeface="Arial" panose="020B0604020202020204" pitchFamily="34" charset="0"/>
              <a:buChar char="•"/>
            </a:pPr>
            <a:r>
              <a:rPr lang="en-GB" sz="3200"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Keep changing </a:t>
            </a:r>
            <a:r>
              <a:rPr lang="en-GB" sz="3200" i="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θ</a:t>
            </a:r>
            <a:r>
              <a:rPr lang="en-GB" sz="3200" i="1" kern="0"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0</a:t>
            </a:r>
            <a:r>
              <a:rPr lang="en-GB" sz="3200" i="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 θ</a:t>
            </a:r>
            <a:r>
              <a:rPr lang="en-GB" sz="3200" i="1" kern="0"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1</a:t>
            </a:r>
            <a:r>
              <a:rPr lang="en-GB" sz="3200" i="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 </a:t>
            </a:r>
            <a:r>
              <a:rPr lang="en-GB" sz="3200"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to reduce J(θ</a:t>
            </a:r>
            <a:r>
              <a:rPr lang="en-GB" sz="3200" kern="0"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0</a:t>
            </a:r>
            <a:r>
              <a:rPr lang="en-GB" sz="3200"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 θ</a:t>
            </a:r>
            <a:r>
              <a:rPr lang="en-GB" sz="3200" kern="0" baseline="-25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1</a:t>
            </a:r>
            <a:r>
              <a:rPr lang="en-GB" sz="3200"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 until we hopefully end up at a minimum.</a:t>
            </a:r>
            <a:endParaRPr lang="en-GB" sz="2667" kern="0" dirty="0">
              <a:solidFill>
                <a:srgbClr val="000000"/>
              </a:solidFill>
              <a:latin typeface="Calibri" panose="020F0502020204030204" pitchFamily="34" charset="0"/>
              <a:ea typeface="Calibri" panose="020F0502020204030204" pitchFamily="34" charset="0"/>
              <a:cs typeface="Times New Roman" panose="02020603050405020304" pitchFamily="18" charset="0"/>
              <a:sym typeface="Arial"/>
            </a:endParaRPr>
          </a:p>
        </p:txBody>
      </p:sp>
      <p:sp>
        <p:nvSpPr>
          <p:cNvPr id="4" name="Date Placeholder 3">
            <a:extLst>
              <a:ext uri="{FF2B5EF4-FFF2-40B4-BE49-F238E27FC236}">
                <a16:creationId xmlns:a16="http://schemas.microsoft.com/office/drawing/2014/main" id="{EF81E1B4-7F1B-4B7D-76A1-CEFB537658EB}"/>
              </a:ext>
            </a:extLst>
          </p:cNvPr>
          <p:cNvSpPr>
            <a:spLocks noGrp="1"/>
          </p:cNvSpPr>
          <p:nvPr>
            <p:ph type="dt" sz="half" idx="10"/>
          </p:nvPr>
        </p:nvSpPr>
        <p:spPr/>
        <p:txBody>
          <a:bodyPr/>
          <a:lstStyle/>
          <a:p>
            <a:pPr defTabSz="1219170">
              <a:buClr>
                <a:srgbClr val="000000"/>
              </a:buClr>
            </a:pPr>
            <a:fld id="{04DAE594-6F59-4ABA-9095-05E9323897C9}" type="datetime1">
              <a:rPr lang="en-US" kern="0" smtClean="0">
                <a:latin typeface="Arial"/>
                <a:cs typeface="Arial"/>
                <a:sym typeface="Arial"/>
              </a:rPr>
              <a:t>04-Aug-26</a:t>
            </a:fld>
            <a:endParaRPr lang="en-US" kern="0" dirty="0">
              <a:latin typeface="Arial"/>
              <a:cs typeface="Arial"/>
              <a:sym typeface="Arial"/>
            </a:endParaRPr>
          </a:p>
        </p:txBody>
      </p:sp>
      <p:sp>
        <p:nvSpPr>
          <p:cNvPr id="5" name="Slide Number Placeholder 4">
            <a:extLst>
              <a:ext uri="{FF2B5EF4-FFF2-40B4-BE49-F238E27FC236}">
                <a16:creationId xmlns:a16="http://schemas.microsoft.com/office/drawing/2014/main" id="{DB14FE59-1E73-4CC2-F0D8-E7857ACD90CA}"/>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62</a:t>
            </a:fld>
            <a:endParaRPr lang="en-US" kern="0" dirty="0">
              <a:latin typeface="Arial"/>
              <a:cs typeface="Arial"/>
              <a:sym typeface="Arial"/>
            </a:endParaRPr>
          </a:p>
        </p:txBody>
      </p:sp>
    </p:spTree>
    <p:extLst>
      <p:ext uri="{BB962C8B-B14F-4D97-AF65-F5344CB8AC3E}">
        <p14:creationId xmlns:p14="http://schemas.microsoft.com/office/powerpoint/2010/main" val="28982475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Picture 3"/>
          <p:cNvPicPr>
            <a:picLocks noChangeAspect="1"/>
          </p:cNvPicPr>
          <p:nvPr/>
        </p:nvPicPr>
        <p:blipFill>
          <a:blip r:embed="rId2"/>
          <a:stretch>
            <a:fillRect/>
          </a:stretch>
        </p:blipFill>
        <p:spPr>
          <a:xfrm>
            <a:off x="1023761" y="766619"/>
            <a:ext cx="9288529" cy="4950691"/>
          </a:xfrm>
          <a:prstGeom prst="rect">
            <a:avLst/>
          </a:prstGeom>
        </p:spPr>
      </p:pic>
      <p:sp>
        <p:nvSpPr>
          <p:cNvPr id="3" name="Date Placeholder 2">
            <a:extLst>
              <a:ext uri="{FF2B5EF4-FFF2-40B4-BE49-F238E27FC236}">
                <a16:creationId xmlns:a16="http://schemas.microsoft.com/office/drawing/2014/main" id="{15B2245F-0F8B-1347-7B5B-73BBA38BFC95}"/>
              </a:ext>
            </a:extLst>
          </p:cNvPr>
          <p:cNvSpPr>
            <a:spLocks noGrp="1"/>
          </p:cNvSpPr>
          <p:nvPr>
            <p:ph type="dt" sz="half" idx="10"/>
          </p:nvPr>
        </p:nvSpPr>
        <p:spPr/>
        <p:txBody>
          <a:bodyPr/>
          <a:lstStyle/>
          <a:p>
            <a:pPr defTabSz="1219170">
              <a:buClr>
                <a:srgbClr val="000000"/>
              </a:buClr>
            </a:pPr>
            <a:fld id="{2BE593AE-A73B-465D-94D0-856B1DD87092}" type="datetime1">
              <a:rPr lang="en-US" kern="0" smtClean="0">
                <a:latin typeface="Arial"/>
                <a:cs typeface="Arial"/>
                <a:sym typeface="Arial"/>
              </a:rPr>
              <a:t>04-Aug-26</a:t>
            </a:fld>
            <a:endParaRPr lang="en-US" kern="0" dirty="0">
              <a:latin typeface="Arial"/>
              <a:cs typeface="Arial"/>
              <a:sym typeface="Arial"/>
            </a:endParaRPr>
          </a:p>
        </p:txBody>
      </p:sp>
      <p:sp>
        <p:nvSpPr>
          <p:cNvPr id="5" name="Slide Number Placeholder 4">
            <a:extLst>
              <a:ext uri="{FF2B5EF4-FFF2-40B4-BE49-F238E27FC236}">
                <a16:creationId xmlns:a16="http://schemas.microsoft.com/office/drawing/2014/main" id="{1C6435B3-B82D-C052-C678-3DC634343A0B}"/>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63</a:t>
            </a:fld>
            <a:endParaRPr lang="en-US" kern="0" dirty="0">
              <a:latin typeface="Arial"/>
              <a:cs typeface="Arial"/>
              <a:sym typeface="Arial"/>
            </a:endParaRPr>
          </a:p>
        </p:txBody>
      </p:sp>
    </p:spTree>
    <p:extLst>
      <p:ext uri="{BB962C8B-B14F-4D97-AF65-F5344CB8AC3E}">
        <p14:creationId xmlns:p14="http://schemas.microsoft.com/office/powerpoint/2010/main" val="37275045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Picture 3"/>
          <p:cNvPicPr>
            <a:picLocks noChangeAspect="1"/>
          </p:cNvPicPr>
          <p:nvPr/>
        </p:nvPicPr>
        <p:blipFill>
          <a:blip r:embed="rId2"/>
          <a:stretch>
            <a:fillRect/>
          </a:stretch>
        </p:blipFill>
        <p:spPr>
          <a:xfrm>
            <a:off x="1332274" y="840509"/>
            <a:ext cx="9834253" cy="5020360"/>
          </a:xfrm>
          <a:prstGeom prst="rect">
            <a:avLst/>
          </a:prstGeom>
        </p:spPr>
      </p:pic>
      <p:sp>
        <p:nvSpPr>
          <p:cNvPr id="3" name="Date Placeholder 2">
            <a:extLst>
              <a:ext uri="{FF2B5EF4-FFF2-40B4-BE49-F238E27FC236}">
                <a16:creationId xmlns:a16="http://schemas.microsoft.com/office/drawing/2014/main" id="{F9E0F93A-16C4-A288-67D9-5A35851D276B}"/>
              </a:ext>
            </a:extLst>
          </p:cNvPr>
          <p:cNvSpPr>
            <a:spLocks noGrp="1"/>
          </p:cNvSpPr>
          <p:nvPr>
            <p:ph type="dt" sz="half" idx="10"/>
          </p:nvPr>
        </p:nvSpPr>
        <p:spPr/>
        <p:txBody>
          <a:bodyPr/>
          <a:lstStyle/>
          <a:p>
            <a:pPr defTabSz="1219170">
              <a:buClr>
                <a:srgbClr val="000000"/>
              </a:buClr>
            </a:pPr>
            <a:fld id="{480E42EC-5F0D-4206-A12D-C35FB47DCA06}" type="datetime1">
              <a:rPr lang="en-US" kern="0" smtClean="0">
                <a:latin typeface="Arial"/>
                <a:cs typeface="Arial"/>
                <a:sym typeface="Arial"/>
              </a:rPr>
              <a:t>04-Aug-26</a:t>
            </a:fld>
            <a:endParaRPr lang="en-US" kern="0" dirty="0">
              <a:latin typeface="Arial"/>
              <a:cs typeface="Arial"/>
              <a:sym typeface="Arial"/>
            </a:endParaRPr>
          </a:p>
        </p:txBody>
      </p:sp>
      <p:sp>
        <p:nvSpPr>
          <p:cNvPr id="5" name="Slide Number Placeholder 4">
            <a:extLst>
              <a:ext uri="{FF2B5EF4-FFF2-40B4-BE49-F238E27FC236}">
                <a16:creationId xmlns:a16="http://schemas.microsoft.com/office/drawing/2014/main" id="{370670E2-BD45-D7E8-1280-115C52983150}"/>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64</a:t>
            </a:fld>
            <a:endParaRPr lang="en-US" kern="0" dirty="0">
              <a:latin typeface="Arial"/>
              <a:cs typeface="Arial"/>
              <a:sym typeface="Arial"/>
            </a:endParaRPr>
          </a:p>
        </p:txBody>
      </p:sp>
    </p:spTree>
    <p:extLst>
      <p:ext uri="{BB962C8B-B14F-4D97-AF65-F5344CB8AC3E}">
        <p14:creationId xmlns:p14="http://schemas.microsoft.com/office/powerpoint/2010/main" val="14863139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15962" y="1080655"/>
            <a:ext cx="9398313" cy="4884717"/>
          </a:xfrm>
          <a:prstGeom prst="rect">
            <a:avLst/>
          </a:prstGeom>
        </p:spPr>
      </p:pic>
      <p:sp>
        <p:nvSpPr>
          <p:cNvPr id="2" name="Date Placeholder 1">
            <a:extLst>
              <a:ext uri="{FF2B5EF4-FFF2-40B4-BE49-F238E27FC236}">
                <a16:creationId xmlns:a16="http://schemas.microsoft.com/office/drawing/2014/main" id="{E785F482-5E2F-001F-5253-696B08C0369C}"/>
              </a:ext>
            </a:extLst>
          </p:cNvPr>
          <p:cNvSpPr>
            <a:spLocks noGrp="1"/>
          </p:cNvSpPr>
          <p:nvPr>
            <p:ph type="dt" sz="half" idx="10"/>
          </p:nvPr>
        </p:nvSpPr>
        <p:spPr/>
        <p:txBody>
          <a:bodyPr/>
          <a:lstStyle/>
          <a:p>
            <a:pPr defTabSz="1219170">
              <a:buClr>
                <a:srgbClr val="000000"/>
              </a:buClr>
            </a:pPr>
            <a:fld id="{8943363F-3A89-4745-AE8E-F9F8B9E4C0F3}" type="datetime1">
              <a:rPr lang="en-US" kern="0" smtClean="0">
                <a:latin typeface="Arial"/>
                <a:cs typeface="Arial"/>
                <a:sym typeface="Arial"/>
              </a:rPr>
              <a:t>04-Aug-26</a:t>
            </a:fld>
            <a:endParaRPr lang="en-US" kern="0" dirty="0">
              <a:latin typeface="Arial"/>
              <a:cs typeface="Arial"/>
              <a:sym typeface="Arial"/>
            </a:endParaRPr>
          </a:p>
        </p:txBody>
      </p:sp>
      <p:sp>
        <p:nvSpPr>
          <p:cNvPr id="3" name="Slide Number Placeholder 2">
            <a:extLst>
              <a:ext uri="{FF2B5EF4-FFF2-40B4-BE49-F238E27FC236}">
                <a16:creationId xmlns:a16="http://schemas.microsoft.com/office/drawing/2014/main" id="{338A6E61-7920-5098-B99C-5F9847A0BFAC}"/>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65</a:t>
            </a:fld>
            <a:endParaRPr lang="en-US" kern="0" dirty="0">
              <a:latin typeface="Arial"/>
              <a:cs typeface="Arial"/>
              <a:sym typeface="Arial"/>
            </a:endParaRPr>
          </a:p>
        </p:txBody>
      </p:sp>
    </p:spTree>
    <p:extLst>
      <p:ext uri="{BB962C8B-B14F-4D97-AF65-F5344CB8AC3E}">
        <p14:creationId xmlns:p14="http://schemas.microsoft.com/office/powerpoint/2010/main" val="26489699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39763" y="1311564"/>
            <a:ext cx="6014637" cy="4019611"/>
          </a:xfrm>
          <a:prstGeom prst="rect">
            <a:avLst/>
          </a:prstGeom>
        </p:spPr>
      </p:pic>
      <p:pic>
        <p:nvPicPr>
          <p:cNvPr id="5" name="Picture 4"/>
          <p:cNvPicPr>
            <a:picLocks noChangeAspect="1"/>
          </p:cNvPicPr>
          <p:nvPr/>
        </p:nvPicPr>
        <p:blipFill>
          <a:blip r:embed="rId3"/>
          <a:stretch>
            <a:fillRect/>
          </a:stretch>
        </p:blipFill>
        <p:spPr>
          <a:xfrm>
            <a:off x="6258213" y="2764301"/>
            <a:ext cx="5795243" cy="2425700"/>
          </a:xfrm>
          <a:prstGeom prst="rect">
            <a:avLst/>
          </a:prstGeom>
        </p:spPr>
      </p:pic>
      <p:sp>
        <p:nvSpPr>
          <p:cNvPr id="6" name="Rectangle 5"/>
          <p:cNvSpPr/>
          <p:nvPr/>
        </p:nvSpPr>
        <p:spPr>
          <a:xfrm>
            <a:off x="6154400" y="1782943"/>
            <a:ext cx="5800877" cy="830997"/>
          </a:xfrm>
          <a:prstGeom prst="rect">
            <a:avLst/>
          </a:prstGeom>
        </p:spPr>
        <p:txBody>
          <a:bodyPr wrap="square">
            <a:spAutoFit/>
          </a:bodyPr>
          <a:lstStyle/>
          <a:p>
            <a:pPr defTabSz="1219170">
              <a:buClr>
                <a:srgbClr val="000000"/>
              </a:buClr>
            </a:pPr>
            <a:r>
              <a:rPr lang="en-GB" sz="2400" b="1" kern="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sym typeface="Arial"/>
              </a:rPr>
              <a:t>Correct Implementation of Gradient Descent Algorithm</a:t>
            </a:r>
            <a:endParaRPr lang="en-GB" sz="2400" b="1" kern="0" dirty="0">
              <a:solidFill>
                <a:srgbClr val="000000"/>
              </a:solidFill>
              <a:latin typeface="Arial"/>
              <a:cs typeface="Arial"/>
              <a:sym typeface="Arial"/>
            </a:endParaRPr>
          </a:p>
        </p:txBody>
      </p:sp>
      <p:sp>
        <p:nvSpPr>
          <p:cNvPr id="2" name="Date Placeholder 1">
            <a:extLst>
              <a:ext uri="{FF2B5EF4-FFF2-40B4-BE49-F238E27FC236}">
                <a16:creationId xmlns:a16="http://schemas.microsoft.com/office/drawing/2014/main" id="{61B2AF7B-9F99-DC1F-B7AF-B33EA8F8724C}"/>
              </a:ext>
            </a:extLst>
          </p:cNvPr>
          <p:cNvSpPr>
            <a:spLocks noGrp="1"/>
          </p:cNvSpPr>
          <p:nvPr>
            <p:ph type="dt" sz="half" idx="10"/>
          </p:nvPr>
        </p:nvSpPr>
        <p:spPr/>
        <p:txBody>
          <a:bodyPr/>
          <a:lstStyle/>
          <a:p>
            <a:pPr defTabSz="1219170">
              <a:buClr>
                <a:srgbClr val="000000"/>
              </a:buClr>
            </a:pPr>
            <a:fld id="{6C63835F-7C35-4850-86DB-B0DEE1AEB4F1}" type="datetime1">
              <a:rPr lang="en-US" kern="0" smtClean="0">
                <a:latin typeface="Arial"/>
                <a:cs typeface="Arial"/>
                <a:sym typeface="Arial"/>
              </a:rPr>
              <a:t>04-Aug-26</a:t>
            </a:fld>
            <a:endParaRPr lang="en-US" kern="0" dirty="0">
              <a:latin typeface="Arial"/>
              <a:cs typeface="Arial"/>
              <a:sym typeface="Arial"/>
            </a:endParaRPr>
          </a:p>
        </p:txBody>
      </p:sp>
      <p:sp>
        <p:nvSpPr>
          <p:cNvPr id="4" name="Slide Number Placeholder 3">
            <a:extLst>
              <a:ext uri="{FF2B5EF4-FFF2-40B4-BE49-F238E27FC236}">
                <a16:creationId xmlns:a16="http://schemas.microsoft.com/office/drawing/2014/main" id="{5455DC41-A915-3593-03B7-A854027BDA96}"/>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66</a:t>
            </a:fld>
            <a:endParaRPr lang="en-US" kern="0" dirty="0">
              <a:latin typeface="Arial"/>
              <a:cs typeface="Arial"/>
              <a:sym typeface="Arial"/>
            </a:endParaRPr>
          </a:p>
        </p:txBody>
      </p:sp>
    </p:spTree>
    <p:extLst>
      <p:ext uri="{BB962C8B-B14F-4D97-AF65-F5344CB8AC3E}">
        <p14:creationId xmlns:p14="http://schemas.microsoft.com/office/powerpoint/2010/main" val="54311783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Picture 3"/>
          <p:cNvPicPr>
            <a:picLocks noChangeAspect="1"/>
          </p:cNvPicPr>
          <p:nvPr/>
        </p:nvPicPr>
        <p:blipFill>
          <a:blip r:embed="rId2"/>
          <a:stretch>
            <a:fillRect/>
          </a:stretch>
        </p:blipFill>
        <p:spPr>
          <a:xfrm>
            <a:off x="1110935" y="940528"/>
            <a:ext cx="8454679" cy="5273793"/>
          </a:xfrm>
          <a:prstGeom prst="rect">
            <a:avLst/>
          </a:prstGeom>
        </p:spPr>
      </p:pic>
      <p:sp>
        <p:nvSpPr>
          <p:cNvPr id="3" name="Date Placeholder 2">
            <a:extLst>
              <a:ext uri="{FF2B5EF4-FFF2-40B4-BE49-F238E27FC236}">
                <a16:creationId xmlns:a16="http://schemas.microsoft.com/office/drawing/2014/main" id="{47BF458E-D459-AC0A-06DA-8729B952AE60}"/>
              </a:ext>
            </a:extLst>
          </p:cNvPr>
          <p:cNvSpPr>
            <a:spLocks noGrp="1"/>
          </p:cNvSpPr>
          <p:nvPr>
            <p:ph type="dt" sz="half" idx="10"/>
          </p:nvPr>
        </p:nvSpPr>
        <p:spPr/>
        <p:txBody>
          <a:bodyPr/>
          <a:lstStyle/>
          <a:p>
            <a:pPr defTabSz="1219170">
              <a:buClr>
                <a:srgbClr val="000000"/>
              </a:buClr>
            </a:pPr>
            <a:fld id="{5511FD98-3D30-487F-851A-6A61F2C0CEA1}" type="datetime1">
              <a:rPr lang="en-US" kern="0" smtClean="0">
                <a:latin typeface="Arial"/>
                <a:cs typeface="Arial"/>
                <a:sym typeface="Arial"/>
              </a:rPr>
              <a:t>04-Aug-26</a:t>
            </a:fld>
            <a:endParaRPr lang="en-US" kern="0" dirty="0">
              <a:latin typeface="Arial"/>
              <a:cs typeface="Arial"/>
              <a:sym typeface="Arial"/>
            </a:endParaRPr>
          </a:p>
        </p:txBody>
      </p:sp>
      <p:sp>
        <p:nvSpPr>
          <p:cNvPr id="5" name="Slide Number Placeholder 4">
            <a:extLst>
              <a:ext uri="{FF2B5EF4-FFF2-40B4-BE49-F238E27FC236}">
                <a16:creationId xmlns:a16="http://schemas.microsoft.com/office/drawing/2014/main" id="{2FE4C6FD-6DDC-4382-3D30-AA01CB52C562}"/>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67</a:t>
            </a:fld>
            <a:endParaRPr lang="en-US" kern="0" dirty="0">
              <a:latin typeface="Arial"/>
              <a:cs typeface="Arial"/>
              <a:sym typeface="Arial"/>
            </a:endParaRPr>
          </a:p>
        </p:txBody>
      </p:sp>
    </p:spTree>
    <p:extLst>
      <p:ext uri="{BB962C8B-B14F-4D97-AF65-F5344CB8AC3E}">
        <p14:creationId xmlns:p14="http://schemas.microsoft.com/office/powerpoint/2010/main" val="310390739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346172" y="568962"/>
            <a:ext cx="8866837" cy="5311533"/>
          </a:xfrm>
          <a:prstGeom prst="rect">
            <a:avLst/>
          </a:prstGeom>
        </p:spPr>
      </p:pic>
      <p:sp>
        <p:nvSpPr>
          <p:cNvPr id="2" name="Date Placeholder 1">
            <a:extLst>
              <a:ext uri="{FF2B5EF4-FFF2-40B4-BE49-F238E27FC236}">
                <a16:creationId xmlns:a16="http://schemas.microsoft.com/office/drawing/2014/main" id="{9276A461-6192-226C-F327-BAD7613CC631}"/>
              </a:ext>
            </a:extLst>
          </p:cNvPr>
          <p:cNvSpPr>
            <a:spLocks noGrp="1"/>
          </p:cNvSpPr>
          <p:nvPr>
            <p:ph type="dt" sz="half" idx="10"/>
          </p:nvPr>
        </p:nvSpPr>
        <p:spPr/>
        <p:txBody>
          <a:bodyPr/>
          <a:lstStyle/>
          <a:p>
            <a:pPr defTabSz="1219170">
              <a:buClr>
                <a:srgbClr val="000000"/>
              </a:buClr>
            </a:pPr>
            <a:fld id="{19BC5E30-B64F-4D92-A506-23936B7AFB34}" type="datetime1">
              <a:rPr lang="en-US" kern="0" smtClean="0">
                <a:latin typeface="Arial"/>
                <a:cs typeface="Arial"/>
                <a:sym typeface="Arial"/>
              </a:rPr>
              <a:t>04-Aug-26</a:t>
            </a:fld>
            <a:endParaRPr lang="en-US" kern="0" dirty="0">
              <a:latin typeface="Arial"/>
              <a:cs typeface="Arial"/>
              <a:sym typeface="Arial"/>
            </a:endParaRPr>
          </a:p>
        </p:txBody>
      </p:sp>
      <p:sp>
        <p:nvSpPr>
          <p:cNvPr id="4" name="Slide Number Placeholder 3">
            <a:extLst>
              <a:ext uri="{FF2B5EF4-FFF2-40B4-BE49-F238E27FC236}">
                <a16:creationId xmlns:a16="http://schemas.microsoft.com/office/drawing/2014/main" id="{43034874-0512-F1F3-0894-B59D58C5DE5A}"/>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68</a:t>
            </a:fld>
            <a:endParaRPr lang="en-US" kern="0" dirty="0">
              <a:latin typeface="Arial"/>
              <a:cs typeface="Arial"/>
              <a:sym typeface="Arial"/>
            </a:endParaRPr>
          </a:p>
        </p:txBody>
      </p:sp>
    </p:spTree>
    <p:extLst>
      <p:ext uri="{BB962C8B-B14F-4D97-AF65-F5344CB8AC3E}">
        <p14:creationId xmlns:p14="http://schemas.microsoft.com/office/powerpoint/2010/main" val="38004313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Picture 3"/>
          <p:cNvPicPr>
            <a:picLocks noChangeAspect="1"/>
          </p:cNvPicPr>
          <p:nvPr/>
        </p:nvPicPr>
        <p:blipFill>
          <a:blip r:embed="rId2"/>
          <a:stretch>
            <a:fillRect/>
          </a:stretch>
        </p:blipFill>
        <p:spPr>
          <a:xfrm>
            <a:off x="940172" y="574767"/>
            <a:ext cx="9514637" cy="5245476"/>
          </a:xfrm>
          <a:prstGeom prst="rect">
            <a:avLst/>
          </a:prstGeom>
        </p:spPr>
      </p:pic>
      <p:sp>
        <p:nvSpPr>
          <p:cNvPr id="3" name="Date Placeholder 2">
            <a:extLst>
              <a:ext uri="{FF2B5EF4-FFF2-40B4-BE49-F238E27FC236}">
                <a16:creationId xmlns:a16="http://schemas.microsoft.com/office/drawing/2014/main" id="{9F5D4A9C-52BE-1118-3493-025C174ECE7E}"/>
              </a:ext>
            </a:extLst>
          </p:cNvPr>
          <p:cNvSpPr>
            <a:spLocks noGrp="1"/>
          </p:cNvSpPr>
          <p:nvPr>
            <p:ph type="dt" sz="half" idx="10"/>
          </p:nvPr>
        </p:nvSpPr>
        <p:spPr/>
        <p:txBody>
          <a:bodyPr/>
          <a:lstStyle/>
          <a:p>
            <a:pPr defTabSz="1219170">
              <a:buClr>
                <a:srgbClr val="000000"/>
              </a:buClr>
            </a:pPr>
            <a:fld id="{D9A6FCFF-05F2-4442-BAC8-233DE26C3843}" type="datetime1">
              <a:rPr lang="en-US" kern="0" smtClean="0">
                <a:latin typeface="Arial"/>
                <a:cs typeface="Arial"/>
                <a:sym typeface="Arial"/>
              </a:rPr>
              <a:t>04-Aug-26</a:t>
            </a:fld>
            <a:endParaRPr lang="en-US" kern="0" dirty="0">
              <a:latin typeface="Arial"/>
              <a:cs typeface="Arial"/>
              <a:sym typeface="Arial"/>
            </a:endParaRPr>
          </a:p>
        </p:txBody>
      </p:sp>
      <p:sp>
        <p:nvSpPr>
          <p:cNvPr id="5" name="Slide Number Placeholder 4">
            <a:extLst>
              <a:ext uri="{FF2B5EF4-FFF2-40B4-BE49-F238E27FC236}">
                <a16:creationId xmlns:a16="http://schemas.microsoft.com/office/drawing/2014/main" id="{63AF7EA6-B638-75F8-D20F-E3A4B464287C}"/>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69</a:t>
            </a:fld>
            <a:endParaRPr lang="en-US" kern="0" dirty="0">
              <a:latin typeface="Arial"/>
              <a:cs typeface="Arial"/>
              <a:sym typeface="Arial"/>
            </a:endParaRPr>
          </a:p>
        </p:txBody>
      </p:sp>
    </p:spTree>
    <p:extLst>
      <p:ext uri="{BB962C8B-B14F-4D97-AF65-F5344CB8AC3E}">
        <p14:creationId xmlns:p14="http://schemas.microsoft.com/office/powerpoint/2010/main" val="20135655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6425" y="341908"/>
            <a:ext cx="10058400" cy="794773"/>
          </a:xfrm>
        </p:spPr>
        <p:txBody>
          <a:bodyPr/>
          <a:lstStyle/>
          <a:p>
            <a:r>
              <a:rPr lang="en-US" dirty="0"/>
              <a:t>Gradient Descent Learning</a:t>
            </a:r>
          </a:p>
        </p:txBody>
      </p:sp>
      <p:sp>
        <p:nvSpPr>
          <p:cNvPr id="3" name="Content Placeholder 2"/>
          <p:cNvSpPr>
            <a:spLocks noGrp="1"/>
          </p:cNvSpPr>
          <p:nvPr>
            <p:ph idx="1"/>
          </p:nvPr>
        </p:nvSpPr>
        <p:spPr>
          <a:xfrm>
            <a:off x="1097580" y="1552420"/>
            <a:ext cx="10058400" cy="4023360"/>
          </a:xfrm>
        </p:spPr>
        <p:txBody>
          <a:bodyPr/>
          <a:lstStyle/>
          <a:p>
            <a:r>
              <a:rPr lang="en-US" dirty="0"/>
              <a:t>Weights are updated to reduce loss.</a:t>
            </a:r>
          </a:p>
        </p:txBody>
      </p:sp>
      <p:sp>
        <p:nvSpPr>
          <p:cNvPr id="4" name="Date Placeholder 3"/>
          <p:cNvSpPr>
            <a:spLocks noGrp="1"/>
          </p:cNvSpPr>
          <p:nvPr>
            <p:ph type="dt" sz="half" idx="10"/>
          </p:nvPr>
        </p:nvSpPr>
        <p:spPr/>
        <p:txBody>
          <a:bodyPr/>
          <a:lstStyle/>
          <a:p>
            <a:pPr defTabSz="1219170">
              <a:buClr>
                <a:srgbClr val="000000"/>
              </a:buClr>
            </a:pPr>
            <a:fld id="{F7E7E415-12D1-49DD-9A64-CF300887D24C}"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70</a:t>
            </a:fld>
            <a:endParaRPr lang="en-US" kern="0" dirty="0">
              <a:latin typeface="Arial"/>
              <a:cs typeface="Arial"/>
              <a:sym typeface="Arial"/>
            </a:endParaRPr>
          </a:p>
        </p:txBody>
      </p:sp>
      <p:sp>
        <p:nvSpPr>
          <p:cNvPr id="7" name="Rectangle 6"/>
          <p:cNvSpPr/>
          <p:nvPr/>
        </p:nvSpPr>
        <p:spPr>
          <a:xfrm>
            <a:off x="976425" y="2101799"/>
            <a:ext cx="1486304"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Update rule:</a:t>
            </a:r>
          </a:p>
        </p:txBody>
      </p:sp>
      <p:pic>
        <p:nvPicPr>
          <p:cNvPr id="8" name="Picture 7"/>
          <p:cNvPicPr>
            <a:picLocks noChangeAspect="1"/>
          </p:cNvPicPr>
          <p:nvPr/>
        </p:nvPicPr>
        <p:blipFill>
          <a:blip r:embed="rId2"/>
          <a:stretch>
            <a:fillRect/>
          </a:stretch>
        </p:blipFill>
        <p:spPr>
          <a:xfrm>
            <a:off x="2643303" y="1915464"/>
            <a:ext cx="3148611" cy="1035353"/>
          </a:xfrm>
          <a:prstGeom prst="rect">
            <a:avLst/>
          </a:prstGeom>
        </p:spPr>
      </p:pic>
      <p:sp>
        <p:nvSpPr>
          <p:cNvPr id="9" name="Rectangle 8"/>
          <p:cNvSpPr/>
          <p:nvPr/>
        </p:nvSpPr>
        <p:spPr>
          <a:xfrm>
            <a:off x="1026536" y="2856725"/>
            <a:ext cx="6686229" cy="1816266"/>
          </a:xfrm>
          <a:prstGeom prst="rect">
            <a:avLst/>
          </a:prstGeom>
        </p:spPr>
        <p:txBody>
          <a:bodyPr wrap="square">
            <a:spAutoFit/>
          </a:bodyPr>
          <a:lstStyle/>
          <a:p>
            <a:pPr defTabSz="1219170">
              <a:buClr>
                <a:srgbClr val="000000"/>
              </a:buClr>
            </a:pPr>
            <a:r>
              <a:rPr lang="en-US" sz="1867" kern="0" dirty="0">
                <a:solidFill>
                  <a:srgbClr val="000000"/>
                </a:solidFill>
                <a:latin typeface="Arial"/>
                <a:cs typeface="Arial"/>
                <a:sym typeface="Arial"/>
              </a:rPr>
              <a:t>Where:</a:t>
            </a:r>
          </a:p>
          <a:p>
            <a:pPr marL="380990" indent="-380990" defTabSz="1219170">
              <a:buClr>
                <a:srgbClr val="000000"/>
              </a:buClr>
              <a:buFont typeface="Wingdings" panose="05000000000000000000" pitchFamily="2" charset="2"/>
              <a:buChar char="§"/>
            </a:pPr>
            <a:r>
              <a:rPr lang="en-US" sz="1867" kern="0" dirty="0">
                <a:solidFill>
                  <a:srgbClr val="000000"/>
                </a:solidFill>
                <a:latin typeface="Arial"/>
                <a:cs typeface="Arial"/>
                <a:sym typeface="Arial"/>
              </a:rPr>
              <a:t>η= learning rate</a:t>
            </a:r>
          </a:p>
          <a:p>
            <a:pPr marL="380990" indent="-380990" defTabSz="1219170">
              <a:buClr>
                <a:srgbClr val="000000"/>
              </a:buClr>
              <a:buFont typeface="Wingdings" panose="05000000000000000000" pitchFamily="2" charset="2"/>
              <a:buChar char="§"/>
            </a:pPr>
            <a:r>
              <a:rPr lang="en-US" sz="1867" kern="0" dirty="0">
                <a:solidFill>
                  <a:srgbClr val="000000"/>
                </a:solidFill>
                <a:latin typeface="Arial"/>
                <a:cs typeface="Arial"/>
                <a:sym typeface="Arial"/>
              </a:rPr>
              <a:t>gradient = slope of error curve</a:t>
            </a:r>
          </a:p>
          <a:p>
            <a:pPr defTabSz="1219170">
              <a:buClr>
                <a:srgbClr val="000000"/>
              </a:buClr>
            </a:pPr>
            <a:r>
              <a:rPr lang="en-US" sz="1867" kern="0" dirty="0">
                <a:solidFill>
                  <a:srgbClr val="000000"/>
                </a:solidFill>
                <a:latin typeface="Arial"/>
                <a:cs typeface="Arial"/>
                <a:sym typeface="Arial"/>
              </a:rPr>
              <a:t>Interpretation:</a:t>
            </a:r>
          </a:p>
          <a:p>
            <a:pPr marL="380990" indent="-380990" defTabSz="1219170">
              <a:buClr>
                <a:srgbClr val="000000"/>
              </a:buClr>
              <a:buFont typeface="Wingdings" panose="05000000000000000000" pitchFamily="2" charset="2"/>
              <a:buChar char="§"/>
            </a:pPr>
            <a:r>
              <a:rPr lang="en-US" sz="1867" kern="0" dirty="0">
                <a:solidFill>
                  <a:srgbClr val="000000"/>
                </a:solidFill>
                <a:latin typeface="Arial"/>
                <a:cs typeface="Arial"/>
                <a:sym typeface="Arial"/>
              </a:rPr>
              <a:t>Positive slope → decrease weight</a:t>
            </a:r>
          </a:p>
          <a:p>
            <a:pPr marL="380990" indent="-380990" defTabSz="1219170">
              <a:buClr>
                <a:srgbClr val="000000"/>
              </a:buClr>
              <a:buFont typeface="Wingdings" panose="05000000000000000000" pitchFamily="2" charset="2"/>
              <a:buChar char="§"/>
            </a:pPr>
            <a:r>
              <a:rPr lang="en-US" sz="1867" kern="0" dirty="0">
                <a:solidFill>
                  <a:srgbClr val="000000"/>
                </a:solidFill>
                <a:latin typeface="Arial"/>
                <a:cs typeface="Arial"/>
                <a:sym typeface="Arial"/>
              </a:rPr>
              <a:t>Negative slope → increase weight</a:t>
            </a:r>
          </a:p>
        </p:txBody>
      </p:sp>
      <p:pic>
        <p:nvPicPr>
          <p:cNvPr id="10" name="Picture 9"/>
          <p:cNvPicPr>
            <a:picLocks noChangeAspect="1"/>
          </p:cNvPicPr>
          <p:nvPr/>
        </p:nvPicPr>
        <p:blipFill>
          <a:blip r:embed="rId3"/>
          <a:stretch>
            <a:fillRect/>
          </a:stretch>
        </p:blipFill>
        <p:spPr>
          <a:xfrm>
            <a:off x="6126481" y="1796969"/>
            <a:ext cx="5332068" cy="3320303"/>
          </a:xfrm>
          <a:prstGeom prst="rect">
            <a:avLst/>
          </a:prstGeom>
        </p:spPr>
      </p:pic>
    </p:spTree>
    <p:extLst>
      <p:ext uri="{BB962C8B-B14F-4D97-AF65-F5344CB8AC3E}">
        <p14:creationId xmlns:p14="http://schemas.microsoft.com/office/powerpoint/2010/main" val="385535894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0704" y="341908"/>
            <a:ext cx="10058400" cy="794773"/>
          </a:xfrm>
        </p:spPr>
        <p:txBody>
          <a:bodyPr/>
          <a:lstStyle/>
          <a:p>
            <a:r>
              <a:rPr lang="en-US" dirty="0"/>
              <a:t>Backpropagation</a:t>
            </a:r>
          </a:p>
        </p:txBody>
      </p:sp>
      <p:sp>
        <p:nvSpPr>
          <p:cNvPr id="4" name="Date Placeholder 3"/>
          <p:cNvSpPr>
            <a:spLocks noGrp="1"/>
          </p:cNvSpPr>
          <p:nvPr>
            <p:ph type="dt" sz="half" idx="10"/>
          </p:nvPr>
        </p:nvSpPr>
        <p:spPr/>
        <p:txBody>
          <a:bodyPr/>
          <a:lstStyle/>
          <a:p>
            <a:pPr defTabSz="1219170">
              <a:buClr>
                <a:srgbClr val="000000"/>
              </a:buClr>
            </a:pPr>
            <a:fld id="{92402C23-6458-4411-9E05-4E1D739ABD04}"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71</a:t>
            </a:fld>
            <a:endParaRPr lang="en-US" kern="0" dirty="0">
              <a:latin typeface="Arial"/>
              <a:cs typeface="Arial"/>
              <a:sym typeface="Arial"/>
            </a:endParaRPr>
          </a:p>
        </p:txBody>
      </p:sp>
      <p:pic>
        <p:nvPicPr>
          <p:cNvPr id="5122" name="Picture 2" descr="Schematic diagram of backpropagation training algorithm and typical... |  Download Scientific Diagr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76403" y="1493901"/>
            <a:ext cx="7720116" cy="4504916"/>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353691" y="1346297"/>
            <a:ext cx="4116709" cy="1528945"/>
          </a:xfrm>
          <a:prstGeom prst="rect">
            <a:avLst/>
          </a:prstGeom>
        </p:spPr>
        <p:txBody>
          <a:bodyPr wrap="square">
            <a:spAutoFit/>
          </a:bodyPr>
          <a:lstStyle/>
          <a:p>
            <a:pPr defTabSz="1219170">
              <a:buClr>
                <a:srgbClr val="000000"/>
              </a:buClr>
            </a:pPr>
            <a:r>
              <a:rPr lang="en-US" sz="1867" kern="0" dirty="0">
                <a:solidFill>
                  <a:srgbClr val="000000"/>
                </a:solidFill>
                <a:latin typeface="Arial"/>
                <a:cs typeface="Arial"/>
                <a:sym typeface="Arial"/>
              </a:rPr>
              <a:t>Backpropagation answers one core question: “How much did each weight cause the prediction error?” Once we know that, we adjust weights to reduce error.</a:t>
            </a:r>
          </a:p>
        </p:txBody>
      </p:sp>
      <p:sp>
        <p:nvSpPr>
          <p:cNvPr id="15" name="Rectangle 14"/>
          <p:cNvSpPr/>
          <p:nvPr/>
        </p:nvSpPr>
        <p:spPr>
          <a:xfrm>
            <a:off x="238539" y="3115313"/>
            <a:ext cx="2986157" cy="1528945"/>
          </a:xfrm>
          <a:prstGeom prst="rect">
            <a:avLst/>
          </a:prstGeom>
        </p:spPr>
        <p:txBody>
          <a:bodyPr wrap="square">
            <a:spAutoFit/>
          </a:bodyPr>
          <a:lstStyle/>
          <a:p>
            <a:pPr defTabSz="1219170">
              <a:buClr>
                <a:srgbClr val="000000"/>
              </a:buClr>
            </a:pPr>
            <a:r>
              <a:rPr lang="en-US" sz="1867" kern="0" dirty="0">
                <a:solidFill>
                  <a:srgbClr val="000000"/>
                </a:solidFill>
                <a:latin typeface="Arial"/>
                <a:cs typeface="Arial"/>
                <a:sym typeface="Arial"/>
              </a:rPr>
              <a:t>Process:</a:t>
            </a:r>
          </a:p>
          <a:p>
            <a:pPr marL="380990" indent="-380990" defTabSz="1219170">
              <a:buClr>
                <a:srgbClr val="000000"/>
              </a:buClr>
              <a:buFont typeface="Wingdings" panose="05000000000000000000" pitchFamily="2" charset="2"/>
              <a:buChar char="§"/>
            </a:pPr>
            <a:r>
              <a:rPr lang="en-US" sz="1867" kern="0" dirty="0">
                <a:solidFill>
                  <a:srgbClr val="000000"/>
                </a:solidFill>
                <a:latin typeface="Arial"/>
                <a:cs typeface="Arial"/>
                <a:sym typeface="Arial"/>
              </a:rPr>
              <a:t>Compute loss</a:t>
            </a:r>
          </a:p>
          <a:p>
            <a:pPr marL="380990" indent="-380990" defTabSz="1219170">
              <a:buClr>
                <a:srgbClr val="000000"/>
              </a:buClr>
              <a:buFont typeface="Wingdings" panose="05000000000000000000" pitchFamily="2" charset="2"/>
              <a:buChar char="§"/>
            </a:pPr>
            <a:r>
              <a:rPr lang="en-US" sz="1867" kern="0" dirty="0">
                <a:solidFill>
                  <a:srgbClr val="000000"/>
                </a:solidFill>
                <a:latin typeface="Arial"/>
                <a:cs typeface="Arial"/>
                <a:sym typeface="Arial"/>
              </a:rPr>
              <a:t>Find output error</a:t>
            </a:r>
          </a:p>
          <a:p>
            <a:pPr marL="380990" indent="-380990" defTabSz="1219170">
              <a:buClr>
                <a:srgbClr val="000000"/>
              </a:buClr>
              <a:buFont typeface="Wingdings" panose="05000000000000000000" pitchFamily="2" charset="2"/>
              <a:buChar char="§"/>
            </a:pPr>
            <a:r>
              <a:rPr lang="en-US" sz="1867" kern="0" dirty="0">
                <a:solidFill>
                  <a:srgbClr val="000000"/>
                </a:solidFill>
                <a:latin typeface="Arial"/>
                <a:cs typeface="Arial"/>
                <a:sym typeface="Arial"/>
              </a:rPr>
              <a:t>Propagate backward</a:t>
            </a:r>
          </a:p>
          <a:p>
            <a:pPr marL="380990" indent="-380990" defTabSz="1219170">
              <a:buClr>
                <a:srgbClr val="000000"/>
              </a:buClr>
              <a:buFont typeface="Wingdings" panose="05000000000000000000" pitchFamily="2" charset="2"/>
              <a:buChar char="§"/>
            </a:pPr>
            <a:r>
              <a:rPr lang="en-US" sz="1867" kern="0" dirty="0">
                <a:solidFill>
                  <a:srgbClr val="000000"/>
                </a:solidFill>
                <a:latin typeface="Arial"/>
                <a:cs typeface="Arial"/>
                <a:sym typeface="Arial"/>
              </a:rPr>
              <a:t>Update weights</a:t>
            </a:r>
          </a:p>
        </p:txBody>
      </p:sp>
    </p:spTree>
    <p:extLst>
      <p:ext uri="{BB962C8B-B14F-4D97-AF65-F5344CB8AC3E}">
        <p14:creationId xmlns:p14="http://schemas.microsoft.com/office/powerpoint/2010/main" val="113655712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4" name="Date Placeholder 3"/>
          <p:cNvSpPr>
            <a:spLocks noGrp="1"/>
          </p:cNvSpPr>
          <p:nvPr>
            <p:ph type="dt" sz="half" idx="10"/>
          </p:nvPr>
        </p:nvSpPr>
        <p:spPr/>
        <p:txBody>
          <a:bodyPr/>
          <a:lstStyle/>
          <a:p>
            <a:pPr defTabSz="1219170">
              <a:buClr>
                <a:srgbClr val="000000"/>
              </a:buClr>
            </a:pPr>
            <a:fld id="{038DBF1D-2E7A-4CBD-88C0-4AE8EF22844B}"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72</a:t>
            </a:fld>
            <a:endParaRPr lang="en-US" kern="0" dirty="0">
              <a:latin typeface="Arial"/>
              <a:cs typeface="Arial"/>
              <a:sym typeface="Arial"/>
            </a:endParaRPr>
          </a:p>
        </p:txBody>
      </p:sp>
      <p:pic>
        <p:nvPicPr>
          <p:cNvPr id="7" name="Picture 6"/>
          <p:cNvPicPr>
            <a:picLocks noChangeAspect="1"/>
          </p:cNvPicPr>
          <p:nvPr/>
        </p:nvPicPr>
        <p:blipFill>
          <a:blip r:embed="rId2"/>
          <a:stretch>
            <a:fillRect/>
          </a:stretch>
        </p:blipFill>
        <p:spPr>
          <a:xfrm>
            <a:off x="1097280" y="1394396"/>
            <a:ext cx="1940728" cy="4033869"/>
          </a:xfrm>
          <a:prstGeom prst="rect">
            <a:avLst/>
          </a:prstGeom>
        </p:spPr>
      </p:pic>
      <p:sp>
        <p:nvSpPr>
          <p:cNvPr id="8" name="Rectangle 7"/>
          <p:cNvSpPr/>
          <p:nvPr/>
        </p:nvSpPr>
        <p:spPr>
          <a:xfrm>
            <a:off x="1097280" y="5428266"/>
            <a:ext cx="6096000" cy="666977"/>
          </a:xfrm>
          <a:prstGeom prst="rect">
            <a:avLst/>
          </a:prstGeom>
        </p:spPr>
        <p:txBody>
          <a:bodyPr>
            <a:spAutoFit/>
          </a:bodyPr>
          <a:lstStyle/>
          <a:p>
            <a:pPr defTabSz="1219170">
              <a:buClr>
                <a:srgbClr val="000000"/>
              </a:buClr>
            </a:pPr>
            <a:r>
              <a:rPr lang="en-US" sz="1867" b="1" kern="0" dirty="0">
                <a:solidFill>
                  <a:srgbClr val="000000"/>
                </a:solidFill>
                <a:latin typeface="Arial"/>
                <a:cs typeface="Arial"/>
                <a:sym typeface="Arial"/>
              </a:rPr>
              <a:t>Activation = linear</a:t>
            </a:r>
            <a:endParaRPr lang="en-US" sz="1867" kern="0" dirty="0">
              <a:solidFill>
                <a:srgbClr val="000000"/>
              </a:solidFill>
              <a:latin typeface="Arial"/>
              <a:cs typeface="Arial"/>
              <a:sym typeface="Arial"/>
            </a:endParaRPr>
          </a:p>
          <a:p>
            <a:pPr defTabSz="1219170">
              <a:buClr>
                <a:srgbClr val="000000"/>
              </a:buClr>
            </a:pPr>
            <a:r>
              <a:rPr lang="en-US" sz="1867" kern="0" dirty="0">
                <a:solidFill>
                  <a:srgbClr val="000000"/>
                </a:solidFill>
                <a:latin typeface="Arial"/>
                <a:cs typeface="Arial"/>
                <a:sym typeface="Arial"/>
              </a:rPr>
              <a:t>So:</a:t>
            </a:r>
          </a:p>
        </p:txBody>
      </p:sp>
      <p:pic>
        <p:nvPicPr>
          <p:cNvPr id="9" name="Picture 8"/>
          <p:cNvPicPr>
            <a:picLocks noChangeAspect="1"/>
          </p:cNvPicPr>
          <p:nvPr/>
        </p:nvPicPr>
        <p:blipFill>
          <a:blip r:embed="rId3"/>
          <a:stretch>
            <a:fillRect/>
          </a:stretch>
        </p:blipFill>
        <p:spPr>
          <a:xfrm>
            <a:off x="1749166" y="5762159"/>
            <a:ext cx="1168501" cy="426757"/>
          </a:xfrm>
          <a:prstGeom prst="rect">
            <a:avLst/>
          </a:prstGeom>
        </p:spPr>
      </p:pic>
      <p:sp>
        <p:nvSpPr>
          <p:cNvPr id="10" name="Oval 9"/>
          <p:cNvSpPr/>
          <p:nvPr/>
        </p:nvSpPr>
        <p:spPr>
          <a:xfrm>
            <a:off x="5424556" y="2261705"/>
            <a:ext cx="521253" cy="5124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a:solidFill>
                <a:prstClr val="white"/>
              </a:solidFill>
              <a:latin typeface="Calibri" panose="020F0502020204030204"/>
              <a:sym typeface="Arial"/>
            </a:endParaRPr>
          </a:p>
        </p:txBody>
      </p:sp>
      <p:sp>
        <p:nvSpPr>
          <p:cNvPr id="11" name="Oval 10"/>
          <p:cNvSpPr/>
          <p:nvPr/>
        </p:nvSpPr>
        <p:spPr>
          <a:xfrm>
            <a:off x="5424556" y="3514373"/>
            <a:ext cx="521253" cy="5124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a:solidFill>
                <a:prstClr val="white"/>
              </a:solidFill>
              <a:latin typeface="Calibri" panose="020F0502020204030204"/>
              <a:sym typeface="Arial"/>
            </a:endParaRPr>
          </a:p>
        </p:txBody>
      </p:sp>
      <p:sp>
        <p:nvSpPr>
          <p:cNvPr id="12" name="Oval 11"/>
          <p:cNvSpPr/>
          <p:nvPr/>
        </p:nvSpPr>
        <p:spPr>
          <a:xfrm>
            <a:off x="6672027" y="2898914"/>
            <a:ext cx="521253" cy="5124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a:solidFill>
                <a:prstClr val="white"/>
              </a:solidFill>
              <a:latin typeface="Calibri" panose="020F0502020204030204"/>
              <a:sym typeface="Arial"/>
            </a:endParaRPr>
          </a:p>
        </p:txBody>
      </p:sp>
      <p:sp>
        <p:nvSpPr>
          <p:cNvPr id="13" name="Oval 12"/>
          <p:cNvSpPr/>
          <p:nvPr/>
        </p:nvSpPr>
        <p:spPr>
          <a:xfrm>
            <a:off x="7987736" y="2898913"/>
            <a:ext cx="521253" cy="5124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a:solidFill>
                <a:prstClr val="white"/>
              </a:solidFill>
              <a:latin typeface="Calibri" panose="020F0502020204030204"/>
              <a:sym typeface="Arial"/>
            </a:endParaRPr>
          </a:p>
        </p:txBody>
      </p:sp>
      <p:cxnSp>
        <p:nvCxnSpPr>
          <p:cNvPr id="15" name="Straight Arrow Connector 14"/>
          <p:cNvCxnSpPr>
            <a:stCxn id="10" idx="6"/>
            <a:endCxn id="12" idx="1"/>
          </p:cNvCxnSpPr>
          <p:nvPr/>
        </p:nvCxnSpPr>
        <p:spPr>
          <a:xfrm>
            <a:off x="5945810" y="2517914"/>
            <a:ext cx="802553" cy="456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11" idx="6"/>
            <a:endCxn id="12" idx="3"/>
          </p:cNvCxnSpPr>
          <p:nvPr/>
        </p:nvCxnSpPr>
        <p:spPr>
          <a:xfrm flipV="1">
            <a:off x="5945810" y="3336290"/>
            <a:ext cx="802553" cy="4342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12" idx="6"/>
            <a:endCxn id="13" idx="2"/>
          </p:cNvCxnSpPr>
          <p:nvPr/>
        </p:nvCxnSpPr>
        <p:spPr>
          <a:xfrm flipV="1">
            <a:off x="7193280" y="3155122"/>
            <a:ext cx="7944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8508989" y="3143026"/>
            <a:ext cx="7944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4630100" y="2505905"/>
            <a:ext cx="7944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V="1">
            <a:off x="4622003" y="3788529"/>
            <a:ext cx="79445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Rectangle 24"/>
          <p:cNvSpPr/>
          <p:nvPr/>
        </p:nvSpPr>
        <p:spPr>
          <a:xfrm>
            <a:off x="4224267" y="2277668"/>
            <a:ext cx="437940"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x1</a:t>
            </a:r>
          </a:p>
        </p:txBody>
      </p:sp>
      <p:sp>
        <p:nvSpPr>
          <p:cNvPr id="26" name="Rectangle 25"/>
          <p:cNvSpPr/>
          <p:nvPr/>
        </p:nvSpPr>
        <p:spPr>
          <a:xfrm>
            <a:off x="4221933" y="3583343"/>
            <a:ext cx="437940"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x2</a:t>
            </a:r>
          </a:p>
        </p:txBody>
      </p:sp>
      <p:sp>
        <p:nvSpPr>
          <p:cNvPr id="27" name="Rectangle 26"/>
          <p:cNvSpPr/>
          <p:nvPr/>
        </p:nvSpPr>
        <p:spPr>
          <a:xfrm>
            <a:off x="4221933" y="2277668"/>
            <a:ext cx="437940"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x1</a:t>
            </a:r>
          </a:p>
        </p:txBody>
      </p:sp>
      <p:sp>
        <p:nvSpPr>
          <p:cNvPr id="28" name="Rectangle 27"/>
          <p:cNvSpPr/>
          <p:nvPr/>
        </p:nvSpPr>
        <p:spPr>
          <a:xfrm>
            <a:off x="6126419" y="2262261"/>
            <a:ext cx="490840"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w1</a:t>
            </a:r>
          </a:p>
        </p:txBody>
      </p:sp>
      <p:sp>
        <p:nvSpPr>
          <p:cNvPr id="29" name="Rectangle 28"/>
          <p:cNvSpPr/>
          <p:nvPr/>
        </p:nvSpPr>
        <p:spPr>
          <a:xfrm>
            <a:off x="6168744" y="3583343"/>
            <a:ext cx="490840"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w2</a:t>
            </a:r>
          </a:p>
        </p:txBody>
      </p:sp>
      <p:cxnSp>
        <p:nvCxnSpPr>
          <p:cNvPr id="30" name="Straight Arrow Connector 29"/>
          <p:cNvCxnSpPr>
            <a:endCxn id="12" idx="4"/>
          </p:cNvCxnSpPr>
          <p:nvPr/>
        </p:nvCxnSpPr>
        <p:spPr>
          <a:xfrm flipH="1" flipV="1">
            <a:off x="6932653" y="3411331"/>
            <a:ext cx="2651" cy="1085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H="1" flipV="1">
            <a:off x="8248363" y="3411331"/>
            <a:ext cx="2651" cy="10855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6720605" y="4435515"/>
            <a:ext cx="450764"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b1</a:t>
            </a:r>
          </a:p>
        </p:txBody>
      </p:sp>
      <p:sp>
        <p:nvSpPr>
          <p:cNvPr id="38" name="Rectangle 37"/>
          <p:cNvSpPr/>
          <p:nvPr/>
        </p:nvSpPr>
        <p:spPr>
          <a:xfrm>
            <a:off x="7987736" y="4502840"/>
            <a:ext cx="450764"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b2</a:t>
            </a:r>
          </a:p>
        </p:txBody>
      </p:sp>
      <p:pic>
        <p:nvPicPr>
          <p:cNvPr id="39" name="Picture 38"/>
          <p:cNvPicPr>
            <a:picLocks noChangeAspect="1"/>
          </p:cNvPicPr>
          <p:nvPr/>
        </p:nvPicPr>
        <p:blipFill>
          <a:blip r:embed="rId4"/>
          <a:stretch>
            <a:fillRect/>
          </a:stretch>
        </p:blipFill>
        <p:spPr>
          <a:xfrm>
            <a:off x="9384166" y="2982790"/>
            <a:ext cx="4572335" cy="1554615"/>
          </a:xfrm>
          <a:prstGeom prst="rect">
            <a:avLst/>
          </a:prstGeom>
        </p:spPr>
      </p:pic>
      <p:sp>
        <p:nvSpPr>
          <p:cNvPr id="40" name="Rectangle 39"/>
          <p:cNvSpPr/>
          <p:nvPr/>
        </p:nvSpPr>
        <p:spPr>
          <a:xfrm>
            <a:off x="7329654" y="2688037"/>
            <a:ext cx="490840"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w3</a:t>
            </a:r>
          </a:p>
        </p:txBody>
      </p:sp>
      <p:cxnSp>
        <p:nvCxnSpPr>
          <p:cNvPr id="42" name="Straight Arrow Connector 41"/>
          <p:cNvCxnSpPr>
            <a:stCxn id="12" idx="0"/>
          </p:cNvCxnSpPr>
          <p:nvPr/>
        </p:nvCxnSpPr>
        <p:spPr>
          <a:xfrm flipV="1">
            <a:off x="6932653" y="2156347"/>
            <a:ext cx="672931" cy="74256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3" name="Rectangle 42"/>
          <p:cNvSpPr/>
          <p:nvPr/>
        </p:nvSpPr>
        <p:spPr>
          <a:xfrm>
            <a:off x="7513944" y="1867299"/>
            <a:ext cx="46358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Z1</a:t>
            </a:r>
          </a:p>
        </p:txBody>
      </p:sp>
    </p:spTree>
    <p:extLst>
      <p:ext uri="{BB962C8B-B14F-4D97-AF65-F5344CB8AC3E}">
        <p14:creationId xmlns:p14="http://schemas.microsoft.com/office/powerpoint/2010/main" val="30530634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Forward Propagation</a:t>
            </a:r>
          </a:p>
        </p:txBody>
      </p:sp>
      <p:sp>
        <p:nvSpPr>
          <p:cNvPr id="4" name="Date Placeholder 3"/>
          <p:cNvSpPr>
            <a:spLocks noGrp="1"/>
          </p:cNvSpPr>
          <p:nvPr>
            <p:ph type="dt" sz="half" idx="10"/>
          </p:nvPr>
        </p:nvSpPr>
        <p:spPr/>
        <p:txBody>
          <a:bodyPr/>
          <a:lstStyle/>
          <a:p>
            <a:pPr defTabSz="1219170">
              <a:buClr>
                <a:srgbClr val="000000"/>
              </a:buClr>
            </a:pPr>
            <a:fld id="{FC49EE25-3AE8-495E-85C2-DA6AC4CD6DA0}"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73</a:t>
            </a:fld>
            <a:endParaRPr lang="en-US" kern="0" dirty="0">
              <a:latin typeface="Arial"/>
              <a:cs typeface="Arial"/>
              <a:sym typeface="Arial"/>
            </a:endParaRPr>
          </a:p>
        </p:txBody>
      </p:sp>
      <p:sp>
        <p:nvSpPr>
          <p:cNvPr id="8" name="Rectangle 7"/>
          <p:cNvSpPr/>
          <p:nvPr/>
        </p:nvSpPr>
        <p:spPr>
          <a:xfrm>
            <a:off x="991737" y="1497047"/>
            <a:ext cx="6096000" cy="666977"/>
          </a:xfrm>
          <a:prstGeom prst="rect">
            <a:avLst/>
          </a:prstGeom>
        </p:spPr>
        <p:txBody>
          <a:bodyPr>
            <a:spAutoFit/>
          </a:bodyPr>
          <a:lstStyle/>
          <a:p>
            <a:pPr defTabSz="1219170">
              <a:buClr>
                <a:srgbClr val="000000"/>
              </a:buClr>
            </a:pPr>
            <a:r>
              <a:rPr lang="en-US" sz="1867" b="1" kern="0" dirty="0">
                <a:solidFill>
                  <a:srgbClr val="000000"/>
                </a:solidFill>
                <a:latin typeface="Arial"/>
                <a:cs typeface="Arial"/>
                <a:sym typeface="Arial"/>
              </a:rPr>
              <a:t>Hidden neuron calculation</a:t>
            </a:r>
          </a:p>
          <a:p>
            <a:pPr defTabSz="1219170">
              <a:buClr>
                <a:srgbClr val="000000"/>
              </a:buClr>
            </a:pPr>
            <a:r>
              <a:rPr lang="en-US" sz="1867" kern="0" dirty="0">
                <a:solidFill>
                  <a:srgbClr val="000000"/>
                </a:solidFill>
                <a:latin typeface="Arial"/>
                <a:cs typeface="Arial"/>
                <a:sym typeface="Arial"/>
              </a:rPr>
              <a:t>Weighted sum:</a:t>
            </a:r>
          </a:p>
        </p:txBody>
      </p:sp>
      <p:pic>
        <p:nvPicPr>
          <p:cNvPr id="9" name="Picture 8"/>
          <p:cNvPicPr>
            <a:picLocks noChangeAspect="1"/>
          </p:cNvPicPr>
          <p:nvPr/>
        </p:nvPicPr>
        <p:blipFill>
          <a:blip r:embed="rId2"/>
          <a:stretch>
            <a:fillRect/>
          </a:stretch>
        </p:blipFill>
        <p:spPr>
          <a:xfrm>
            <a:off x="3974880" y="1858721"/>
            <a:ext cx="2903592" cy="335952"/>
          </a:xfrm>
          <a:prstGeom prst="rect">
            <a:avLst/>
          </a:prstGeom>
        </p:spPr>
      </p:pic>
      <p:sp>
        <p:nvSpPr>
          <p:cNvPr id="10" name="Rectangle 9"/>
          <p:cNvSpPr/>
          <p:nvPr/>
        </p:nvSpPr>
        <p:spPr>
          <a:xfrm>
            <a:off x="991737" y="2405157"/>
            <a:ext cx="2815194"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Since activation is linear:</a:t>
            </a:r>
          </a:p>
        </p:txBody>
      </p:sp>
      <p:pic>
        <p:nvPicPr>
          <p:cNvPr id="11" name="Picture 10"/>
          <p:cNvPicPr>
            <a:picLocks noChangeAspect="1"/>
          </p:cNvPicPr>
          <p:nvPr/>
        </p:nvPicPr>
        <p:blipFill>
          <a:blip r:embed="rId3"/>
          <a:stretch>
            <a:fillRect/>
          </a:stretch>
        </p:blipFill>
        <p:spPr>
          <a:xfrm>
            <a:off x="4159604" y="2397835"/>
            <a:ext cx="1217613" cy="425015"/>
          </a:xfrm>
          <a:prstGeom prst="rect">
            <a:avLst/>
          </a:prstGeom>
        </p:spPr>
      </p:pic>
      <p:sp>
        <p:nvSpPr>
          <p:cNvPr id="12" name="Rectangle 11"/>
          <p:cNvSpPr/>
          <p:nvPr/>
        </p:nvSpPr>
        <p:spPr>
          <a:xfrm>
            <a:off x="1097281" y="3155027"/>
            <a:ext cx="543739"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So:</a:t>
            </a:r>
          </a:p>
        </p:txBody>
      </p:sp>
      <p:pic>
        <p:nvPicPr>
          <p:cNvPr id="14" name="Picture 13"/>
          <p:cNvPicPr>
            <a:picLocks noChangeAspect="1"/>
          </p:cNvPicPr>
          <p:nvPr/>
        </p:nvPicPr>
        <p:blipFill>
          <a:blip r:embed="rId4"/>
          <a:stretch>
            <a:fillRect/>
          </a:stretch>
        </p:blipFill>
        <p:spPr>
          <a:xfrm>
            <a:off x="3857786" y="3155027"/>
            <a:ext cx="2861583" cy="448637"/>
          </a:xfrm>
          <a:prstGeom prst="rect">
            <a:avLst/>
          </a:prstGeom>
        </p:spPr>
      </p:pic>
      <p:sp>
        <p:nvSpPr>
          <p:cNvPr id="15" name="Rectangle 14"/>
          <p:cNvSpPr/>
          <p:nvPr/>
        </p:nvSpPr>
        <p:spPr>
          <a:xfrm>
            <a:off x="946854" y="3811617"/>
            <a:ext cx="290816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Output neuron calculation</a:t>
            </a:r>
          </a:p>
        </p:txBody>
      </p:sp>
      <p:pic>
        <p:nvPicPr>
          <p:cNvPr id="16" name="Picture 15"/>
          <p:cNvPicPr>
            <a:picLocks noChangeAspect="1"/>
          </p:cNvPicPr>
          <p:nvPr/>
        </p:nvPicPr>
        <p:blipFill>
          <a:blip r:embed="rId5"/>
          <a:stretch>
            <a:fillRect/>
          </a:stretch>
        </p:blipFill>
        <p:spPr>
          <a:xfrm>
            <a:off x="4159606" y="3909056"/>
            <a:ext cx="1881805" cy="523416"/>
          </a:xfrm>
          <a:prstGeom prst="rect">
            <a:avLst/>
          </a:prstGeom>
        </p:spPr>
      </p:pic>
      <p:sp>
        <p:nvSpPr>
          <p:cNvPr id="17" name="Rectangle 16"/>
          <p:cNvSpPr/>
          <p:nvPr/>
        </p:nvSpPr>
        <p:spPr>
          <a:xfrm>
            <a:off x="946853" y="4532036"/>
            <a:ext cx="1645002"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Substitute a1:</a:t>
            </a:r>
          </a:p>
        </p:txBody>
      </p:sp>
      <p:pic>
        <p:nvPicPr>
          <p:cNvPr id="18" name="Picture 17"/>
          <p:cNvPicPr>
            <a:picLocks noChangeAspect="1"/>
          </p:cNvPicPr>
          <p:nvPr/>
        </p:nvPicPr>
        <p:blipFill>
          <a:blip r:embed="rId6"/>
          <a:stretch>
            <a:fillRect/>
          </a:stretch>
        </p:blipFill>
        <p:spPr>
          <a:xfrm>
            <a:off x="3093660" y="4468209"/>
            <a:ext cx="3615891" cy="563516"/>
          </a:xfrm>
          <a:prstGeom prst="rect">
            <a:avLst/>
          </a:prstGeom>
        </p:spPr>
      </p:pic>
      <p:sp>
        <p:nvSpPr>
          <p:cNvPr id="19" name="Rectangle 18"/>
          <p:cNvSpPr/>
          <p:nvPr/>
        </p:nvSpPr>
        <p:spPr>
          <a:xfrm>
            <a:off x="946854" y="5157005"/>
            <a:ext cx="1122529" cy="379656"/>
          </a:xfrm>
          <a:prstGeom prst="rect">
            <a:avLst/>
          </a:prstGeom>
        </p:spPr>
        <p:txBody>
          <a:bodyPr wrap="square">
            <a:spAutoFit/>
          </a:bodyPr>
          <a:lstStyle/>
          <a:p>
            <a:pPr defTabSz="1219170">
              <a:buClr>
                <a:srgbClr val="000000"/>
              </a:buClr>
            </a:pPr>
            <a:r>
              <a:rPr lang="en-US" sz="1867" kern="0" dirty="0">
                <a:solidFill>
                  <a:srgbClr val="000000"/>
                </a:solidFill>
                <a:latin typeface="Arial"/>
                <a:cs typeface="Arial"/>
                <a:sym typeface="Arial"/>
              </a:rPr>
              <a:t>Expand:</a:t>
            </a:r>
          </a:p>
        </p:txBody>
      </p:sp>
      <p:pic>
        <p:nvPicPr>
          <p:cNvPr id="20" name="Picture 19"/>
          <p:cNvPicPr>
            <a:picLocks noChangeAspect="1"/>
          </p:cNvPicPr>
          <p:nvPr/>
        </p:nvPicPr>
        <p:blipFill>
          <a:blip r:embed="rId7"/>
          <a:stretch>
            <a:fillRect/>
          </a:stretch>
        </p:blipFill>
        <p:spPr>
          <a:xfrm>
            <a:off x="2922818" y="5103151"/>
            <a:ext cx="4510583" cy="597944"/>
          </a:xfrm>
          <a:prstGeom prst="rect">
            <a:avLst/>
          </a:prstGeom>
        </p:spPr>
      </p:pic>
      <p:sp>
        <p:nvSpPr>
          <p:cNvPr id="21" name="Rectangle 20"/>
          <p:cNvSpPr/>
          <p:nvPr/>
        </p:nvSpPr>
        <p:spPr>
          <a:xfrm>
            <a:off x="836737" y="5825832"/>
            <a:ext cx="1673856"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Loss Function</a:t>
            </a:r>
          </a:p>
        </p:txBody>
      </p:sp>
      <p:pic>
        <p:nvPicPr>
          <p:cNvPr id="22" name="Picture 21"/>
          <p:cNvPicPr>
            <a:picLocks noChangeAspect="1"/>
          </p:cNvPicPr>
          <p:nvPr/>
        </p:nvPicPr>
        <p:blipFill>
          <a:blip r:embed="rId8"/>
          <a:stretch>
            <a:fillRect/>
          </a:stretch>
        </p:blipFill>
        <p:spPr>
          <a:xfrm>
            <a:off x="3023530" y="5622284"/>
            <a:ext cx="1816057" cy="667345"/>
          </a:xfrm>
          <a:prstGeom prst="rect">
            <a:avLst/>
          </a:prstGeom>
        </p:spPr>
      </p:pic>
      <p:sp>
        <p:nvSpPr>
          <p:cNvPr id="23" name="Rectangle 22"/>
          <p:cNvSpPr/>
          <p:nvPr/>
        </p:nvSpPr>
        <p:spPr>
          <a:xfrm>
            <a:off x="4839589" y="5783949"/>
            <a:ext cx="2331087"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where:𝑦= true target</a:t>
            </a:r>
          </a:p>
        </p:txBody>
      </p:sp>
    </p:spTree>
    <p:extLst>
      <p:ext uri="{BB962C8B-B14F-4D97-AF65-F5344CB8AC3E}">
        <p14:creationId xmlns:p14="http://schemas.microsoft.com/office/powerpoint/2010/main" val="316070179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for Output Weight w3</a:t>
            </a:r>
          </a:p>
        </p:txBody>
      </p:sp>
      <p:sp>
        <p:nvSpPr>
          <p:cNvPr id="3" name="Content Placeholder 2"/>
          <p:cNvSpPr>
            <a:spLocks noGrp="1"/>
          </p:cNvSpPr>
          <p:nvPr>
            <p:ph idx="1"/>
          </p:nvPr>
        </p:nvSpPr>
        <p:spPr>
          <a:xfrm>
            <a:off x="944699" y="1490577"/>
            <a:ext cx="10058400" cy="4023360"/>
          </a:xfrm>
        </p:spPr>
        <p:txBody>
          <a:bodyPr/>
          <a:lstStyle/>
          <a:p>
            <a:r>
              <a:rPr lang="en-US" dirty="0"/>
              <a:t>We want:  </a:t>
            </a:r>
          </a:p>
        </p:txBody>
      </p:sp>
      <p:sp>
        <p:nvSpPr>
          <p:cNvPr id="4" name="Date Placeholder 3"/>
          <p:cNvSpPr>
            <a:spLocks noGrp="1"/>
          </p:cNvSpPr>
          <p:nvPr>
            <p:ph type="dt" sz="half" idx="10"/>
          </p:nvPr>
        </p:nvSpPr>
        <p:spPr/>
        <p:txBody>
          <a:bodyPr/>
          <a:lstStyle/>
          <a:p>
            <a:pPr defTabSz="1219170">
              <a:buClr>
                <a:srgbClr val="000000"/>
              </a:buClr>
            </a:pPr>
            <a:fld id="{3A3A2456-0F8F-4356-A4FF-C4BEB26D868B}"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74</a:t>
            </a:fld>
            <a:endParaRPr lang="en-US" kern="0" dirty="0">
              <a:latin typeface="Arial"/>
              <a:cs typeface="Arial"/>
              <a:sym typeface="Arial"/>
            </a:endParaRPr>
          </a:p>
        </p:txBody>
      </p:sp>
      <p:pic>
        <p:nvPicPr>
          <p:cNvPr id="7" name="Picture 6"/>
          <p:cNvPicPr>
            <a:picLocks noChangeAspect="1"/>
          </p:cNvPicPr>
          <p:nvPr/>
        </p:nvPicPr>
        <p:blipFill>
          <a:blip r:embed="rId2"/>
          <a:stretch>
            <a:fillRect/>
          </a:stretch>
        </p:blipFill>
        <p:spPr>
          <a:xfrm>
            <a:off x="2588391" y="1346447"/>
            <a:ext cx="680779" cy="680779"/>
          </a:xfrm>
          <a:prstGeom prst="rect">
            <a:avLst/>
          </a:prstGeom>
        </p:spPr>
      </p:pic>
      <p:sp>
        <p:nvSpPr>
          <p:cNvPr id="8" name="Rectangle 7"/>
          <p:cNvSpPr/>
          <p:nvPr/>
        </p:nvSpPr>
        <p:spPr>
          <a:xfrm>
            <a:off x="3686186" y="1490577"/>
            <a:ext cx="1314784"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Because:  </a:t>
            </a:r>
          </a:p>
        </p:txBody>
      </p:sp>
      <p:pic>
        <p:nvPicPr>
          <p:cNvPr id="9" name="Picture 8"/>
          <p:cNvPicPr>
            <a:picLocks noChangeAspect="1"/>
          </p:cNvPicPr>
          <p:nvPr/>
        </p:nvPicPr>
        <p:blipFill>
          <a:blip r:embed="rId3"/>
          <a:stretch>
            <a:fillRect/>
          </a:stretch>
        </p:blipFill>
        <p:spPr>
          <a:xfrm>
            <a:off x="5391109" y="1346446"/>
            <a:ext cx="2295152" cy="867292"/>
          </a:xfrm>
          <a:prstGeom prst="rect">
            <a:avLst/>
          </a:prstGeom>
        </p:spPr>
      </p:pic>
      <p:sp>
        <p:nvSpPr>
          <p:cNvPr id="10" name="Rectangle 9"/>
          <p:cNvSpPr/>
          <p:nvPr/>
        </p:nvSpPr>
        <p:spPr>
          <a:xfrm>
            <a:off x="882602" y="2292295"/>
            <a:ext cx="1887055"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Apply chain rule</a:t>
            </a:r>
          </a:p>
        </p:txBody>
      </p:sp>
      <p:pic>
        <p:nvPicPr>
          <p:cNvPr id="11" name="Picture 10"/>
          <p:cNvPicPr>
            <a:picLocks noChangeAspect="1"/>
          </p:cNvPicPr>
          <p:nvPr/>
        </p:nvPicPr>
        <p:blipFill>
          <a:blip r:embed="rId4"/>
          <a:stretch>
            <a:fillRect/>
          </a:stretch>
        </p:blipFill>
        <p:spPr>
          <a:xfrm>
            <a:off x="3269170" y="2261812"/>
            <a:ext cx="1900084" cy="711261"/>
          </a:xfrm>
          <a:prstGeom prst="rect">
            <a:avLst/>
          </a:prstGeom>
        </p:spPr>
      </p:pic>
      <p:sp>
        <p:nvSpPr>
          <p:cNvPr id="12" name="Rectangle 11"/>
          <p:cNvSpPr/>
          <p:nvPr/>
        </p:nvSpPr>
        <p:spPr>
          <a:xfrm>
            <a:off x="944699" y="3111864"/>
            <a:ext cx="1192955"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First term</a:t>
            </a:r>
          </a:p>
        </p:txBody>
      </p:sp>
      <p:pic>
        <p:nvPicPr>
          <p:cNvPr id="13" name="Picture 12"/>
          <p:cNvPicPr>
            <a:picLocks noChangeAspect="1"/>
          </p:cNvPicPr>
          <p:nvPr/>
        </p:nvPicPr>
        <p:blipFill>
          <a:blip r:embed="rId5"/>
          <a:stretch>
            <a:fillRect/>
          </a:stretch>
        </p:blipFill>
        <p:spPr>
          <a:xfrm>
            <a:off x="3051669" y="3004159"/>
            <a:ext cx="3045919" cy="756228"/>
          </a:xfrm>
          <a:prstGeom prst="rect">
            <a:avLst/>
          </a:prstGeom>
        </p:spPr>
      </p:pic>
      <p:sp>
        <p:nvSpPr>
          <p:cNvPr id="14" name="Rectangle 13"/>
          <p:cNvSpPr/>
          <p:nvPr/>
        </p:nvSpPr>
        <p:spPr>
          <a:xfrm>
            <a:off x="944699" y="3903116"/>
            <a:ext cx="1540806"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Second term</a:t>
            </a:r>
          </a:p>
        </p:txBody>
      </p:sp>
      <p:pic>
        <p:nvPicPr>
          <p:cNvPr id="15" name="Picture 14"/>
          <p:cNvPicPr>
            <a:picLocks noChangeAspect="1"/>
          </p:cNvPicPr>
          <p:nvPr/>
        </p:nvPicPr>
        <p:blipFill>
          <a:blip r:embed="rId6"/>
          <a:stretch>
            <a:fillRect/>
          </a:stretch>
        </p:blipFill>
        <p:spPr>
          <a:xfrm>
            <a:off x="2908188" y="3890559"/>
            <a:ext cx="1555995" cy="710347"/>
          </a:xfrm>
          <a:prstGeom prst="rect">
            <a:avLst/>
          </a:prstGeom>
        </p:spPr>
      </p:pic>
      <p:sp>
        <p:nvSpPr>
          <p:cNvPr id="16" name="Rectangle 15"/>
          <p:cNvSpPr/>
          <p:nvPr/>
        </p:nvSpPr>
        <p:spPr>
          <a:xfrm>
            <a:off x="901218" y="4848964"/>
            <a:ext cx="1141659"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Combine</a:t>
            </a:r>
          </a:p>
        </p:txBody>
      </p:sp>
      <p:pic>
        <p:nvPicPr>
          <p:cNvPr id="17" name="Picture 16"/>
          <p:cNvPicPr>
            <a:picLocks noChangeAspect="1"/>
          </p:cNvPicPr>
          <p:nvPr/>
        </p:nvPicPr>
        <p:blipFill>
          <a:blip r:embed="rId7"/>
          <a:stretch>
            <a:fillRect/>
          </a:stretch>
        </p:blipFill>
        <p:spPr>
          <a:xfrm>
            <a:off x="2838923" y="4671315"/>
            <a:ext cx="2155900" cy="873708"/>
          </a:xfrm>
          <a:prstGeom prst="rect">
            <a:avLst/>
          </a:prstGeom>
        </p:spPr>
      </p:pic>
    </p:spTree>
    <p:extLst>
      <p:ext uri="{BB962C8B-B14F-4D97-AF65-F5344CB8AC3E}">
        <p14:creationId xmlns:p14="http://schemas.microsoft.com/office/powerpoint/2010/main" val="24408268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for Hidden Weight w1</a:t>
            </a:r>
          </a:p>
        </p:txBody>
      </p:sp>
      <p:sp>
        <p:nvSpPr>
          <p:cNvPr id="3" name="Content Placeholder 2"/>
          <p:cNvSpPr>
            <a:spLocks noGrp="1"/>
          </p:cNvSpPr>
          <p:nvPr>
            <p:ph idx="1"/>
          </p:nvPr>
        </p:nvSpPr>
        <p:spPr>
          <a:xfrm>
            <a:off x="1068387" y="1517081"/>
            <a:ext cx="10058400" cy="4023360"/>
          </a:xfrm>
        </p:spPr>
        <p:txBody>
          <a:bodyPr/>
          <a:lstStyle/>
          <a:p>
            <a:r>
              <a:rPr lang="en-US" dirty="0"/>
              <a:t>We compute:</a:t>
            </a:r>
          </a:p>
        </p:txBody>
      </p:sp>
      <p:sp>
        <p:nvSpPr>
          <p:cNvPr id="4" name="Date Placeholder 3"/>
          <p:cNvSpPr>
            <a:spLocks noGrp="1"/>
          </p:cNvSpPr>
          <p:nvPr>
            <p:ph type="dt" sz="half" idx="10"/>
          </p:nvPr>
        </p:nvSpPr>
        <p:spPr/>
        <p:txBody>
          <a:bodyPr/>
          <a:lstStyle/>
          <a:p>
            <a:pPr defTabSz="1219170">
              <a:buClr>
                <a:srgbClr val="000000"/>
              </a:buClr>
            </a:pPr>
            <a:fld id="{7F9905B0-925C-48AB-9DEC-EDB62DE91320}"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75</a:t>
            </a:fld>
            <a:endParaRPr lang="en-US" kern="0" dirty="0">
              <a:latin typeface="Arial"/>
              <a:cs typeface="Arial"/>
              <a:sym typeface="Arial"/>
            </a:endParaRPr>
          </a:p>
        </p:txBody>
      </p:sp>
      <p:pic>
        <p:nvPicPr>
          <p:cNvPr id="7" name="Picture 6"/>
          <p:cNvPicPr>
            <a:picLocks noChangeAspect="1"/>
          </p:cNvPicPr>
          <p:nvPr/>
        </p:nvPicPr>
        <p:blipFill>
          <a:blip r:embed="rId2"/>
          <a:stretch>
            <a:fillRect/>
          </a:stretch>
        </p:blipFill>
        <p:spPr>
          <a:xfrm>
            <a:off x="2837968" y="1445341"/>
            <a:ext cx="731584" cy="680779"/>
          </a:xfrm>
          <a:prstGeom prst="rect">
            <a:avLst/>
          </a:prstGeom>
        </p:spPr>
      </p:pic>
      <p:pic>
        <p:nvPicPr>
          <p:cNvPr id="8" name="Picture 7"/>
          <p:cNvPicPr>
            <a:picLocks noChangeAspect="1"/>
          </p:cNvPicPr>
          <p:nvPr/>
        </p:nvPicPr>
        <p:blipFill>
          <a:blip r:embed="rId3"/>
          <a:stretch>
            <a:fillRect/>
          </a:stretch>
        </p:blipFill>
        <p:spPr>
          <a:xfrm>
            <a:off x="4092379" y="2385582"/>
            <a:ext cx="2611347" cy="690940"/>
          </a:xfrm>
          <a:prstGeom prst="rect">
            <a:avLst/>
          </a:prstGeom>
        </p:spPr>
      </p:pic>
      <p:sp>
        <p:nvSpPr>
          <p:cNvPr id="9" name="Rectangle 8"/>
          <p:cNvSpPr/>
          <p:nvPr/>
        </p:nvSpPr>
        <p:spPr>
          <a:xfrm>
            <a:off x="1415124" y="2524588"/>
            <a:ext cx="2432076"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Chain rule expansion</a:t>
            </a:r>
          </a:p>
        </p:txBody>
      </p:sp>
      <p:pic>
        <p:nvPicPr>
          <p:cNvPr id="10" name="Picture 9"/>
          <p:cNvPicPr>
            <a:picLocks noChangeAspect="1"/>
          </p:cNvPicPr>
          <p:nvPr/>
        </p:nvPicPr>
        <p:blipFill>
          <a:blip r:embed="rId4"/>
          <a:stretch>
            <a:fillRect/>
          </a:stretch>
        </p:blipFill>
        <p:spPr>
          <a:xfrm>
            <a:off x="4092379" y="3148262"/>
            <a:ext cx="1879935" cy="2239023"/>
          </a:xfrm>
          <a:prstGeom prst="rect">
            <a:avLst/>
          </a:prstGeom>
        </p:spPr>
      </p:pic>
      <p:sp>
        <p:nvSpPr>
          <p:cNvPr id="11" name="Rectangle 10"/>
          <p:cNvSpPr/>
          <p:nvPr/>
        </p:nvSpPr>
        <p:spPr>
          <a:xfrm>
            <a:off x="1869633" y="3320732"/>
            <a:ext cx="127470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Each term</a:t>
            </a:r>
          </a:p>
        </p:txBody>
      </p:sp>
      <p:sp>
        <p:nvSpPr>
          <p:cNvPr id="12" name="Rectangle 11"/>
          <p:cNvSpPr/>
          <p:nvPr/>
        </p:nvSpPr>
        <p:spPr>
          <a:xfrm>
            <a:off x="1878491" y="5434525"/>
            <a:ext cx="163217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Final gradient</a:t>
            </a:r>
          </a:p>
        </p:txBody>
      </p:sp>
      <p:pic>
        <p:nvPicPr>
          <p:cNvPr id="13" name="Picture 12"/>
          <p:cNvPicPr>
            <a:picLocks noChangeAspect="1"/>
          </p:cNvPicPr>
          <p:nvPr/>
        </p:nvPicPr>
        <p:blipFill>
          <a:blip r:embed="rId5"/>
          <a:stretch>
            <a:fillRect/>
          </a:stretch>
        </p:blipFill>
        <p:spPr>
          <a:xfrm>
            <a:off x="3777609" y="5355939"/>
            <a:ext cx="2380235" cy="793412"/>
          </a:xfrm>
          <a:prstGeom prst="rect">
            <a:avLst/>
          </a:prstGeom>
        </p:spPr>
      </p:pic>
    </p:spTree>
    <p:extLst>
      <p:ext uri="{BB962C8B-B14F-4D97-AF65-F5344CB8AC3E}">
        <p14:creationId xmlns:p14="http://schemas.microsoft.com/office/powerpoint/2010/main" val="28020313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Gradient for Hidden Weight w2</a:t>
            </a:r>
          </a:p>
        </p:txBody>
      </p:sp>
      <p:sp>
        <p:nvSpPr>
          <p:cNvPr id="3" name="Content Placeholder 2"/>
          <p:cNvSpPr>
            <a:spLocks noGrp="1"/>
          </p:cNvSpPr>
          <p:nvPr>
            <p:ph idx="1"/>
          </p:nvPr>
        </p:nvSpPr>
        <p:spPr>
          <a:xfrm>
            <a:off x="1068387" y="1517081"/>
            <a:ext cx="10058400" cy="4023360"/>
          </a:xfrm>
        </p:spPr>
        <p:txBody>
          <a:bodyPr/>
          <a:lstStyle/>
          <a:p>
            <a:r>
              <a:rPr lang="en-US" dirty="0"/>
              <a:t>We compute:</a:t>
            </a:r>
          </a:p>
        </p:txBody>
      </p:sp>
      <p:sp>
        <p:nvSpPr>
          <p:cNvPr id="4" name="Date Placeholder 3"/>
          <p:cNvSpPr>
            <a:spLocks noGrp="1"/>
          </p:cNvSpPr>
          <p:nvPr>
            <p:ph type="dt" sz="half" idx="10"/>
          </p:nvPr>
        </p:nvSpPr>
        <p:spPr/>
        <p:txBody>
          <a:bodyPr/>
          <a:lstStyle/>
          <a:p>
            <a:pPr defTabSz="1219170">
              <a:buClr>
                <a:srgbClr val="000000"/>
              </a:buClr>
            </a:pPr>
            <a:fld id="{8A02EFEC-FEDD-4D84-8746-F55B90911BD7}"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76</a:t>
            </a:fld>
            <a:endParaRPr lang="en-US" kern="0" dirty="0">
              <a:latin typeface="Arial"/>
              <a:cs typeface="Arial"/>
              <a:sym typeface="Arial"/>
            </a:endParaRPr>
          </a:p>
        </p:txBody>
      </p:sp>
      <p:pic>
        <p:nvPicPr>
          <p:cNvPr id="14" name="Picture 13"/>
          <p:cNvPicPr>
            <a:picLocks noChangeAspect="1"/>
          </p:cNvPicPr>
          <p:nvPr/>
        </p:nvPicPr>
        <p:blipFill>
          <a:blip r:embed="rId2"/>
          <a:stretch>
            <a:fillRect/>
          </a:stretch>
        </p:blipFill>
        <p:spPr>
          <a:xfrm>
            <a:off x="3656509" y="1400137"/>
            <a:ext cx="2877460" cy="971295"/>
          </a:xfrm>
          <a:prstGeom prst="rect">
            <a:avLst/>
          </a:prstGeom>
        </p:spPr>
      </p:pic>
      <p:sp>
        <p:nvSpPr>
          <p:cNvPr id="15" name="Rectangle 14"/>
          <p:cNvSpPr/>
          <p:nvPr/>
        </p:nvSpPr>
        <p:spPr>
          <a:xfrm>
            <a:off x="1068387" y="2579616"/>
            <a:ext cx="1754006"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Bias Gradients</a:t>
            </a:r>
          </a:p>
        </p:txBody>
      </p:sp>
      <p:pic>
        <p:nvPicPr>
          <p:cNvPr id="16" name="Picture 15"/>
          <p:cNvPicPr>
            <a:picLocks noChangeAspect="1"/>
          </p:cNvPicPr>
          <p:nvPr/>
        </p:nvPicPr>
        <p:blipFill>
          <a:blip r:embed="rId3"/>
          <a:stretch>
            <a:fillRect/>
          </a:stretch>
        </p:blipFill>
        <p:spPr>
          <a:xfrm>
            <a:off x="878151" y="3242122"/>
            <a:ext cx="6471845" cy="2503369"/>
          </a:xfrm>
          <a:prstGeom prst="rect">
            <a:avLst/>
          </a:prstGeom>
        </p:spPr>
      </p:pic>
    </p:spTree>
    <p:extLst>
      <p:ext uri="{BB962C8B-B14F-4D97-AF65-F5344CB8AC3E}">
        <p14:creationId xmlns:p14="http://schemas.microsoft.com/office/powerpoint/2010/main" val="67433280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Weight and Bias Update</a:t>
            </a:r>
          </a:p>
        </p:txBody>
      </p:sp>
      <p:sp>
        <p:nvSpPr>
          <p:cNvPr id="4" name="Date Placeholder 3"/>
          <p:cNvSpPr>
            <a:spLocks noGrp="1"/>
          </p:cNvSpPr>
          <p:nvPr>
            <p:ph type="dt" sz="half" idx="10"/>
          </p:nvPr>
        </p:nvSpPr>
        <p:spPr/>
        <p:txBody>
          <a:bodyPr/>
          <a:lstStyle/>
          <a:p>
            <a:pPr defTabSz="1219170">
              <a:buClr>
                <a:srgbClr val="000000"/>
              </a:buClr>
            </a:pPr>
            <a:fld id="{97EB1D4F-E362-4E47-8166-C2A3949D76DA}"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77</a:t>
            </a:fld>
            <a:endParaRPr lang="en-US" kern="0" dirty="0">
              <a:latin typeface="Arial"/>
              <a:cs typeface="Arial"/>
              <a:sym typeface="Arial"/>
            </a:endParaRPr>
          </a:p>
        </p:txBody>
      </p:sp>
      <p:sp>
        <p:nvSpPr>
          <p:cNvPr id="8" name="Rectangle 7"/>
          <p:cNvSpPr/>
          <p:nvPr/>
        </p:nvSpPr>
        <p:spPr>
          <a:xfrm>
            <a:off x="995328" y="1589380"/>
            <a:ext cx="132760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Update w3​</a:t>
            </a:r>
          </a:p>
        </p:txBody>
      </p:sp>
      <p:sp>
        <p:nvSpPr>
          <p:cNvPr id="9" name="Rectangle 8"/>
          <p:cNvSpPr/>
          <p:nvPr/>
        </p:nvSpPr>
        <p:spPr>
          <a:xfrm>
            <a:off x="945856" y="2648257"/>
            <a:ext cx="132760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Update w1​</a:t>
            </a:r>
          </a:p>
        </p:txBody>
      </p:sp>
      <p:sp>
        <p:nvSpPr>
          <p:cNvPr id="10" name="Rectangle 9"/>
          <p:cNvSpPr/>
          <p:nvPr/>
        </p:nvSpPr>
        <p:spPr>
          <a:xfrm>
            <a:off x="945856" y="3499485"/>
            <a:ext cx="132760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Update w2​</a:t>
            </a:r>
          </a:p>
        </p:txBody>
      </p:sp>
      <p:sp>
        <p:nvSpPr>
          <p:cNvPr id="11" name="Rectangle 10"/>
          <p:cNvSpPr/>
          <p:nvPr/>
        </p:nvSpPr>
        <p:spPr>
          <a:xfrm>
            <a:off x="977589" y="4417857"/>
            <a:ext cx="156805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Bias updates</a:t>
            </a:r>
          </a:p>
        </p:txBody>
      </p:sp>
      <p:pic>
        <p:nvPicPr>
          <p:cNvPr id="12" name="Picture 11"/>
          <p:cNvPicPr>
            <a:picLocks noChangeAspect="1"/>
          </p:cNvPicPr>
          <p:nvPr/>
        </p:nvPicPr>
        <p:blipFill>
          <a:blip r:embed="rId2"/>
          <a:stretch>
            <a:fillRect/>
          </a:stretch>
        </p:blipFill>
        <p:spPr>
          <a:xfrm>
            <a:off x="2933919" y="1448904"/>
            <a:ext cx="3161839" cy="765365"/>
          </a:xfrm>
          <a:prstGeom prst="rect">
            <a:avLst/>
          </a:prstGeom>
        </p:spPr>
      </p:pic>
      <p:pic>
        <p:nvPicPr>
          <p:cNvPr id="13" name="Picture 12"/>
          <p:cNvPicPr>
            <a:picLocks noChangeAspect="1"/>
          </p:cNvPicPr>
          <p:nvPr/>
        </p:nvPicPr>
        <p:blipFill>
          <a:blip r:embed="rId3"/>
          <a:stretch>
            <a:fillRect/>
          </a:stretch>
        </p:blipFill>
        <p:spPr>
          <a:xfrm>
            <a:off x="2704933" y="2438401"/>
            <a:ext cx="3534675" cy="778827"/>
          </a:xfrm>
          <a:prstGeom prst="rect">
            <a:avLst/>
          </a:prstGeom>
        </p:spPr>
      </p:pic>
      <p:pic>
        <p:nvPicPr>
          <p:cNvPr id="17" name="Picture 16"/>
          <p:cNvPicPr>
            <a:picLocks noChangeAspect="1"/>
          </p:cNvPicPr>
          <p:nvPr/>
        </p:nvPicPr>
        <p:blipFill>
          <a:blip r:embed="rId4"/>
          <a:stretch>
            <a:fillRect/>
          </a:stretch>
        </p:blipFill>
        <p:spPr>
          <a:xfrm>
            <a:off x="2868753" y="3366052"/>
            <a:ext cx="3453756" cy="710701"/>
          </a:xfrm>
          <a:prstGeom prst="rect">
            <a:avLst/>
          </a:prstGeom>
        </p:spPr>
      </p:pic>
      <p:pic>
        <p:nvPicPr>
          <p:cNvPr id="18" name="Picture 17"/>
          <p:cNvPicPr>
            <a:picLocks noChangeAspect="1"/>
          </p:cNvPicPr>
          <p:nvPr/>
        </p:nvPicPr>
        <p:blipFill>
          <a:blip r:embed="rId5"/>
          <a:stretch>
            <a:fillRect/>
          </a:stretch>
        </p:blipFill>
        <p:spPr>
          <a:xfrm>
            <a:off x="2868753" y="4323935"/>
            <a:ext cx="3161839" cy="1210085"/>
          </a:xfrm>
          <a:prstGeom prst="rect">
            <a:avLst/>
          </a:prstGeom>
        </p:spPr>
      </p:pic>
    </p:spTree>
    <p:extLst>
      <p:ext uri="{BB962C8B-B14F-4D97-AF65-F5344CB8AC3E}">
        <p14:creationId xmlns:p14="http://schemas.microsoft.com/office/powerpoint/2010/main" val="9129104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Numerical Problem</a:t>
            </a:r>
          </a:p>
        </p:txBody>
      </p:sp>
      <p:sp>
        <p:nvSpPr>
          <p:cNvPr id="4" name="Date Placeholder 3"/>
          <p:cNvSpPr>
            <a:spLocks noGrp="1"/>
          </p:cNvSpPr>
          <p:nvPr>
            <p:ph type="dt" sz="half" idx="10"/>
          </p:nvPr>
        </p:nvSpPr>
        <p:spPr/>
        <p:txBody>
          <a:bodyPr/>
          <a:lstStyle/>
          <a:p>
            <a:pPr defTabSz="1219170">
              <a:buClr>
                <a:srgbClr val="000000"/>
              </a:buClr>
            </a:pPr>
            <a:fld id="{5FD54E88-E431-4C76-808C-C3D7F9E9CFEE}"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78</a:t>
            </a:fld>
            <a:endParaRPr lang="en-US" kern="0" dirty="0">
              <a:latin typeface="Arial"/>
              <a:cs typeface="Arial"/>
              <a:sym typeface="Arial"/>
            </a:endParaRPr>
          </a:p>
        </p:txBody>
      </p:sp>
      <p:pic>
        <p:nvPicPr>
          <p:cNvPr id="3" name="Picture 2"/>
          <p:cNvPicPr>
            <a:picLocks noChangeAspect="1"/>
          </p:cNvPicPr>
          <p:nvPr/>
        </p:nvPicPr>
        <p:blipFill>
          <a:blip r:embed="rId2"/>
          <a:stretch>
            <a:fillRect/>
          </a:stretch>
        </p:blipFill>
        <p:spPr>
          <a:xfrm>
            <a:off x="446560" y="1371672"/>
            <a:ext cx="8633272" cy="2931485"/>
          </a:xfrm>
          <a:prstGeom prst="rect">
            <a:avLst/>
          </a:prstGeom>
        </p:spPr>
      </p:pic>
      <p:pic>
        <p:nvPicPr>
          <p:cNvPr id="7" name="Picture 6"/>
          <p:cNvPicPr>
            <a:picLocks noChangeAspect="1"/>
          </p:cNvPicPr>
          <p:nvPr/>
        </p:nvPicPr>
        <p:blipFill>
          <a:blip r:embed="rId3"/>
          <a:stretch>
            <a:fillRect/>
          </a:stretch>
        </p:blipFill>
        <p:spPr>
          <a:xfrm>
            <a:off x="7605153" y="4166315"/>
            <a:ext cx="3282089" cy="2035263"/>
          </a:xfrm>
          <a:prstGeom prst="rect">
            <a:avLst/>
          </a:prstGeom>
        </p:spPr>
      </p:pic>
    </p:spTree>
    <p:extLst>
      <p:ext uri="{BB962C8B-B14F-4D97-AF65-F5344CB8AC3E}">
        <p14:creationId xmlns:p14="http://schemas.microsoft.com/office/powerpoint/2010/main" val="371605118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FDA9E85F-DEDA-45C7-A331-74941474914F}"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79</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lstStyle/>
          <a:p>
            <a:r>
              <a:rPr lang="en-US" dirty="0"/>
              <a:t>Numerical Problem</a:t>
            </a:r>
          </a:p>
        </p:txBody>
      </p:sp>
      <p:sp>
        <p:nvSpPr>
          <p:cNvPr id="8" name="Rectangle 7"/>
          <p:cNvSpPr/>
          <p:nvPr/>
        </p:nvSpPr>
        <p:spPr>
          <a:xfrm>
            <a:off x="929331" y="1523352"/>
            <a:ext cx="3451586" cy="379656"/>
          </a:xfrm>
          <a:prstGeom prst="rect">
            <a:avLst/>
          </a:prstGeom>
        </p:spPr>
        <p:txBody>
          <a:bodyPr wrap="none">
            <a:spAutoFit/>
          </a:bodyPr>
          <a:lstStyle/>
          <a:p>
            <a:pPr defTabSz="1219170">
              <a:buClr>
                <a:srgbClr val="000000"/>
              </a:buClr>
            </a:pPr>
            <a:r>
              <a:rPr lang="en-US" sz="1867" b="1" kern="0" dirty="0">
                <a:solidFill>
                  <a:srgbClr val="000000"/>
                </a:solidFill>
                <a:latin typeface="Arial"/>
                <a:cs typeface="Arial"/>
                <a:sym typeface="Arial"/>
              </a:rPr>
              <a:t>Step 1: Forward Propagation</a:t>
            </a:r>
          </a:p>
        </p:txBody>
      </p:sp>
      <p:pic>
        <p:nvPicPr>
          <p:cNvPr id="9" name="Picture 8"/>
          <p:cNvPicPr>
            <a:picLocks noChangeAspect="1"/>
          </p:cNvPicPr>
          <p:nvPr/>
        </p:nvPicPr>
        <p:blipFill>
          <a:blip r:embed="rId2"/>
          <a:stretch>
            <a:fillRect/>
          </a:stretch>
        </p:blipFill>
        <p:spPr>
          <a:xfrm>
            <a:off x="4225533" y="1811042"/>
            <a:ext cx="3378672" cy="647791"/>
          </a:xfrm>
          <a:prstGeom prst="rect">
            <a:avLst/>
          </a:prstGeom>
        </p:spPr>
      </p:pic>
      <p:pic>
        <p:nvPicPr>
          <p:cNvPr id="10" name="Picture 9"/>
          <p:cNvPicPr>
            <a:picLocks noChangeAspect="1"/>
          </p:cNvPicPr>
          <p:nvPr/>
        </p:nvPicPr>
        <p:blipFill>
          <a:blip r:embed="rId3"/>
          <a:stretch>
            <a:fillRect/>
          </a:stretch>
        </p:blipFill>
        <p:spPr>
          <a:xfrm>
            <a:off x="3837783" y="2566109"/>
            <a:ext cx="3747023" cy="622387"/>
          </a:xfrm>
          <a:prstGeom prst="rect">
            <a:avLst/>
          </a:prstGeom>
        </p:spPr>
      </p:pic>
      <p:sp>
        <p:nvSpPr>
          <p:cNvPr id="11" name="Rectangle 10"/>
          <p:cNvSpPr/>
          <p:nvPr/>
        </p:nvSpPr>
        <p:spPr>
          <a:xfrm>
            <a:off x="1787650" y="3188496"/>
            <a:ext cx="1991251"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Linear activation:</a:t>
            </a:r>
          </a:p>
        </p:txBody>
      </p:sp>
      <p:pic>
        <p:nvPicPr>
          <p:cNvPr id="12" name="Picture 11"/>
          <p:cNvPicPr>
            <a:picLocks noChangeAspect="1"/>
          </p:cNvPicPr>
          <p:nvPr/>
        </p:nvPicPr>
        <p:blipFill>
          <a:blip r:embed="rId4"/>
          <a:stretch>
            <a:fillRect/>
          </a:stretch>
        </p:blipFill>
        <p:spPr>
          <a:xfrm>
            <a:off x="4442074" y="3295774"/>
            <a:ext cx="1803652" cy="508071"/>
          </a:xfrm>
          <a:prstGeom prst="rect">
            <a:avLst/>
          </a:prstGeom>
        </p:spPr>
      </p:pic>
      <p:sp>
        <p:nvSpPr>
          <p:cNvPr id="13" name="Rectangle 12"/>
          <p:cNvSpPr/>
          <p:nvPr/>
        </p:nvSpPr>
        <p:spPr>
          <a:xfrm>
            <a:off x="1787649" y="3942297"/>
            <a:ext cx="171232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Output neuron</a:t>
            </a:r>
          </a:p>
        </p:txBody>
      </p:sp>
      <p:pic>
        <p:nvPicPr>
          <p:cNvPr id="14" name="Picture 13"/>
          <p:cNvPicPr>
            <a:picLocks noChangeAspect="1"/>
          </p:cNvPicPr>
          <p:nvPr/>
        </p:nvPicPr>
        <p:blipFill>
          <a:blip r:embed="rId5"/>
          <a:stretch>
            <a:fillRect/>
          </a:stretch>
        </p:blipFill>
        <p:spPr>
          <a:xfrm>
            <a:off x="3991160" y="3820884"/>
            <a:ext cx="2705477" cy="1066949"/>
          </a:xfrm>
          <a:prstGeom prst="rect">
            <a:avLst/>
          </a:prstGeom>
        </p:spPr>
      </p:pic>
      <p:sp>
        <p:nvSpPr>
          <p:cNvPr id="15" name="Rectangle 14"/>
          <p:cNvSpPr/>
          <p:nvPr/>
        </p:nvSpPr>
        <p:spPr>
          <a:xfrm>
            <a:off x="1837624" y="5163087"/>
            <a:ext cx="6096000" cy="379656"/>
          </a:xfrm>
          <a:prstGeom prst="rect">
            <a:avLst/>
          </a:prstGeom>
        </p:spPr>
        <p:txBody>
          <a:bodyPr>
            <a:spAutoFit/>
          </a:bodyPr>
          <a:lstStyle/>
          <a:p>
            <a:pPr defTabSz="1219170">
              <a:buClr>
                <a:srgbClr val="000000"/>
              </a:buClr>
            </a:pPr>
            <a:r>
              <a:rPr lang="es-ES" sz="1867" kern="0" dirty="0" err="1">
                <a:solidFill>
                  <a:srgbClr val="000000"/>
                </a:solidFill>
                <a:latin typeface="Arial"/>
                <a:cs typeface="Arial"/>
                <a:sym typeface="Arial"/>
              </a:rPr>
              <a:t>Prediction</a:t>
            </a:r>
            <a:r>
              <a:rPr lang="es-ES" sz="1867" kern="0" dirty="0">
                <a:solidFill>
                  <a:srgbClr val="000000"/>
                </a:solidFill>
                <a:latin typeface="Arial"/>
                <a:cs typeface="Arial"/>
                <a:sym typeface="Arial"/>
              </a:rPr>
              <a:t>:</a:t>
            </a:r>
          </a:p>
        </p:txBody>
      </p:sp>
      <p:pic>
        <p:nvPicPr>
          <p:cNvPr id="16" name="Picture 15"/>
          <p:cNvPicPr>
            <a:picLocks noChangeAspect="1"/>
          </p:cNvPicPr>
          <p:nvPr/>
        </p:nvPicPr>
        <p:blipFill>
          <a:blip r:embed="rId6"/>
          <a:stretch>
            <a:fillRect/>
          </a:stretch>
        </p:blipFill>
        <p:spPr>
          <a:xfrm>
            <a:off x="4070954" y="5163087"/>
            <a:ext cx="927229" cy="419159"/>
          </a:xfrm>
          <a:prstGeom prst="rect">
            <a:avLst/>
          </a:prstGeom>
        </p:spPr>
      </p:pic>
    </p:spTree>
    <p:extLst>
      <p:ext uri="{BB962C8B-B14F-4D97-AF65-F5344CB8AC3E}">
        <p14:creationId xmlns:p14="http://schemas.microsoft.com/office/powerpoint/2010/main" val="368998289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07050AC9-667E-4A44-AB37-B773D5BB1434}"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80</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lstStyle/>
          <a:p>
            <a:r>
              <a:rPr lang="en-US" dirty="0"/>
              <a:t>Numerical Problem</a:t>
            </a:r>
          </a:p>
        </p:txBody>
      </p:sp>
      <p:sp>
        <p:nvSpPr>
          <p:cNvPr id="2" name="Rectangle 1"/>
          <p:cNvSpPr/>
          <p:nvPr/>
        </p:nvSpPr>
        <p:spPr>
          <a:xfrm>
            <a:off x="1097280" y="1544743"/>
            <a:ext cx="2191626"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Step 2: Loss Value</a:t>
            </a:r>
          </a:p>
        </p:txBody>
      </p:sp>
      <p:pic>
        <p:nvPicPr>
          <p:cNvPr id="3" name="Picture 2"/>
          <p:cNvPicPr>
            <a:picLocks noChangeAspect="1"/>
          </p:cNvPicPr>
          <p:nvPr/>
        </p:nvPicPr>
        <p:blipFill>
          <a:blip r:embed="rId2"/>
          <a:stretch>
            <a:fillRect/>
          </a:stretch>
        </p:blipFill>
        <p:spPr>
          <a:xfrm>
            <a:off x="3569553" y="1318067"/>
            <a:ext cx="2362529" cy="863720"/>
          </a:xfrm>
          <a:prstGeom prst="rect">
            <a:avLst/>
          </a:prstGeom>
        </p:spPr>
      </p:pic>
      <p:pic>
        <p:nvPicPr>
          <p:cNvPr id="8" name="Picture 7"/>
          <p:cNvPicPr>
            <a:picLocks noChangeAspect="1"/>
          </p:cNvPicPr>
          <p:nvPr/>
        </p:nvPicPr>
        <p:blipFill>
          <a:blip r:embed="rId3"/>
          <a:stretch>
            <a:fillRect/>
          </a:stretch>
        </p:blipFill>
        <p:spPr>
          <a:xfrm>
            <a:off x="3686186" y="2211133"/>
            <a:ext cx="2578460" cy="1193967"/>
          </a:xfrm>
          <a:prstGeom prst="rect">
            <a:avLst/>
          </a:prstGeom>
        </p:spPr>
      </p:pic>
      <p:sp>
        <p:nvSpPr>
          <p:cNvPr id="9" name="Rectangle 8"/>
          <p:cNvSpPr/>
          <p:nvPr/>
        </p:nvSpPr>
        <p:spPr>
          <a:xfrm>
            <a:off x="934460" y="3434444"/>
            <a:ext cx="513954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Step 3: Gradients for Output Layer Parameters</a:t>
            </a:r>
          </a:p>
        </p:txBody>
      </p:sp>
      <p:pic>
        <p:nvPicPr>
          <p:cNvPr id="10" name="Picture 9"/>
          <p:cNvPicPr>
            <a:picLocks noChangeAspect="1"/>
          </p:cNvPicPr>
          <p:nvPr/>
        </p:nvPicPr>
        <p:blipFill>
          <a:blip r:embed="rId4"/>
          <a:stretch>
            <a:fillRect/>
          </a:stretch>
        </p:blipFill>
        <p:spPr>
          <a:xfrm>
            <a:off x="1097281" y="3902108"/>
            <a:ext cx="2143084" cy="457745"/>
          </a:xfrm>
          <a:prstGeom prst="rect">
            <a:avLst/>
          </a:prstGeom>
        </p:spPr>
      </p:pic>
      <p:sp>
        <p:nvSpPr>
          <p:cNvPr id="11" name="Rectangle 10"/>
          <p:cNvSpPr/>
          <p:nvPr/>
        </p:nvSpPr>
        <p:spPr>
          <a:xfrm>
            <a:off x="1236728" y="4359852"/>
            <a:ext cx="1805302"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Chain rule path</a:t>
            </a:r>
          </a:p>
        </p:txBody>
      </p:sp>
      <p:pic>
        <p:nvPicPr>
          <p:cNvPr id="12" name="Picture 11"/>
          <p:cNvPicPr>
            <a:picLocks noChangeAspect="1"/>
          </p:cNvPicPr>
          <p:nvPr/>
        </p:nvPicPr>
        <p:blipFill>
          <a:blip r:embed="rId5"/>
          <a:stretch>
            <a:fillRect/>
          </a:stretch>
        </p:blipFill>
        <p:spPr>
          <a:xfrm>
            <a:off x="3240364" y="4281721"/>
            <a:ext cx="2819793" cy="673193"/>
          </a:xfrm>
          <a:prstGeom prst="rect">
            <a:avLst/>
          </a:prstGeom>
        </p:spPr>
      </p:pic>
      <p:sp>
        <p:nvSpPr>
          <p:cNvPr id="13" name="Rectangle 12"/>
          <p:cNvSpPr/>
          <p:nvPr/>
        </p:nvSpPr>
        <p:spPr>
          <a:xfrm>
            <a:off x="1097280" y="4963975"/>
            <a:ext cx="2499402"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Chain rule expression</a:t>
            </a:r>
          </a:p>
        </p:txBody>
      </p:sp>
      <p:pic>
        <p:nvPicPr>
          <p:cNvPr id="14" name="Picture 13"/>
          <p:cNvPicPr>
            <a:picLocks noChangeAspect="1"/>
          </p:cNvPicPr>
          <p:nvPr/>
        </p:nvPicPr>
        <p:blipFill>
          <a:blip r:embed="rId6"/>
          <a:stretch>
            <a:fillRect/>
          </a:stretch>
        </p:blipFill>
        <p:spPr>
          <a:xfrm>
            <a:off x="3683716" y="4813754"/>
            <a:ext cx="3048425" cy="1041545"/>
          </a:xfrm>
          <a:prstGeom prst="rect">
            <a:avLst/>
          </a:prstGeom>
        </p:spPr>
      </p:pic>
      <p:sp>
        <p:nvSpPr>
          <p:cNvPr id="15" name="Rectangle 14"/>
          <p:cNvSpPr/>
          <p:nvPr/>
        </p:nvSpPr>
        <p:spPr>
          <a:xfrm>
            <a:off x="7709480" y="1976601"/>
            <a:ext cx="2404826"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Individual derivatives</a:t>
            </a:r>
          </a:p>
        </p:txBody>
      </p:sp>
      <p:pic>
        <p:nvPicPr>
          <p:cNvPr id="16" name="Picture 15"/>
          <p:cNvPicPr>
            <a:picLocks noChangeAspect="1"/>
          </p:cNvPicPr>
          <p:nvPr/>
        </p:nvPicPr>
        <p:blipFill>
          <a:blip r:embed="rId7"/>
          <a:stretch>
            <a:fillRect/>
          </a:stretch>
        </p:blipFill>
        <p:spPr>
          <a:xfrm>
            <a:off x="7889099" y="2503479"/>
            <a:ext cx="2667372" cy="2514951"/>
          </a:xfrm>
          <a:prstGeom prst="rect">
            <a:avLst/>
          </a:prstGeom>
        </p:spPr>
      </p:pic>
      <p:sp>
        <p:nvSpPr>
          <p:cNvPr id="17" name="Rectangle 16"/>
          <p:cNvSpPr/>
          <p:nvPr/>
        </p:nvSpPr>
        <p:spPr>
          <a:xfrm>
            <a:off x="7175492" y="5405751"/>
            <a:ext cx="163217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Final gradient</a:t>
            </a:r>
          </a:p>
        </p:txBody>
      </p:sp>
      <p:pic>
        <p:nvPicPr>
          <p:cNvPr id="18" name="Picture 17"/>
          <p:cNvPicPr>
            <a:picLocks noChangeAspect="1"/>
          </p:cNvPicPr>
          <p:nvPr/>
        </p:nvPicPr>
        <p:blipFill>
          <a:blip r:embed="rId8"/>
          <a:stretch>
            <a:fillRect/>
          </a:stretch>
        </p:blipFill>
        <p:spPr>
          <a:xfrm>
            <a:off x="8790924" y="4991932"/>
            <a:ext cx="1765547" cy="1130457"/>
          </a:xfrm>
          <a:prstGeom prst="rect">
            <a:avLst/>
          </a:prstGeom>
        </p:spPr>
      </p:pic>
    </p:spTree>
    <p:extLst>
      <p:ext uri="{BB962C8B-B14F-4D97-AF65-F5344CB8AC3E}">
        <p14:creationId xmlns:p14="http://schemas.microsoft.com/office/powerpoint/2010/main" val="339498920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C2C41410-606B-4AF7-A47D-1528C1B93577}"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81</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lstStyle/>
          <a:p>
            <a:r>
              <a:rPr lang="en-US" dirty="0"/>
              <a:t>Numerical Problem</a:t>
            </a:r>
          </a:p>
        </p:txBody>
      </p:sp>
      <p:pic>
        <p:nvPicPr>
          <p:cNvPr id="2" name="Picture 1"/>
          <p:cNvPicPr>
            <a:picLocks noChangeAspect="1"/>
          </p:cNvPicPr>
          <p:nvPr/>
        </p:nvPicPr>
        <p:blipFill>
          <a:blip r:embed="rId2"/>
          <a:stretch>
            <a:fillRect/>
          </a:stretch>
        </p:blipFill>
        <p:spPr>
          <a:xfrm>
            <a:off x="116987" y="1528220"/>
            <a:ext cx="3569199" cy="1790949"/>
          </a:xfrm>
          <a:prstGeom prst="rect">
            <a:avLst/>
          </a:prstGeom>
        </p:spPr>
      </p:pic>
      <p:sp>
        <p:nvSpPr>
          <p:cNvPr id="3" name="Rectangle 2"/>
          <p:cNvSpPr/>
          <p:nvPr/>
        </p:nvSpPr>
        <p:spPr>
          <a:xfrm>
            <a:off x="2113567" y="2122257"/>
            <a:ext cx="127470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Chain rule</a:t>
            </a:r>
          </a:p>
        </p:txBody>
      </p:sp>
      <p:pic>
        <p:nvPicPr>
          <p:cNvPr id="8" name="Picture 7"/>
          <p:cNvPicPr>
            <a:picLocks noChangeAspect="1"/>
          </p:cNvPicPr>
          <p:nvPr/>
        </p:nvPicPr>
        <p:blipFill>
          <a:blip r:embed="rId3"/>
          <a:stretch>
            <a:fillRect/>
          </a:stretch>
        </p:blipFill>
        <p:spPr>
          <a:xfrm>
            <a:off x="3718922" y="1953729"/>
            <a:ext cx="2832495" cy="2730881"/>
          </a:xfrm>
          <a:prstGeom prst="rect">
            <a:avLst/>
          </a:prstGeom>
        </p:spPr>
      </p:pic>
      <p:pic>
        <p:nvPicPr>
          <p:cNvPr id="9" name="Picture 8"/>
          <p:cNvPicPr>
            <a:picLocks noChangeAspect="1"/>
          </p:cNvPicPr>
          <p:nvPr/>
        </p:nvPicPr>
        <p:blipFill>
          <a:blip r:embed="rId4"/>
          <a:stretch>
            <a:fillRect/>
          </a:stretch>
        </p:blipFill>
        <p:spPr>
          <a:xfrm>
            <a:off x="7273542" y="2038333"/>
            <a:ext cx="2626917" cy="1636440"/>
          </a:xfrm>
          <a:prstGeom prst="rect">
            <a:avLst/>
          </a:prstGeom>
        </p:spPr>
      </p:pic>
    </p:spTree>
    <p:extLst>
      <p:ext uri="{BB962C8B-B14F-4D97-AF65-F5344CB8AC3E}">
        <p14:creationId xmlns:p14="http://schemas.microsoft.com/office/powerpoint/2010/main" val="280896200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06C4D798-C22A-45DC-80C8-96C7DE657A22}"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82</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lstStyle/>
          <a:p>
            <a:r>
              <a:rPr lang="en-US" dirty="0"/>
              <a:t>Numerical Problem</a:t>
            </a:r>
          </a:p>
        </p:txBody>
      </p:sp>
      <p:sp>
        <p:nvSpPr>
          <p:cNvPr id="2" name="Rectangle 1"/>
          <p:cNvSpPr/>
          <p:nvPr/>
        </p:nvSpPr>
        <p:spPr>
          <a:xfrm>
            <a:off x="1069871" y="1523352"/>
            <a:ext cx="5181227"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Step 4: Gradients for Hidden Layer Parameters</a:t>
            </a:r>
          </a:p>
        </p:txBody>
      </p:sp>
      <p:pic>
        <p:nvPicPr>
          <p:cNvPr id="3" name="Picture 2"/>
          <p:cNvPicPr>
            <a:picLocks noChangeAspect="1"/>
          </p:cNvPicPr>
          <p:nvPr/>
        </p:nvPicPr>
        <p:blipFill>
          <a:blip r:embed="rId2"/>
          <a:stretch>
            <a:fillRect/>
          </a:stretch>
        </p:blipFill>
        <p:spPr>
          <a:xfrm>
            <a:off x="1175234" y="1933722"/>
            <a:ext cx="2654671" cy="571580"/>
          </a:xfrm>
          <a:prstGeom prst="rect">
            <a:avLst/>
          </a:prstGeom>
        </p:spPr>
      </p:pic>
      <p:sp>
        <p:nvSpPr>
          <p:cNvPr id="8" name="Rectangle 7"/>
          <p:cNvSpPr/>
          <p:nvPr/>
        </p:nvSpPr>
        <p:spPr>
          <a:xfrm>
            <a:off x="1217513" y="2505301"/>
            <a:ext cx="2177199" cy="379656"/>
          </a:xfrm>
          <a:prstGeom prst="rect">
            <a:avLst/>
          </a:prstGeom>
        </p:spPr>
        <p:txBody>
          <a:bodyPr wrap="none">
            <a:spAutoFit/>
          </a:bodyPr>
          <a:lstStyle/>
          <a:p>
            <a:pPr defTabSz="1219170">
              <a:buClr>
                <a:srgbClr val="000000"/>
              </a:buClr>
            </a:pPr>
            <a:r>
              <a:rPr lang="en-US" sz="1867" b="1" kern="0" dirty="0">
                <a:solidFill>
                  <a:srgbClr val="000000"/>
                </a:solidFill>
                <a:latin typeface="Arial"/>
                <a:cs typeface="Arial"/>
                <a:sym typeface="Arial"/>
              </a:rPr>
              <a:t>Dependency path</a:t>
            </a:r>
          </a:p>
        </p:txBody>
      </p:sp>
      <p:pic>
        <p:nvPicPr>
          <p:cNvPr id="9" name="Picture 8"/>
          <p:cNvPicPr>
            <a:picLocks noChangeAspect="1"/>
          </p:cNvPicPr>
          <p:nvPr/>
        </p:nvPicPr>
        <p:blipFill>
          <a:blip r:embed="rId3"/>
          <a:stretch>
            <a:fillRect/>
          </a:stretch>
        </p:blipFill>
        <p:spPr>
          <a:xfrm>
            <a:off x="3686186" y="2375696"/>
            <a:ext cx="3975655" cy="711299"/>
          </a:xfrm>
          <a:prstGeom prst="rect">
            <a:avLst/>
          </a:prstGeom>
        </p:spPr>
      </p:pic>
      <p:sp>
        <p:nvSpPr>
          <p:cNvPr id="10" name="Rectangle 9"/>
          <p:cNvSpPr/>
          <p:nvPr/>
        </p:nvSpPr>
        <p:spPr>
          <a:xfrm>
            <a:off x="1217512" y="3139224"/>
            <a:ext cx="127470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Chain rule</a:t>
            </a:r>
          </a:p>
        </p:txBody>
      </p:sp>
      <p:pic>
        <p:nvPicPr>
          <p:cNvPr id="11" name="Picture 10"/>
          <p:cNvPicPr>
            <a:picLocks noChangeAspect="1"/>
          </p:cNvPicPr>
          <p:nvPr/>
        </p:nvPicPr>
        <p:blipFill>
          <a:blip r:embed="rId4"/>
          <a:stretch>
            <a:fillRect/>
          </a:stretch>
        </p:blipFill>
        <p:spPr>
          <a:xfrm>
            <a:off x="3457553" y="3009768"/>
            <a:ext cx="4432919" cy="1079651"/>
          </a:xfrm>
          <a:prstGeom prst="rect">
            <a:avLst/>
          </a:prstGeom>
        </p:spPr>
      </p:pic>
      <p:pic>
        <p:nvPicPr>
          <p:cNvPr id="12" name="Picture 11"/>
          <p:cNvPicPr>
            <a:picLocks noChangeAspect="1"/>
          </p:cNvPicPr>
          <p:nvPr/>
        </p:nvPicPr>
        <p:blipFill>
          <a:blip r:embed="rId5"/>
          <a:stretch>
            <a:fillRect/>
          </a:stretch>
        </p:blipFill>
        <p:spPr>
          <a:xfrm>
            <a:off x="8428572" y="1933721"/>
            <a:ext cx="2626917" cy="1636440"/>
          </a:xfrm>
          <a:prstGeom prst="rect">
            <a:avLst/>
          </a:prstGeom>
        </p:spPr>
      </p:pic>
      <p:pic>
        <p:nvPicPr>
          <p:cNvPr id="13" name="Picture 12"/>
          <p:cNvPicPr>
            <a:picLocks noChangeAspect="1"/>
          </p:cNvPicPr>
          <p:nvPr/>
        </p:nvPicPr>
        <p:blipFill>
          <a:blip r:embed="rId6"/>
          <a:stretch>
            <a:fillRect/>
          </a:stretch>
        </p:blipFill>
        <p:spPr>
          <a:xfrm>
            <a:off x="2919451" y="3971001"/>
            <a:ext cx="3733436" cy="2368875"/>
          </a:xfrm>
          <a:prstGeom prst="rect">
            <a:avLst/>
          </a:prstGeom>
        </p:spPr>
      </p:pic>
      <p:sp>
        <p:nvSpPr>
          <p:cNvPr id="14" name="Rectangle 13"/>
          <p:cNvSpPr/>
          <p:nvPr/>
        </p:nvSpPr>
        <p:spPr>
          <a:xfrm>
            <a:off x="7044940" y="4217320"/>
            <a:ext cx="163217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Final gradient</a:t>
            </a:r>
          </a:p>
        </p:txBody>
      </p:sp>
      <p:pic>
        <p:nvPicPr>
          <p:cNvPr id="15" name="Picture 14"/>
          <p:cNvPicPr>
            <a:picLocks noChangeAspect="1"/>
          </p:cNvPicPr>
          <p:nvPr/>
        </p:nvPicPr>
        <p:blipFill>
          <a:blip r:embed="rId7"/>
          <a:stretch>
            <a:fillRect/>
          </a:stretch>
        </p:blipFill>
        <p:spPr>
          <a:xfrm>
            <a:off x="7627511" y="4702677"/>
            <a:ext cx="1460704" cy="1003440"/>
          </a:xfrm>
          <a:prstGeom prst="rect">
            <a:avLst/>
          </a:prstGeom>
        </p:spPr>
      </p:pic>
    </p:spTree>
    <p:extLst>
      <p:ext uri="{BB962C8B-B14F-4D97-AF65-F5344CB8AC3E}">
        <p14:creationId xmlns:p14="http://schemas.microsoft.com/office/powerpoint/2010/main" val="133331379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D92ABFDF-CE59-4386-941F-ABFF117DB1FB}"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83</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lstStyle/>
          <a:p>
            <a:r>
              <a:rPr lang="en-US" dirty="0"/>
              <a:t>Numerical Problem</a:t>
            </a:r>
          </a:p>
        </p:txBody>
      </p:sp>
      <p:pic>
        <p:nvPicPr>
          <p:cNvPr id="2" name="Picture 1"/>
          <p:cNvPicPr>
            <a:picLocks noChangeAspect="1"/>
          </p:cNvPicPr>
          <p:nvPr/>
        </p:nvPicPr>
        <p:blipFill>
          <a:blip r:embed="rId2"/>
          <a:stretch>
            <a:fillRect/>
          </a:stretch>
        </p:blipFill>
        <p:spPr>
          <a:xfrm>
            <a:off x="1186918" y="1468811"/>
            <a:ext cx="2499268" cy="569029"/>
          </a:xfrm>
          <a:prstGeom prst="rect">
            <a:avLst/>
          </a:prstGeom>
        </p:spPr>
      </p:pic>
      <p:sp>
        <p:nvSpPr>
          <p:cNvPr id="3" name="Rectangle 2"/>
          <p:cNvSpPr/>
          <p:nvPr/>
        </p:nvSpPr>
        <p:spPr>
          <a:xfrm>
            <a:off x="1453161" y="1919057"/>
            <a:ext cx="2060179"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Dependency path</a:t>
            </a:r>
          </a:p>
        </p:txBody>
      </p:sp>
      <p:pic>
        <p:nvPicPr>
          <p:cNvPr id="8" name="Picture 7"/>
          <p:cNvPicPr>
            <a:picLocks noChangeAspect="1"/>
          </p:cNvPicPr>
          <p:nvPr/>
        </p:nvPicPr>
        <p:blipFill>
          <a:blip r:embed="rId3"/>
          <a:stretch>
            <a:fillRect/>
          </a:stretch>
        </p:blipFill>
        <p:spPr>
          <a:xfrm>
            <a:off x="3569552" y="1919057"/>
            <a:ext cx="4013760" cy="546176"/>
          </a:xfrm>
          <a:prstGeom prst="rect">
            <a:avLst/>
          </a:prstGeom>
        </p:spPr>
      </p:pic>
      <p:sp>
        <p:nvSpPr>
          <p:cNvPr id="9" name="Rectangle 8"/>
          <p:cNvSpPr/>
          <p:nvPr/>
        </p:nvSpPr>
        <p:spPr>
          <a:xfrm>
            <a:off x="1035311" y="2463099"/>
            <a:ext cx="2896947"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Full chain rule expression</a:t>
            </a:r>
          </a:p>
        </p:txBody>
      </p:sp>
      <p:pic>
        <p:nvPicPr>
          <p:cNvPr id="10" name="Picture 9"/>
          <p:cNvPicPr>
            <a:picLocks noChangeAspect="1"/>
          </p:cNvPicPr>
          <p:nvPr/>
        </p:nvPicPr>
        <p:blipFill>
          <a:blip r:embed="rId4"/>
          <a:stretch>
            <a:fillRect/>
          </a:stretch>
        </p:blipFill>
        <p:spPr>
          <a:xfrm>
            <a:off x="3987402" y="2390801"/>
            <a:ext cx="4509129" cy="965335"/>
          </a:xfrm>
          <a:prstGeom prst="rect">
            <a:avLst/>
          </a:prstGeom>
        </p:spPr>
      </p:pic>
      <p:pic>
        <p:nvPicPr>
          <p:cNvPr id="11" name="Picture 10"/>
          <p:cNvPicPr>
            <a:picLocks noChangeAspect="1"/>
          </p:cNvPicPr>
          <p:nvPr/>
        </p:nvPicPr>
        <p:blipFill>
          <a:blip r:embed="rId5"/>
          <a:stretch>
            <a:fillRect/>
          </a:stretch>
        </p:blipFill>
        <p:spPr>
          <a:xfrm>
            <a:off x="8914380" y="1700193"/>
            <a:ext cx="2857899" cy="4140777"/>
          </a:xfrm>
          <a:prstGeom prst="rect">
            <a:avLst/>
          </a:prstGeom>
        </p:spPr>
      </p:pic>
      <p:pic>
        <p:nvPicPr>
          <p:cNvPr id="12" name="Picture 11"/>
          <p:cNvPicPr>
            <a:picLocks noChangeAspect="1"/>
          </p:cNvPicPr>
          <p:nvPr/>
        </p:nvPicPr>
        <p:blipFill>
          <a:blip r:embed="rId6"/>
          <a:stretch>
            <a:fillRect/>
          </a:stretch>
        </p:blipFill>
        <p:spPr>
          <a:xfrm>
            <a:off x="5319918" y="4185029"/>
            <a:ext cx="1613125" cy="1028844"/>
          </a:xfrm>
          <a:prstGeom prst="rect">
            <a:avLst/>
          </a:prstGeom>
        </p:spPr>
      </p:pic>
    </p:spTree>
    <p:extLst>
      <p:ext uri="{BB962C8B-B14F-4D97-AF65-F5344CB8AC3E}">
        <p14:creationId xmlns:p14="http://schemas.microsoft.com/office/powerpoint/2010/main" val="127000847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2DB53CDA-93FA-4FF9-A466-5769D6A209A9}"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84</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lstStyle/>
          <a:p>
            <a:r>
              <a:rPr lang="en-US" dirty="0"/>
              <a:t>Numerical Problem</a:t>
            </a:r>
          </a:p>
        </p:txBody>
      </p:sp>
      <p:pic>
        <p:nvPicPr>
          <p:cNvPr id="2" name="Picture 1"/>
          <p:cNvPicPr>
            <a:picLocks noChangeAspect="1"/>
          </p:cNvPicPr>
          <p:nvPr/>
        </p:nvPicPr>
        <p:blipFill>
          <a:blip r:embed="rId2"/>
          <a:stretch>
            <a:fillRect/>
          </a:stretch>
        </p:blipFill>
        <p:spPr>
          <a:xfrm>
            <a:off x="1184251" y="1413000"/>
            <a:ext cx="2501936" cy="555987"/>
          </a:xfrm>
          <a:prstGeom prst="rect">
            <a:avLst/>
          </a:prstGeom>
        </p:spPr>
      </p:pic>
      <p:sp>
        <p:nvSpPr>
          <p:cNvPr id="3" name="Rectangle 2"/>
          <p:cNvSpPr/>
          <p:nvPr/>
        </p:nvSpPr>
        <p:spPr>
          <a:xfrm>
            <a:off x="1569794" y="1968987"/>
            <a:ext cx="2060179"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Dependency path</a:t>
            </a:r>
          </a:p>
        </p:txBody>
      </p:sp>
      <p:pic>
        <p:nvPicPr>
          <p:cNvPr id="8" name="Picture 7"/>
          <p:cNvPicPr>
            <a:picLocks noChangeAspect="1"/>
          </p:cNvPicPr>
          <p:nvPr/>
        </p:nvPicPr>
        <p:blipFill>
          <a:blip r:embed="rId3"/>
          <a:stretch>
            <a:fillRect/>
          </a:stretch>
        </p:blipFill>
        <p:spPr>
          <a:xfrm>
            <a:off x="3797036" y="1882030"/>
            <a:ext cx="3785128" cy="584281"/>
          </a:xfrm>
          <a:prstGeom prst="rect">
            <a:avLst/>
          </a:prstGeom>
        </p:spPr>
      </p:pic>
      <p:sp>
        <p:nvSpPr>
          <p:cNvPr id="9" name="Rectangle 8"/>
          <p:cNvSpPr/>
          <p:nvPr/>
        </p:nvSpPr>
        <p:spPr>
          <a:xfrm>
            <a:off x="1569794" y="2466311"/>
            <a:ext cx="3127779" cy="379656"/>
          </a:xfrm>
          <a:prstGeom prst="rect">
            <a:avLst/>
          </a:prstGeom>
        </p:spPr>
        <p:txBody>
          <a:bodyPr wrap="none">
            <a:spAutoFit/>
          </a:bodyPr>
          <a:lstStyle/>
          <a:p>
            <a:pPr defTabSz="1219170">
              <a:buClr>
                <a:srgbClr val="000000"/>
              </a:buClr>
            </a:pPr>
            <a:r>
              <a:rPr lang="en-US" sz="1867" b="1" kern="0" dirty="0">
                <a:solidFill>
                  <a:srgbClr val="000000"/>
                </a:solidFill>
                <a:latin typeface="Arial"/>
                <a:cs typeface="Arial"/>
                <a:sym typeface="Arial"/>
              </a:rPr>
              <a:t>Full chain rule expression</a:t>
            </a:r>
          </a:p>
        </p:txBody>
      </p:sp>
      <p:pic>
        <p:nvPicPr>
          <p:cNvPr id="10" name="Picture 9"/>
          <p:cNvPicPr>
            <a:picLocks noChangeAspect="1"/>
          </p:cNvPicPr>
          <p:nvPr/>
        </p:nvPicPr>
        <p:blipFill>
          <a:blip r:embed="rId4"/>
          <a:stretch>
            <a:fillRect/>
          </a:stretch>
        </p:blipFill>
        <p:spPr>
          <a:xfrm>
            <a:off x="1698358" y="3059283"/>
            <a:ext cx="3975655" cy="711299"/>
          </a:xfrm>
          <a:prstGeom prst="rect">
            <a:avLst/>
          </a:prstGeom>
        </p:spPr>
      </p:pic>
      <p:pic>
        <p:nvPicPr>
          <p:cNvPr id="11" name="Picture 10"/>
          <p:cNvPicPr>
            <a:picLocks noChangeAspect="1"/>
          </p:cNvPicPr>
          <p:nvPr/>
        </p:nvPicPr>
        <p:blipFill>
          <a:blip r:embed="rId5"/>
          <a:stretch>
            <a:fillRect/>
          </a:stretch>
        </p:blipFill>
        <p:spPr>
          <a:xfrm>
            <a:off x="4175825" y="3976681"/>
            <a:ext cx="1448003" cy="851019"/>
          </a:xfrm>
          <a:prstGeom prst="rect">
            <a:avLst/>
          </a:prstGeom>
        </p:spPr>
      </p:pic>
      <p:sp>
        <p:nvSpPr>
          <p:cNvPr id="12" name="Rectangle 11"/>
          <p:cNvSpPr/>
          <p:nvPr/>
        </p:nvSpPr>
        <p:spPr>
          <a:xfrm>
            <a:off x="1097280" y="4950329"/>
            <a:ext cx="3873176"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All other terms are </a:t>
            </a:r>
            <a:r>
              <a:rPr lang="en-US" sz="1867" b="1" kern="0" dirty="0">
                <a:solidFill>
                  <a:srgbClr val="000000"/>
                </a:solidFill>
                <a:latin typeface="Arial"/>
                <a:cs typeface="Arial"/>
                <a:sym typeface="Arial"/>
              </a:rPr>
              <a:t>identical</a:t>
            </a:r>
            <a:r>
              <a:rPr lang="en-US" sz="1867" kern="0" dirty="0">
                <a:solidFill>
                  <a:srgbClr val="000000"/>
                </a:solidFill>
                <a:latin typeface="Arial"/>
                <a:cs typeface="Arial"/>
                <a:sym typeface="Arial"/>
              </a:rPr>
              <a:t> to w2​.</a:t>
            </a:r>
          </a:p>
        </p:txBody>
      </p:sp>
      <p:pic>
        <p:nvPicPr>
          <p:cNvPr id="13" name="Picture 12"/>
          <p:cNvPicPr>
            <a:picLocks noChangeAspect="1"/>
          </p:cNvPicPr>
          <p:nvPr/>
        </p:nvPicPr>
        <p:blipFill>
          <a:blip r:embed="rId6"/>
          <a:stretch>
            <a:fillRect/>
          </a:stretch>
        </p:blipFill>
        <p:spPr>
          <a:xfrm>
            <a:off x="5028271" y="4691109"/>
            <a:ext cx="1397195" cy="952633"/>
          </a:xfrm>
          <a:prstGeom prst="rect">
            <a:avLst/>
          </a:prstGeom>
        </p:spPr>
      </p:pic>
    </p:spTree>
    <p:extLst>
      <p:ext uri="{BB962C8B-B14F-4D97-AF65-F5344CB8AC3E}">
        <p14:creationId xmlns:p14="http://schemas.microsoft.com/office/powerpoint/2010/main" val="427826105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DC22CF99-8584-46A9-9408-FC86B4ADF29B}"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85</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lstStyle/>
          <a:p>
            <a:r>
              <a:rPr lang="en-US" dirty="0"/>
              <a:t>Numerical Problem</a:t>
            </a:r>
          </a:p>
        </p:txBody>
      </p:sp>
      <p:pic>
        <p:nvPicPr>
          <p:cNvPr id="2" name="Picture 1"/>
          <p:cNvPicPr>
            <a:picLocks noChangeAspect="1"/>
          </p:cNvPicPr>
          <p:nvPr/>
        </p:nvPicPr>
        <p:blipFill>
          <a:blip r:embed="rId2"/>
          <a:stretch>
            <a:fillRect/>
          </a:stretch>
        </p:blipFill>
        <p:spPr>
          <a:xfrm>
            <a:off x="1415184" y="1643315"/>
            <a:ext cx="7200753" cy="4622419"/>
          </a:xfrm>
          <a:prstGeom prst="rect">
            <a:avLst/>
          </a:prstGeom>
        </p:spPr>
      </p:pic>
    </p:spTree>
    <p:extLst>
      <p:ext uri="{BB962C8B-B14F-4D97-AF65-F5344CB8AC3E}">
        <p14:creationId xmlns:p14="http://schemas.microsoft.com/office/powerpoint/2010/main" val="382937515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2F971129-F89E-4B70-B7D2-59055FBF7E4D}"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86</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lstStyle/>
          <a:p>
            <a:r>
              <a:rPr lang="en-US" dirty="0"/>
              <a:t>Numerical Problem</a:t>
            </a:r>
          </a:p>
        </p:txBody>
      </p:sp>
      <p:pic>
        <p:nvPicPr>
          <p:cNvPr id="2" name="Picture 1"/>
          <p:cNvPicPr>
            <a:picLocks noChangeAspect="1"/>
          </p:cNvPicPr>
          <p:nvPr/>
        </p:nvPicPr>
        <p:blipFill>
          <a:blip r:embed="rId2"/>
          <a:stretch>
            <a:fillRect/>
          </a:stretch>
        </p:blipFill>
        <p:spPr>
          <a:xfrm>
            <a:off x="1380810" y="1380758"/>
            <a:ext cx="8701460" cy="4849829"/>
          </a:xfrm>
          <a:prstGeom prst="rect">
            <a:avLst/>
          </a:prstGeom>
        </p:spPr>
      </p:pic>
    </p:spTree>
    <p:extLst>
      <p:ext uri="{BB962C8B-B14F-4D97-AF65-F5344CB8AC3E}">
        <p14:creationId xmlns:p14="http://schemas.microsoft.com/office/powerpoint/2010/main" val="403204390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9477E7F1-7DE2-43C0-934C-85E05E037A0E}"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87</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lstStyle/>
          <a:p>
            <a:r>
              <a:rPr lang="en-US" dirty="0"/>
              <a:t>Numerical Problem</a:t>
            </a:r>
          </a:p>
        </p:txBody>
      </p:sp>
      <p:sp>
        <p:nvSpPr>
          <p:cNvPr id="8" name="Rectangle 7"/>
          <p:cNvSpPr/>
          <p:nvPr/>
        </p:nvSpPr>
        <p:spPr>
          <a:xfrm>
            <a:off x="1207394" y="1512657"/>
            <a:ext cx="3241593"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Step 1: Forward Propagation</a:t>
            </a:r>
          </a:p>
        </p:txBody>
      </p:sp>
      <p:pic>
        <p:nvPicPr>
          <p:cNvPr id="9" name="Picture 8"/>
          <p:cNvPicPr>
            <a:picLocks noChangeAspect="1"/>
          </p:cNvPicPr>
          <p:nvPr/>
        </p:nvPicPr>
        <p:blipFill>
          <a:blip r:embed="rId2"/>
          <a:stretch>
            <a:fillRect/>
          </a:stretch>
        </p:blipFill>
        <p:spPr>
          <a:xfrm>
            <a:off x="4131927" y="1923027"/>
            <a:ext cx="3607304" cy="1016141"/>
          </a:xfrm>
          <a:prstGeom prst="rect">
            <a:avLst/>
          </a:prstGeom>
        </p:spPr>
      </p:pic>
      <p:sp>
        <p:nvSpPr>
          <p:cNvPr id="10" name="Rectangle 9"/>
          <p:cNvSpPr/>
          <p:nvPr/>
        </p:nvSpPr>
        <p:spPr>
          <a:xfrm>
            <a:off x="1580246" y="3144572"/>
            <a:ext cx="2190023"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Sigmoid activation:</a:t>
            </a:r>
          </a:p>
        </p:txBody>
      </p:sp>
      <p:pic>
        <p:nvPicPr>
          <p:cNvPr id="11" name="Picture 10"/>
          <p:cNvPicPr>
            <a:picLocks noChangeAspect="1"/>
          </p:cNvPicPr>
          <p:nvPr/>
        </p:nvPicPr>
        <p:blipFill>
          <a:blip r:embed="rId3"/>
          <a:stretch>
            <a:fillRect/>
          </a:stretch>
        </p:blipFill>
        <p:spPr>
          <a:xfrm>
            <a:off x="3831289" y="2939169"/>
            <a:ext cx="4089971" cy="876423"/>
          </a:xfrm>
          <a:prstGeom prst="rect">
            <a:avLst/>
          </a:prstGeom>
        </p:spPr>
      </p:pic>
      <p:sp>
        <p:nvSpPr>
          <p:cNvPr id="12" name="Rectangle 11"/>
          <p:cNvSpPr/>
          <p:nvPr/>
        </p:nvSpPr>
        <p:spPr>
          <a:xfrm>
            <a:off x="1713748" y="3897584"/>
            <a:ext cx="171232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Output neuron</a:t>
            </a:r>
          </a:p>
        </p:txBody>
      </p:sp>
      <p:pic>
        <p:nvPicPr>
          <p:cNvPr id="13" name="Picture 12"/>
          <p:cNvPicPr>
            <a:picLocks noChangeAspect="1"/>
          </p:cNvPicPr>
          <p:nvPr/>
        </p:nvPicPr>
        <p:blipFill>
          <a:blip r:embed="rId4"/>
          <a:stretch>
            <a:fillRect/>
          </a:stretch>
        </p:blipFill>
        <p:spPr>
          <a:xfrm>
            <a:off x="3582804" y="3855872"/>
            <a:ext cx="4102672" cy="1181265"/>
          </a:xfrm>
          <a:prstGeom prst="rect">
            <a:avLst/>
          </a:prstGeom>
        </p:spPr>
      </p:pic>
      <p:sp>
        <p:nvSpPr>
          <p:cNvPr id="14" name="Rectangle 13"/>
          <p:cNvSpPr/>
          <p:nvPr/>
        </p:nvSpPr>
        <p:spPr>
          <a:xfrm>
            <a:off x="1335813" y="5178684"/>
            <a:ext cx="3453189"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Sigmoid activation (prediction):</a:t>
            </a:r>
          </a:p>
        </p:txBody>
      </p:sp>
      <p:pic>
        <p:nvPicPr>
          <p:cNvPr id="15" name="Picture 14"/>
          <p:cNvPicPr>
            <a:picLocks noChangeAspect="1"/>
          </p:cNvPicPr>
          <p:nvPr/>
        </p:nvPicPr>
        <p:blipFill>
          <a:blip r:embed="rId5"/>
          <a:stretch>
            <a:fillRect/>
          </a:stretch>
        </p:blipFill>
        <p:spPr>
          <a:xfrm>
            <a:off x="4767534" y="4955236"/>
            <a:ext cx="4496428" cy="952633"/>
          </a:xfrm>
          <a:prstGeom prst="rect">
            <a:avLst/>
          </a:prstGeom>
        </p:spPr>
      </p:pic>
    </p:spTree>
    <p:extLst>
      <p:ext uri="{BB962C8B-B14F-4D97-AF65-F5344CB8AC3E}">
        <p14:creationId xmlns:p14="http://schemas.microsoft.com/office/powerpoint/2010/main" val="79152631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B006EE2E-C293-44DA-BE70-7F7C342CE209}"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88</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lstStyle/>
          <a:p>
            <a:r>
              <a:rPr lang="en-US" dirty="0"/>
              <a:t>Numerical Problem</a:t>
            </a:r>
          </a:p>
        </p:txBody>
      </p:sp>
      <p:sp>
        <p:nvSpPr>
          <p:cNvPr id="2" name="Rectangle 1"/>
          <p:cNvSpPr/>
          <p:nvPr/>
        </p:nvSpPr>
        <p:spPr>
          <a:xfrm>
            <a:off x="1097280" y="1512657"/>
            <a:ext cx="2191626"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Step 2: Loss Value</a:t>
            </a:r>
          </a:p>
        </p:txBody>
      </p:sp>
      <p:pic>
        <p:nvPicPr>
          <p:cNvPr id="3" name="Picture 2"/>
          <p:cNvPicPr>
            <a:picLocks noChangeAspect="1"/>
          </p:cNvPicPr>
          <p:nvPr/>
        </p:nvPicPr>
        <p:blipFill>
          <a:blip r:embed="rId2"/>
          <a:stretch>
            <a:fillRect/>
          </a:stretch>
        </p:blipFill>
        <p:spPr>
          <a:xfrm>
            <a:off x="3348325" y="2138177"/>
            <a:ext cx="3962953" cy="1448003"/>
          </a:xfrm>
          <a:prstGeom prst="rect">
            <a:avLst/>
          </a:prstGeom>
        </p:spPr>
      </p:pic>
      <p:pic>
        <p:nvPicPr>
          <p:cNvPr id="12" name="Picture 11"/>
          <p:cNvPicPr>
            <a:picLocks noChangeAspect="1"/>
          </p:cNvPicPr>
          <p:nvPr/>
        </p:nvPicPr>
        <p:blipFill>
          <a:blip r:embed="rId3"/>
          <a:stretch>
            <a:fillRect/>
          </a:stretch>
        </p:blipFill>
        <p:spPr>
          <a:xfrm>
            <a:off x="3686186" y="1364140"/>
            <a:ext cx="2273617" cy="838317"/>
          </a:xfrm>
          <a:prstGeom prst="rect">
            <a:avLst/>
          </a:prstGeom>
        </p:spPr>
      </p:pic>
      <p:sp>
        <p:nvSpPr>
          <p:cNvPr id="13" name="Rectangle 12"/>
          <p:cNvSpPr/>
          <p:nvPr/>
        </p:nvSpPr>
        <p:spPr>
          <a:xfrm>
            <a:off x="814020" y="3596145"/>
            <a:ext cx="3744936"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Step 3: Useful Sigmoid Derivative</a:t>
            </a:r>
          </a:p>
        </p:txBody>
      </p:sp>
      <p:pic>
        <p:nvPicPr>
          <p:cNvPr id="14" name="Picture 13"/>
          <p:cNvPicPr>
            <a:picLocks noChangeAspect="1"/>
          </p:cNvPicPr>
          <p:nvPr/>
        </p:nvPicPr>
        <p:blipFill>
          <a:blip r:embed="rId4"/>
          <a:stretch>
            <a:fillRect/>
          </a:stretch>
        </p:blipFill>
        <p:spPr>
          <a:xfrm>
            <a:off x="3387694" y="4006515"/>
            <a:ext cx="5144217" cy="1600424"/>
          </a:xfrm>
          <a:prstGeom prst="rect">
            <a:avLst/>
          </a:prstGeom>
        </p:spPr>
      </p:pic>
    </p:spTree>
    <p:extLst>
      <p:ext uri="{BB962C8B-B14F-4D97-AF65-F5344CB8AC3E}">
        <p14:creationId xmlns:p14="http://schemas.microsoft.com/office/powerpoint/2010/main" val="282226738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11928883-760C-4A97-AEC4-F6F5E21A9ABD}"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89</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lstStyle/>
          <a:p>
            <a:r>
              <a:rPr lang="en-US" dirty="0"/>
              <a:t>Numerical Problem</a:t>
            </a:r>
          </a:p>
        </p:txBody>
      </p:sp>
      <p:sp>
        <p:nvSpPr>
          <p:cNvPr id="2" name="Rectangle 1"/>
          <p:cNvSpPr/>
          <p:nvPr/>
        </p:nvSpPr>
        <p:spPr>
          <a:xfrm>
            <a:off x="1097281" y="1469879"/>
            <a:ext cx="3836307"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Step 4: Gradients for Output Layer</a:t>
            </a:r>
          </a:p>
        </p:txBody>
      </p:sp>
      <p:sp>
        <p:nvSpPr>
          <p:cNvPr id="3" name="Rectangle 2"/>
          <p:cNvSpPr/>
          <p:nvPr/>
        </p:nvSpPr>
        <p:spPr>
          <a:xfrm>
            <a:off x="1263938" y="1983227"/>
            <a:ext cx="2124299"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(A) Gradient of w3​</a:t>
            </a:r>
          </a:p>
        </p:txBody>
      </p:sp>
      <p:sp>
        <p:nvSpPr>
          <p:cNvPr id="8" name="Rectangle 7"/>
          <p:cNvSpPr/>
          <p:nvPr/>
        </p:nvSpPr>
        <p:spPr>
          <a:xfrm>
            <a:off x="1489385" y="2496575"/>
            <a:ext cx="231024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Complete chain rule</a:t>
            </a:r>
          </a:p>
        </p:txBody>
      </p:sp>
      <p:pic>
        <p:nvPicPr>
          <p:cNvPr id="9" name="Picture 8"/>
          <p:cNvPicPr>
            <a:picLocks noChangeAspect="1"/>
          </p:cNvPicPr>
          <p:nvPr/>
        </p:nvPicPr>
        <p:blipFill>
          <a:blip r:embed="rId2"/>
          <a:stretch>
            <a:fillRect/>
          </a:stretch>
        </p:blipFill>
        <p:spPr>
          <a:xfrm>
            <a:off x="4074167" y="2339758"/>
            <a:ext cx="2781688" cy="724001"/>
          </a:xfrm>
          <a:prstGeom prst="rect">
            <a:avLst/>
          </a:prstGeom>
        </p:spPr>
      </p:pic>
      <p:sp>
        <p:nvSpPr>
          <p:cNvPr id="10" name="Rectangle 9"/>
          <p:cNvSpPr/>
          <p:nvPr/>
        </p:nvSpPr>
        <p:spPr>
          <a:xfrm>
            <a:off x="1489386" y="3165961"/>
            <a:ext cx="1858201"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Individual terms</a:t>
            </a:r>
          </a:p>
        </p:txBody>
      </p:sp>
      <p:pic>
        <p:nvPicPr>
          <p:cNvPr id="11" name="Picture 10"/>
          <p:cNvPicPr>
            <a:picLocks noChangeAspect="1"/>
          </p:cNvPicPr>
          <p:nvPr/>
        </p:nvPicPr>
        <p:blipFill>
          <a:blip r:embed="rId3"/>
          <a:stretch>
            <a:fillRect/>
          </a:stretch>
        </p:blipFill>
        <p:spPr>
          <a:xfrm>
            <a:off x="3686185" y="3199707"/>
            <a:ext cx="3521059" cy="2461208"/>
          </a:xfrm>
          <a:prstGeom prst="rect">
            <a:avLst/>
          </a:prstGeom>
        </p:spPr>
      </p:pic>
      <p:pic>
        <p:nvPicPr>
          <p:cNvPr id="12" name="Picture 11"/>
          <p:cNvPicPr>
            <a:picLocks noChangeAspect="1"/>
          </p:cNvPicPr>
          <p:nvPr/>
        </p:nvPicPr>
        <p:blipFill>
          <a:blip r:embed="rId4"/>
          <a:stretch>
            <a:fillRect/>
          </a:stretch>
        </p:blipFill>
        <p:spPr>
          <a:xfrm>
            <a:off x="4074167" y="5550577"/>
            <a:ext cx="5228448" cy="806200"/>
          </a:xfrm>
          <a:prstGeom prst="rect">
            <a:avLst/>
          </a:prstGeom>
        </p:spPr>
      </p:pic>
    </p:spTree>
    <p:extLst>
      <p:ext uri="{BB962C8B-B14F-4D97-AF65-F5344CB8AC3E}">
        <p14:creationId xmlns:p14="http://schemas.microsoft.com/office/powerpoint/2010/main" val="159630483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C160D4A2-F9DA-4AD9-B0D9-508C6DF7973D}"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90</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lstStyle/>
          <a:p>
            <a:r>
              <a:rPr lang="en-US" dirty="0"/>
              <a:t>Numerical Problem</a:t>
            </a:r>
          </a:p>
        </p:txBody>
      </p:sp>
      <p:sp>
        <p:nvSpPr>
          <p:cNvPr id="2" name="Rectangle 1"/>
          <p:cNvSpPr/>
          <p:nvPr/>
        </p:nvSpPr>
        <p:spPr>
          <a:xfrm>
            <a:off x="907613" y="1437795"/>
            <a:ext cx="1697901"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Gradient of b2​</a:t>
            </a:r>
          </a:p>
        </p:txBody>
      </p:sp>
      <p:pic>
        <p:nvPicPr>
          <p:cNvPr id="3" name="Picture 2"/>
          <p:cNvPicPr>
            <a:picLocks noChangeAspect="1"/>
          </p:cNvPicPr>
          <p:nvPr/>
        </p:nvPicPr>
        <p:blipFill>
          <a:blip r:embed="rId2"/>
          <a:stretch>
            <a:fillRect/>
          </a:stretch>
        </p:blipFill>
        <p:spPr>
          <a:xfrm>
            <a:off x="3279760" y="2098632"/>
            <a:ext cx="2616565" cy="724001"/>
          </a:xfrm>
          <a:prstGeom prst="rect">
            <a:avLst/>
          </a:prstGeom>
        </p:spPr>
      </p:pic>
      <p:pic>
        <p:nvPicPr>
          <p:cNvPr id="8" name="Picture 7"/>
          <p:cNvPicPr>
            <a:picLocks noChangeAspect="1"/>
          </p:cNvPicPr>
          <p:nvPr/>
        </p:nvPicPr>
        <p:blipFill>
          <a:blip r:embed="rId3"/>
          <a:stretch>
            <a:fillRect/>
          </a:stretch>
        </p:blipFill>
        <p:spPr>
          <a:xfrm>
            <a:off x="2664933" y="3278281"/>
            <a:ext cx="4231084" cy="1546203"/>
          </a:xfrm>
          <a:prstGeom prst="rect">
            <a:avLst/>
          </a:prstGeom>
        </p:spPr>
      </p:pic>
    </p:spTree>
    <p:extLst>
      <p:ext uri="{BB962C8B-B14F-4D97-AF65-F5344CB8AC3E}">
        <p14:creationId xmlns:p14="http://schemas.microsoft.com/office/powerpoint/2010/main" val="10726256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93D03795-5CC8-4D90-B53A-2BD15F1BBE7D}"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91</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lstStyle/>
          <a:p>
            <a:r>
              <a:rPr lang="en-US" dirty="0"/>
              <a:t>Numerical Problem</a:t>
            </a:r>
          </a:p>
        </p:txBody>
      </p:sp>
      <p:sp>
        <p:nvSpPr>
          <p:cNvPr id="2" name="Rectangle 1"/>
          <p:cNvSpPr/>
          <p:nvPr/>
        </p:nvSpPr>
        <p:spPr>
          <a:xfrm>
            <a:off x="1097281" y="1566132"/>
            <a:ext cx="3877985"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Step 5: Gradients for Hidden Layer</a:t>
            </a:r>
          </a:p>
        </p:txBody>
      </p:sp>
      <p:sp>
        <p:nvSpPr>
          <p:cNvPr id="3" name="Rectangle 2"/>
          <p:cNvSpPr/>
          <p:nvPr/>
        </p:nvSpPr>
        <p:spPr>
          <a:xfrm>
            <a:off x="1616718" y="2050887"/>
            <a:ext cx="1737976"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Gradient of w1​</a:t>
            </a:r>
          </a:p>
        </p:txBody>
      </p:sp>
      <p:sp>
        <p:nvSpPr>
          <p:cNvPr id="8" name="Rectangle 7"/>
          <p:cNvSpPr/>
          <p:nvPr/>
        </p:nvSpPr>
        <p:spPr>
          <a:xfrm>
            <a:off x="1489385" y="2535641"/>
            <a:ext cx="231024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Complete chain rule</a:t>
            </a:r>
          </a:p>
        </p:txBody>
      </p:sp>
      <p:pic>
        <p:nvPicPr>
          <p:cNvPr id="9" name="Picture 8"/>
          <p:cNvPicPr>
            <a:picLocks noChangeAspect="1"/>
          </p:cNvPicPr>
          <p:nvPr/>
        </p:nvPicPr>
        <p:blipFill>
          <a:blip r:embed="rId2"/>
          <a:stretch>
            <a:fillRect/>
          </a:stretch>
        </p:blipFill>
        <p:spPr>
          <a:xfrm>
            <a:off x="4058952" y="2385176"/>
            <a:ext cx="4077269" cy="711299"/>
          </a:xfrm>
          <a:prstGeom prst="rect">
            <a:avLst/>
          </a:prstGeom>
        </p:spPr>
      </p:pic>
      <p:pic>
        <p:nvPicPr>
          <p:cNvPr id="10" name="Picture 9"/>
          <p:cNvPicPr>
            <a:picLocks noChangeAspect="1"/>
          </p:cNvPicPr>
          <p:nvPr/>
        </p:nvPicPr>
        <p:blipFill>
          <a:blip r:embed="rId3"/>
          <a:stretch>
            <a:fillRect/>
          </a:stretch>
        </p:blipFill>
        <p:spPr>
          <a:xfrm>
            <a:off x="4058953" y="3093684"/>
            <a:ext cx="3344081" cy="2396592"/>
          </a:xfrm>
          <a:prstGeom prst="rect">
            <a:avLst/>
          </a:prstGeom>
        </p:spPr>
      </p:pic>
      <p:pic>
        <p:nvPicPr>
          <p:cNvPr id="11" name="Picture 10"/>
          <p:cNvPicPr>
            <a:picLocks noChangeAspect="1"/>
          </p:cNvPicPr>
          <p:nvPr/>
        </p:nvPicPr>
        <p:blipFill>
          <a:blip r:embed="rId4"/>
          <a:stretch>
            <a:fillRect/>
          </a:stretch>
        </p:blipFill>
        <p:spPr>
          <a:xfrm>
            <a:off x="2937216" y="5335549"/>
            <a:ext cx="7087589" cy="978036"/>
          </a:xfrm>
          <a:prstGeom prst="rect">
            <a:avLst/>
          </a:prstGeom>
        </p:spPr>
      </p:pic>
    </p:spTree>
    <p:extLst>
      <p:ext uri="{BB962C8B-B14F-4D97-AF65-F5344CB8AC3E}">
        <p14:creationId xmlns:p14="http://schemas.microsoft.com/office/powerpoint/2010/main" val="42903309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EAC69766-B6DB-4CEF-9DC7-DCB7747631C8}"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92</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lstStyle/>
          <a:p>
            <a:r>
              <a:rPr lang="en-US" dirty="0"/>
              <a:t>Numerical Problem</a:t>
            </a:r>
          </a:p>
        </p:txBody>
      </p:sp>
      <p:sp>
        <p:nvSpPr>
          <p:cNvPr id="2" name="Rectangle 1"/>
          <p:cNvSpPr/>
          <p:nvPr/>
        </p:nvSpPr>
        <p:spPr>
          <a:xfrm>
            <a:off x="1097280" y="1390419"/>
            <a:ext cx="6096000" cy="666977"/>
          </a:xfrm>
          <a:prstGeom prst="rect">
            <a:avLst/>
          </a:prstGeom>
        </p:spPr>
        <p:txBody>
          <a:bodyPr>
            <a:spAutoFit/>
          </a:bodyPr>
          <a:lstStyle/>
          <a:p>
            <a:pPr defTabSz="1219170">
              <a:buClr>
                <a:srgbClr val="000000"/>
              </a:buClr>
            </a:pPr>
            <a:r>
              <a:rPr lang="en-US" sz="1867" b="1" kern="0" dirty="0">
                <a:solidFill>
                  <a:srgbClr val="000000"/>
                </a:solidFill>
                <a:latin typeface="Arial"/>
                <a:cs typeface="Arial"/>
                <a:sym typeface="Arial"/>
              </a:rPr>
              <a:t>(D) Gradient of w2</a:t>
            </a:r>
          </a:p>
          <a:p>
            <a:pPr defTabSz="1219170">
              <a:buClr>
                <a:srgbClr val="000000"/>
              </a:buClr>
            </a:pPr>
            <a:r>
              <a:rPr lang="en-US" sz="1867" kern="0" dirty="0">
                <a:solidFill>
                  <a:srgbClr val="000000"/>
                </a:solidFill>
                <a:latin typeface="Arial"/>
                <a:cs typeface="Arial"/>
                <a:sym typeface="Arial"/>
              </a:rPr>
              <a:t>Only the last term changes:</a:t>
            </a:r>
          </a:p>
        </p:txBody>
      </p:sp>
      <p:pic>
        <p:nvPicPr>
          <p:cNvPr id="3" name="Picture 2"/>
          <p:cNvPicPr>
            <a:picLocks noChangeAspect="1"/>
          </p:cNvPicPr>
          <p:nvPr/>
        </p:nvPicPr>
        <p:blipFill>
          <a:blip r:embed="rId2"/>
          <a:stretch>
            <a:fillRect/>
          </a:stretch>
        </p:blipFill>
        <p:spPr>
          <a:xfrm>
            <a:off x="4462532" y="1390419"/>
            <a:ext cx="2603864" cy="1930669"/>
          </a:xfrm>
          <a:prstGeom prst="rect">
            <a:avLst/>
          </a:prstGeom>
        </p:spPr>
      </p:pic>
      <p:sp>
        <p:nvSpPr>
          <p:cNvPr id="8" name="Rectangle 7"/>
          <p:cNvSpPr/>
          <p:nvPr/>
        </p:nvSpPr>
        <p:spPr>
          <a:xfrm>
            <a:off x="1097281" y="3360211"/>
            <a:ext cx="2084225"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(E) Gradient of b1​</a:t>
            </a:r>
          </a:p>
        </p:txBody>
      </p:sp>
      <p:pic>
        <p:nvPicPr>
          <p:cNvPr id="9" name="Picture 8"/>
          <p:cNvPicPr>
            <a:picLocks noChangeAspect="1"/>
          </p:cNvPicPr>
          <p:nvPr/>
        </p:nvPicPr>
        <p:blipFill>
          <a:blip r:embed="rId3"/>
          <a:stretch>
            <a:fillRect/>
          </a:stretch>
        </p:blipFill>
        <p:spPr>
          <a:xfrm>
            <a:off x="2858635" y="3770580"/>
            <a:ext cx="6477904" cy="1714739"/>
          </a:xfrm>
          <a:prstGeom prst="rect">
            <a:avLst/>
          </a:prstGeom>
        </p:spPr>
      </p:pic>
    </p:spTree>
    <p:extLst>
      <p:ext uri="{BB962C8B-B14F-4D97-AF65-F5344CB8AC3E}">
        <p14:creationId xmlns:p14="http://schemas.microsoft.com/office/powerpoint/2010/main" val="228330189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17EFEC93-CBFE-489B-8AAD-2A0F6E513443}"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93</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lstStyle/>
          <a:p>
            <a:r>
              <a:rPr lang="en-US" dirty="0"/>
              <a:t>Numerical Problem</a:t>
            </a:r>
          </a:p>
        </p:txBody>
      </p:sp>
      <p:pic>
        <p:nvPicPr>
          <p:cNvPr id="2" name="Picture 1"/>
          <p:cNvPicPr>
            <a:picLocks noChangeAspect="1"/>
          </p:cNvPicPr>
          <p:nvPr/>
        </p:nvPicPr>
        <p:blipFill>
          <a:blip r:embed="rId2"/>
          <a:stretch>
            <a:fillRect/>
          </a:stretch>
        </p:blipFill>
        <p:spPr>
          <a:xfrm>
            <a:off x="1650738" y="1451316"/>
            <a:ext cx="8327452" cy="4479253"/>
          </a:xfrm>
          <a:prstGeom prst="rect">
            <a:avLst/>
          </a:prstGeom>
        </p:spPr>
      </p:pic>
    </p:spTree>
    <p:extLst>
      <p:ext uri="{BB962C8B-B14F-4D97-AF65-F5344CB8AC3E}">
        <p14:creationId xmlns:p14="http://schemas.microsoft.com/office/powerpoint/2010/main" val="19189909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Chain Rule of Differentiation </a:t>
            </a:r>
          </a:p>
        </p:txBody>
      </p:sp>
      <p:sp>
        <p:nvSpPr>
          <p:cNvPr id="3" name="Content Placeholder 2"/>
          <p:cNvSpPr>
            <a:spLocks noGrp="1"/>
          </p:cNvSpPr>
          <p:nvPr>
            <p:ph idx="1"/>
          </p:nvPr>
        </p:nvSpPr>
        <p:spPr>
          <a:xfrm>
            <a:off x="1068387" y="1582205"/>
            <a:ext cx="4637469" cy="4023360"/>
          </a:xfrm>
        </p:spPr>
        <p:txBody>
          <a:bodyPr/>
          <a:lstStyle/>
          <a:p>
            <a:r>
              <a:rPr lang="en-US" dirty="0"/>
              <a:t>Consider the following feed forward network</a:t>
            </a:r>
          </a:p>
          <a:p>
            <a:r>
              <a:rPr lang="en-US" dirty="0"/>
              <a:t>If suppose we want to update weight</a:t>
            </a:r>
          </a:p>
          <a:p>
            <a:r>
              <a:rPr lang="en-US" dirty="0"/>
              <a:t>W1 the for this the weight updating rule will be</a:t>
            </a:r>
          </a:p>
          <a:p>
            <a:endParaRPr lang="en-US" dirty="0"/>
          </a:p>
        </p:txBody>
      </p:sp>
      <p:sp>
        <p:nvSpPr>
          <p:cNvPr id="4" name="Date Placeholder 3"/>
          <p:cNvSpPr>
            <a:spLocks noGrp="1"/>
          </p:cNvSpPr>
          <p:nvPr>
            <p:ph type="dt" sz="half" idx="10"/>
          </p:nvPr>
        </p:nvSpPr>
        <p:spPr/>
        <p:txBody>
          <a:bodyPr/>
          <a:lstStyle/>
          <a:p>
            <a:pPr defTabSz="1219170">
              <a:buClr>
                <a:srgbClr val="000000"/>
              </a:buClr>
            </a:pPr>
            <a:fld id="{3F3548BA-7516-494B-BB69-F596F9A24795}"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94</a:t>
            </a:fld>
            <a:endParaRPr lang="en-US" kern="0" dirty="0">
              <a:latin typeface="Arial"/>
              <a:cs typeface="Arial"/>
              <a:sym typeface="Arial"/>
            </a:endParaRPr>
          </a:p>
        </p:txBody>
      </p:sp>
      <p:pic>
        <p:nvPicPr>
          <p:cNvPr id="7" name="Picture 6"/>
          <p:cNvPicPr>
            <a:picLocks noChangeAspect="1"/>
          </p:cNvPicPr>
          <p:nvPr/>
        </p:nvPicPr>
        <p:blipFill>
          <a:blip r:embed="rId2"/>
          <a:stretch>
            <a:fillRect/>
          </a:stretch>
        </p:blipFill>
        <p:spPr>
          <a:xfrm>
            <a:off x="5705856" y="1682496"/>
            <a:ext cx="6005393" cy="4003595"/>
          </a:xfrm>
          <a:prstGeom prst="rect">
            <a:avLst/>
          </a:prstGeom>
        </p:spPr>
      </p:pic>
      <p:pic>
        <p:nvPicPr>
          <p:cNvPr id="8" name="Picture 7"/>
          <p:cNvPicPr>
            <a:picLocks noChangeAspect="1"/>
          </p:cNvPicPr>
          <p:nvPr/>
        </p:nvPicPr>
        <p:blipFill>
          <a:blip r:embed="rId3"/>
          <a:stretch>
            <a:fillRect/>
          </a:stretch>
        </p:blipFill>
        <p:spPr>
          <a:xfrm>
            <a:off x="1649869" y="3373121"/>
            <a:ext cx="3026371" cy="867700"/>
          </a:xfrm>
          <a:prstGeom prst="rect">
            <a:avLst/>
          </a:prstGeom>
        </p:spPr>
      </p:pic>
      <p:sp>
        <p:nvSpPr>
          <p:cNvPr id="9" name="Rectangle 8"/>
          <p:cNvSpPr/>
          <p:nvPr/>
        </p:nvSpPr>
        <p:spPr>
          <a:xfrm>
            <a:off x="1027747" y="4684671"/>
            <a:ext cx="1898277"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So we compute:</a:t>
            </a:r>
          </a:p>
        </p:txBody>
      </p:sp>
      <p:pic>
        <p:nvPicPr>
          <p:cNvPr id="10" name="Picture 9"/>
          <p:cNvPicPr>
            <a:picLocks noChangeAspect="1"/>
          </p:cNvPicPr>
          <p:nvPr/>
        </p:nvPicPr>
        <p:blipFill>
          <a:blip r:embed="rId4"/>
          <a:stretch>
            <a:fillRect/>
          </a:stretch>
        </p:blipFill>
        <p:spPr>
          <a:xfrm>
            <a:off x="2985976" y="4621684"/>
            <a:ext cx="990149" cy="785661"/>
          </a:xfrm>
          <a:prstGeom prst="rect">
            <a:avLst/>
          </a:prstGeom>
        </p:spPr>
      </p:pic>
    </p:spTree>
    <p:extLst>
      <p:ext uri="{BB962C8B-B14F-4D97-AF65-F5344CB8AC3E}">
        <p14:creationId xmlns:p14="http://schemas.microsoft.com/office/powerpoint/2010/main" val="27818417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8387" y="1437568"/>
            <a:ext cx="10058400" cy="4023360"/>
          </a:xfrm>
        </p:spPr>
        <p:txBody>
          <a:bodyPr/>
          <a:lstStyle/>
          <a:p>
            <a:r>
              <a:rPr lang="en-US" dirty="0"/>
              <a:t>Chain Rule for w1</a:t>
            </a:r>
          </a:p>
        </p:txBody>
      </p:sp>
      <p:sp>
        <p:nvSpPr>
          <p:cNvPr id="4" name="Date Placeholder 3"/>
          <p:cNvSpPr>
            <a:spLocks noGrp="1"/>
          </p:cNvSpPr>
          <p:nvPr>
            <p:ph type="dt" sz="half" idx="10"/>
          </p:nvPr>
        </p:nvSpPr>
        <p:spPr/>
        <p:txBody>
          <a:bodyPr/>
          <a:lstStyle/>
          <a:p>
            <a:pPr defTabSz="1219170">
              <a:buClr>
                <a:srgbClr val="000000"/>
              </a:buClr>
            </a:pPr>
            <a:fld id="{C75D4DA9-785F-4197-84E3-EA47DD4D7AA7}"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95</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lstStyle/>
          <a:p>
            <a:r>
              <a:rPr lang="en-US" dirty="0"/>
              <a:t>Chain Rule of Differentiation </a:t>
            </a:r>
          </a:p>
        </p:txBody>
      </p:sp>
      <p:pic>
        <p:nvPicPr>
          <p:cNvPr id="8" name="Picture 7"/>
          <p:cNvPicPr>
            <a:picLocks noChangeAspect="1"/>
          </p:cNvPicPr>
          <p:nvPr/>
        </p:nvPicPr>
        <p:blipFill>
          <a:blip r:embed="rId2"/>
          <a:stretch>
            <a:fillRect/>
          </a:stretch>
        </p:blipFill>
        <p:spPr>
          <a:xfrm>
            <a:off x="1097281" y="1872697"/>
            <a:ext cx="6122375" cy="415076"/>
          </a:xfrm>
          <a:prstGeom prst="rect">
            <a:avLst/>
          </a:prstGeom>
        </p:spPr>
      </p:pic>
      <p:pic>
        <p:nvPicPr>
          <p:cNvPr id="9" name="Picture 8"/>
          <p:cNvPicPr>
            <a:picLocks noChangeAspect="1"/>
          </p:cNvPicPr>
          <p:nvPr/>
        </p:nvPicPr>
        <p:blipFill>
          <a:blip r:embed="rId3"/>
          <a:stretch>
            <a:fillRect/>
          </a:stretch>
        </p:blipFill>
        <p:spPr>
          <a:xfrm>
            <a:off x="2130284" y="3872297"/>
            <a:ext cx="6208297" cy="1392040"/>
          </a:xfrm>
          <a:prstGeom prst="rect">
            <a:avLst/>
          </a:prstGeom>
        </p:spPr>
      </p:pic>
      <p:pic>
        <p:nvPicPr>
          <p:cNvPr id="10" name="Picture 9"/>
          <p:cNvPicPr>
            <a:picLocks noChangeAspect="1"/>
          </p:cNvPicPr>
          <p:nvPr/>
        </p:nvPicPr>
        <p:blipFill>
          <a:blip r:embed="rId4"/>
          <a:stretch>
            <a:fillRect/>
          </a:stretch>
        </p:blipFill>
        <p:spPr>
          <a:xfrm>
            <a:off x="1894505" y="2328626"/>
            <a:ext cx="7046129" cy="1482809"/>
          </a:xfrm>
          <a:prstGeom prst="rect">
            <a:avLst/>
          </a:prstGeom>
        </p:spPr>
      </p:pic>
    </p:spTree>
    <p:extLst>
      <p:ext uri="{BB962C8B-B14F-4D97-AF65-F5344CB8AC3E}">
        <p14:creationId xmlns:p14="http://schemas.microsoft.com/office/powerpoint/2010/main" val="152777324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5014B0C7-EDD4-40C6-A7F1-A31727504B4A}"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96</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lstStyle/>
          <a:p>
            <a:r>
              <a:rPr lang="en-US" dirty="0"/>
              <a:t>Chain Rule of Differentiation </a:t>
            </a:r>
          </a:p>
        </p:txBody>
      </p:sp>
      <p:pic>
        <p:nvPicPr>
          <p:cNvPr id="8" name="Picture 7"/>
          <p:cNvPicPr>
            <a:picLocks noChangeAspect="1"/>
          </p:cNvPicPr>
          <p:nvPr/>
        </p:nvPicPr>
        <p:blipFill>
          <a:blip r:embed="rId2"/>
          <a:stretch>
            <a:fillRect/>
          </a:stretch>
        </p:blipFill>
        <p:spPr>
          <a:xfrm>
            <a:off x="1609066" y="1484322"/>
            <a:ext cx="6421676" cy="1239628"/>
          </a:xfrm>
          <a:prstGeom prst="rect">
            <a:avLst/>
          </a:prstGeom>
        </p:spPr>
      </p:pic>
      <p:pic>
        <p:nvPicPr>
          <p:cNvPr id="9" name="Picture 8"/>
          <p:cNvPicPr>
            <a:picLocks noChangeAspect="1"/>
          </p:cNvPicPr>
          <p:nvPr/>
        </p:nvPicPr>
        <p:blipFill>
          <a:blip r:embed="rId3"/>
          <a:stretch>
            <a:fillRect/>
          </a:stretch>
        </p:blipFill>
        <p:spPr>
          <a:xfrm>
            <a:off x="1459389" y="2920941"/>
            <a:ext cx="7444047" cy="1460051"/>
          </a:xfrm>
          <a:prstGeom prst="rect">
            <a:avLst/>
          </a:prstGeom>
        </p:spPr>
      </p:pic>
    </p:spTree>
    <p:extLst>
      <p:ext uri="{BB962C8B-B14F-4D97-AF65-F5344CB8AC3E}">
        <p14:creationId xmlns:p14="http://schemas.microsoft.com/office/powerpoint/2010/main" val="57206717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Vanishing-gradient in Deep Neural Network</a:t>
            </a:r>
          </a:p>
        </p:txBody>
      </p:sp>
      <p:sp>
        <p:nvSpPr>
          <p:cNvPr id="4" name="Date Placeholder 3"/>
          <p:cNvSpPr>
            <a:spLocks noGrp="1"/>
          </p:cNvSpPr>
          <p:nvPr>
            <p:ph type="dt" sz="half" idx="10"/>
          </p:nvPr>
        </p:nvSpPr>
        <p:spPr/>
        <p:txBody>
          <a:bodyPr/>
          <a:lstStyle/>
          <a:p>
            <a:pPr defTabSz="1219170">
              <a:buClr>
                <a:srgbClr val="000000"/>
              </a:buClr>
            </a:pPr>
            <a:fld id="{1F4E8653-9AD5-47AD-82BB-1CBA8147BD50}"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97</a:t>
            </a:fld>
            <a:endParaRPr lang="en-US" kern="0" dirty="0">
              <a:latin typeface="Arial"/>
              <a:cs typeface="Arial"/>
              <a:sym typeface="Arial"/>
            </a:endParaRPr>
          </a:p>
        </p:txBody>
      </p:sp>
      <p:sp>
        <p:nvSpPr>
          <p:cNvPr id="8" name="Oval 7"/>
          <p:cNvSpPr/>
          <p:nvPr/>
        </p:nvSpPr>
        <p:spPr>
          <a:xfrm>
            <a:off x="2202688" y="2283968"/>
            <a:ext cx="414528" cy="382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a:solidFill>
                <a:prstClr val="white"/>
              </a:solidFill>
              <a:latin typeface="Calibri" panose="020F0502020204030204"/>
              <a:sym typeface="Arial"/>
            </a:endParaRPr>
          </a:p>
        </p:txBody>
      </p:sp>
      <p:sp>
        <p:nvSpPr>
          <p:cNvPr id="9" name="Oval 8"/>
          <p:cNvSpPr/>
          <p:nvPr/>
        </p:nvSpPr>
        <p:spPr>
          <a:xfrm>
            <a:off x="3187536" y="2283968"/>
            <a:ext cx="414528" cy="382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a:solidFill>
                <a:prstClr val="white"/>
              </a:solidFill>
              <a:latin typeface="Calibri" panose="020F0502020204030204"/>
              <a:sym typeface="Arial"/>
            </a:endParaRPr>
          </a:p>
        </p:txBody>
      </p:sp>
      <p:sp>
        <p:nvSpPr>
          <p:cNvPr id="10" name="Oval 9"/>
          <p:cNvSpPr/>
          <p:nvPr/>
        </p:nvSpPr>
        <p:spPr>
          <a:xfrm>
            <a:off x="4301072" y="2283968"/>
            <a:ext cx="414528" cy="382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a:solidFill>
                <a:prstClr val="white"/>
              </a:solidFill>
              <a:latin typeface="Calibri" panose="020F0502020204030204"/>
              <a:sym typeface="Arial"/>
            </a:endParaRPr>
          </a:p>
        </p:txBody>
      </p:sp>
      <p:sp>
        <p:nvSpPr>
          <p:cNvPr id="11" name="Oval 10"/>
          <p:cNvSpPr/>
          <p:nvPr/>
        </p:nvSpPr>
        <p:spPr>
          <a:xfrm>
            <a:off x="5414608" y="2283968"/>
            <a:ext cx="414528" cy="382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a:solidFill>
                <a:prstClr val="white"/>
              </a:solidFill>
              <a:latin typeface="Calibri" panose="020F0502020204030204"/>
              <a:sym typeface="Arial"/>
            </a:endParaRPr>
          </a:p>
        </p:txBody>
      </p:sp>
      <p:sp>
        <p:nvSpPr>
          <p:cNvPr id="12" name="Oval 11"/>
          <p:cNvSpPr/>
          <p:nvPr/>
        </p:nvSpPr>
        <p:spPr>
          <a:xfrm>
            <a:off x="6755728" y="2283968"/>
            <a:ext cx="414528" cy="382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a:solidFill>
                <a:prstClr val="white"/>
              </a:solidFill>
              <a:latin typeface="Calibri" panose="020F0502020204030204"/>
              <a:sym typeface="Arial"/>
            </a:endParaRPr>
          </a:p>
        </p:txBody>
      </p:sp>
      <p:cxnSp>
        <p:nvCxnSpPr>
          <p:cNvPr id="14" name="Straight Arrow Connector 13"/>
          <p:cNvCxnSpPr/>
          <p:nvPr/>
        </p:nvCxnSpPr>
        <p:spPr>
          <a:xfrm>
            <a:off x="1471168" y="2474976"/>
            <a:ext cx="7315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a:endCxn id="9" idx="2"/>
          </p:cNvCxnSpPr>
          <p:nvPr/>
        </p:nvCxnSpPr>
        <p:spPr>
          <a:xfrm>
            <a:off x="2617216" y="2474976"/>
            <a:ext cx="5703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a:endCxn id="10" idx="2"/>
          </p:cNvCxnSpPr>
          <p:nvPr/>
        </p:nvCxnSpPr>
        <p:spPr>
          <a:xfrm>
            <a:off x="3602064" y="2474976"/>
            <a:ext cx="6990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p:nvPr/>
        </p:nvCxnSpPr>
        <p:spPr>
          <a:xfrm>
            <a:off x="4715600" y="2474976"/>
            <a:ext cx="69900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p:cNvCxnSpPr>
            <a:endCxn id="12" idx="2"/>
          </p:cNvCxnSpPr>
          <p:nvPr/>
        </p:nvCxnSpPr>
        <p:spPr>
          <a:xfrm>
            <a:off x="5829136" y="2474976"/>
            <a:ext cx="9265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p:cNvCxnSpPr/>
          <p:nvPr/>
        </p:nvCxnSpPr>
        <p:spPr>
          <a:xfrm>
            <a:off x="8456139" y="2422144"/>
            <a:ext cx="926592"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p:cNvCxnSpPr/>
          <p:nvPr/>
        </p:nvCxnSpPr>
        <p:spPr>
          <a:xfrm>
            <a:off x="3394800" y="1792224"/>
            <a:ext cx="0" cy="4917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Arrow Connector 25"/>
          <p:cNvCxnSpPr/>
          <p:nvPr/>
        </p:nvCxnSpPr>
        <p:spPr>
          <a:xfrm>
            <a:off x="4481248" y="1792224"/>
            <a:ext cx="0" cy="4917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p:cNvCxnSpPr/>
          <p:nvPr/>
        </p:nvCxnSpPr>
        <p:spPr>
          <a:xfrm>
            <a:off x="5608336" y="1792224"/>
            <a:ext cx="0" cy="4917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p:cNvCxnSpPr/>
          <p:nvPr/>
        </p:nvCxnSpPr>
        <p:spPr>
          <a:xfrm>
            <a:off x="6946752" y="1792224"/>
            <a:ext cx="0" cy="4917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9" name="Rectangle 28"/>
          <p:cNvSpPr/>
          <p:nvPr/>
        </p:nvSpPr>
        <p:spPr>
          <a:xfrm>
            <a:off x="1093939" y="2255615"/>
            <a:ext cx="437940"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x1</a:t>
            </a:r>
          </a:p>
        </p:txBody>
      </p:sp>
      <p:sp>
        <p:nvSpPr>
          <p:cNvPr id="31" name="Rectangle 30"/>
          <p:cNvSpPr/>
          <p:nvPr/>
        </p:nvSpPr>
        <p:spPr>
          <a:xfrm>
            <a:off x="3181629" y="1394047"/>
            <a:ext cx="450764"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b1</a:t>
            </a:r>
          </a:p>
        </p:txBody>
      </p:sp>
      <p:sp>
        <p:nvSpPr>
          <p:cNvPr id="32" name="Rectangle 31"/>
          <p:cNvSpPr/>
          <p:nvPr/>
        </p:nvSpPr>
        <p:spPr>
          <a:xfrm>
            <a:off x="4189561" y="1436775"/>
            <a:ext cx="450764"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b2</a:t>
            </a:r>
          </a:p>
        </p:txBody>
      </p:sp>
      <p:sp>
        <p:nvSpPr>
          <p:cNvPr id="33" name="Rectangle 32"/>
          <p:cNvSpPr/>
          <p:nvPr/>
        </p:nvSpPr>
        <p:spPr>
          <a:xfrm>
            <a:off x="5349652" y="1422543"/>
            <a:ext cx="450764"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b3</a:t>
            </a:r>
          </a:p>
        </p:txBody>
      </p:sp>
      <p:sp>
        <p:nvSpPr>
          <p:cNvPr id="34" name="Rectangle 33"/>
          <p:cNvSpPr/>
          <p:nvPr/>
        </p:nvSpPr>
        <p:spPr>
          <a:xfrm>
            <a:off x="6667748" y="1398464"/>
            <a:ext cx="450764"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b4</a:t>
            </a:r>
          </a:p>
        </p:txBody>
      </p:sp>
      <p:sp>
        <p:nvSpPr>
          <p:cNvPr id="35" name="Rectangle 34"/>
          <p:cNvSpPr/>
          <p:nvPr/>
        </p:nvSpPr>
        <p:spPr>
          <a:xfrm>
            <a:off x="8590071" y="1995535"/>
            <a:ext cx="59663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O/P</a:t>
            </a:r>
          </a:p>
        </p:txBody>
      </p:sp>
      <p:sp>
        <p:nvSpPr>
          <p:cNvPr id="36" name="Rectangle 35"/>
          <p:cNvSpPr/>
          <p:nvPr/>
        </p:nvSpPr>
        <p:spPr>
          <a:xfrm>
            <a:off x="2662023" y="1995639"/>
            <a:ext cx="490840"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w1</a:t>
            </a:r>
          </a:p>
        </p:txBody>
      </p:sp>
      <p:sp>
        <p:nvSpPr>
          <p:cNvPr id="37" name="Rectangle 36"/>
          <p:cNvSpPr/>
          <p:nvPr/>
        </p:nvSpPr>
        <p:spPr>
          <a:xfrm>
            <a:off x="4830174" y="2040120"/>
            <a:ext cx="490840"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w3</a:t>
            </a:r>
          </a:p>
        </p:txBody>
      </p:sp>
      <p:sp>
        <p:nvSpPr>
          <p:cNvPr id="38" name="Rectangle 37"/>
          <p:cNvSpPr/>
          <p:nvPr/>
        </p:nvSpPr>
        <p:spPr>
          <a:xfrm>
            <a:off x="6020160" y="2119640"/>
            <a:ext cx="490840"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w4</a:t>
            </a:r>
          </a:p>
        </p:txBody>
      </p:sp>
      <p:sp>
        <p:nvSpPr>
          <p:cNvPr id="39" name="Rectangle 38"/>
          <p:cNvSpPr/>
          <p:nvPr/>
        </p:nvSpPr>
        <p:spPr>
          <a:xfrm>
            <a:off x="3712558" y="2040120"/>
            <a:ext cx="490840"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w2</a:t>
            </a:r>
          </a:p>
        </p:txBody>
      </p:sp>
      <p:sp>
        <p:nvSpPr>
          <p:cNvPr id="41" name="Rectangle 40"/>
          <p:cNvSpPr/>
          <p:nvPr/>
        </p:nvSpPr>
        <p:spPr>
          <a:xfrm>
            <a:off x="3179573" y="2605008"/>
            <a:ext cx="503664"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O1</a:t>
            </a:r>
          </a:p>
        </p:txBody>
      </p:sp>
      <p:sp>
        <p:nvSpPr>
          <p:cNvPr id="42" name="Rectangle 41"/>
          <p:cNvSpPr/>
          <p:nvPr/>
        </p:nvSpPr>
        <p:spPr>
          <a:xfrm>
            <a:off x="4278860" y="2653740"/>
            <a:ext cx="503664"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O2</a:t>
            </a:r>
          </a:p>
        </p:txBody>
      </p:sp>
      <p:sp>
        <p:nvSpPr>
          <p:cNvPr id="43" name="Rectangle 42"/>
          <p:cNvSpPr/>
          <p:nvPr/>
        </p:nvSpPr>
        <p:spPr>
          <a:xfrm>
            <a:off x="5435295" y="2678207"/>
            <a:ext cx="503664"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O3</a:t>
            </a:r>
          </a:p>
        </p:txBody>
      </p:sp>
      <p:sp>
        <p:nvSpPr>
          <p:cNvPr id="44" name="Rectangle 43"/>
          <p:cNvSpPr/>
          <p:nvPr/>
        </p:nvSpPr>
        <p:spPr>
          <a:xfrm>
            <a:off x="6785125" y="2665984"/>
            <a:ext cx="503664"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O4</a:t>
            </a:r>
          </a:p>
        </p:txBody>
      </p:sp>
      <p:pic>
        <p:nvPicPr>
          <p:cNvPr id="45" name="Picture 44"/>
          <p:cNvPicPr>
            <a:picLocks noChangeAspect="1"/>
          </p:cNvPicPr>
          <p:nvPr/>
        </p:nvPicPr>
        <p:blipFill>
          <a:blip r:embed="rId2"/>
          <a:stretch>
            <a:fillRect/>
          </a:stretch>
        </p:blipFill>
        <p:spPr>
          <a:xfrm>
            <a:off x="9563122" y="2189238"/>
            <a:ext cx="395687" cy="464503"/>
          </a:xfrm>
          <a:prstGeom prst="rect">
            <a:avLst/>
          </a:prstGeom>
        </p:spPr>
      </p:pic>
      <p:sp>
        <p:nvSpPr>
          <p:cNvPr id="46" name="Rectangle 45"/>
          <p:cNvSpPr/>
          <p:nvPr/>
        </p:nvSpPr>
        <p:spPr>
          <a:xfrm>
            <a:off x="736999" y="3071879"/>
            <a:ext cx="682590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Neurons are connected </a:t>
            </a:r>
            <a:r>
              <a:rPr lang="en-US" sz="1867" b="1" kern="0" dirty="0">
                <a:solidFill>
                  <a:srgbClr val="000000"/>
                </a:solidFill>
                <a:latin typeface="Arial"/>
                <a:cs typeface="Arial"/>
                <a:sym typeface="Arial"/>
              </a:rPr>
              <a:t>one after another, so dependency is</a:t>
            </a:r>
            <a:endParaRPr lang="en-US" sz="1867" kern="0" dirty="0">
              <a:solidFill>
                <a:srgbClr val="000000"/>
              </a:solidFill>
              <a:latin typeface="Arial"/>
              <a:cs typeface="Arial"/>
              <a:sym typeface="Arial"/>
            </a:endParaRPr>
          </a:p>
        </p:txBody>
      </p:sp>
      <p:pic>
        <p:nvPicPr>
          <p:cNvPr id="47" name="Picture 46"/>
          <p:cNvPicPr>
            <a:picLocks noChangeAspect="1"/>
          </p:cNvPicPr>
          <p:nvPr/>
        </p:nvPicPr>
        <p:blipFill>
          <a:blip r:embed="rId3"/>
          <a:stretch>
            <a:fillRect/>
          </a:stretch>
        </p:blipFill>
        <p:spPr>
          <a:xfrm>
            <a:off x="2348920" y="3673255"/>
            <a:ext cx="6518832" cy="611523"/>
          </a:xfrm>
          <a:prstGeom prst="rect">
            <a:avLst/>
          </a:prstGeom>
        </p:spPr>
      </p:pic>
      <p:sp>
        <p:nvSpPr>
          <p:cNvPr id="48" name="Rectangle 47"/>
          <p:cNvSpPr/>
          <p:nvPr/>
        </p:nvSpPr>
        <p:spPr>
          <a:xfrm>
            <a:off x="1343152" y="4521483"/>
            <a:ext cx="6096000" cy="954300"/>
          </a:xfrm>
          <a:prstGeom prst="rect">
            <a:avLst/>
          </a:prstGeom>
        </p:spPr>
        <p:txBody>
          <a:bodyPr>
            <a:spAutoFit/>
          </a:bodyPr>
          <a:lstStyle/>
          <a:p>
            <a:pPr defTabSz="1219170">
              <a:buClr>
                <a:srgbClr val="000000"/>
              </a:buClr>
            </a:pPr>
            <a:r>
              <a:rPr lang="en-US" sz="1867" kern="0" dirty="0">
                <a:solidFill>
                  <a:srgbClr val="000000"/>
                </a:solidFill>
                <a:latin typeface="Arial"/>
                <a:cs typeface="Arial"/>
                <a:sym typeface="Arial"/>
              </a:rPr>
              <a:t>Where, </a:t>
            </a:r>
          </a:p>
          <a:p>
            <a:pPr marL="380990" indent="-380990"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Each layer has sigmoid activation </a:t>
            </a:r>
          </a:p>
          <a:p>
            <a:pPr marL="380990" indent="-380990"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Loss function is Mean Squared Error (MSE)</a:t>
            </a:r>
          </a:p>
        </p:txBody>
      </p:sp>
      <p:pic>
        <p:nvPicPr>
          <p:cNvPr id="49" name="Picture 48"/>
          <p:cNvPicPr>
            <a:picLocks noChangeAspect="1"/>
          </p:cNvPicPr>
          <p:nvPr/>
        </p:nvPicPr>
        <p:blipFill>
          <a:blip r:embed="rId4"/>
          <a:stretch>
            <a:fillRect/>
          </a:stretch>
        </p:blipFill>
        <p:spPr>
          <a:xfrm>
            <a:off x="6667748" y="4795065"/>
            <a:ext cx="1959360" cy="885587"/>
          </a:xfrm>
          <a:prstGeom prst="rect">
            <a:avLst/>
          </a:prstGeom>
        </p:spPr>
      </p:pic>
      <p:sp>
        <p:nvSpPr>
          <p:cNvPr id="50" name="Oval 49"/>
          <p:cNvSpPr/>
          <p:nvPr/>
        </p:nvSpPr>
        <p:spPr>
          <a:xfrm>
            <a:off x="8091713" y="2269791"/>
            <a:ext cx="414528" cy="38201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a:solidFill>
                <a:prstClr val="white"/>
              </a:solidFill>
              <a:latin typeface="Calibri" panose="020F0502020204030204"/>
              <a:sym typeface="Arial"/>
            </a:endParaRPr>
          </a:p>
        </p:txBody>
      </p:sp>
      <p:sp>
        <p:nvSpPr>
          <p:cNvPr id="51" name="Rectangle 50"/>
          <p:cNvSpPr/>
          <p:nvPr/>
        </p:nvSpPr>
        <p:spPr>
          <a:xfrm>
            <a:off x="8025385" y="2661124"/>
            <a:ext cx="503664"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On</a:t>
            </a:r>
          </a:p>
        </p:txBody>
      </p:sp>
      <p:cxnSp>
        <p:nvCxnSpPr>
          <p:cNvPr id="52" name="Straight Arrow Connector 51"/>
          <p:cNvCxnSpPr/>
          <p:nvPr/>
        </p:nvCxnSpPr>
        <p:spPr>
          <a:xfrm>
            <a:off x="8249968" y="1749663"/>
            <a:ext cx="0" cy="4917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3" name="Rectangle 52"/>
          <p:cNvSpPr/>
          <p:nvPr/>
        </p:nvSpPr>
        <p:spPr>
          <a:xfrm>
            <a:off x="7946965" y="1414067"/>
            <a:ext cx="450764" cy="379656"/>
          </a:xfrm>
          <a:prstGeom prst="rect">
            <a:avLst/>
          </a:prstGeom>
        </p:spPr>
        <p:txBody>
          <a:bodyPr wrap="none">
            <a:spAutoFit/>
          </a:bodyPr>
          <a:lstStyle/>
          <a:p>
            <a:pPr defTabSz="1219170">
              <a:buClr>
                <a:srgbClr val="000000"/>
              </a:buClr>
            </a:pPr>
            <a:r>
              <a:rPr lang="en-US" sz="1867" kern="0" dirty="0" err="1">
                <a:solidFill>
                  <a:srgbClr val="000000"/>
                </a:solidFill>
                <a:latin typeface="Arial"/>
                <a:cs typeface="Arial"/>
                <a:sym typeface="Arial"/>
              </a:rPr>
              <a:t>bn</a:t>
            </a:r>
            <a:endParaRPr lang="en-US" sz="1867" kern="0" dirty="0">
              <a:solidFill>
                <a:srgbClr val="000000"/>
              </a:solidFill>
              <a:latin typeface="Arial"/>
              <a:cs typeface="Arial"/>
              <a:sym typeface="Arial"/>
            </a:endParaRPr>
          </a:p>
        </p:txBody>
      </p:sp>
      <p:cxnSp>
        <p:nvCxnSpPr>
          <p:cNvPr id="54" name="Straight Arrow Connector 53"/>
          <p:cNvCxnSpPr>
            <a:endCxn id="50" idx="2"/>
          </p:cNvCxnSpPr>
          <p:nvPr/>
        </p:nvCxnSpPr>
        <p:spPr>
          <a:xfrm>
            <a:off x="7498614" y="2450490"/>
            <a:ext cx="593100" cy="10309"/>
          </a:xfrm>
          <a:prstGeom prst="straightConnector1">
            <a:avLst/>
          </a:prstGeom>
          <a:ln>
            <a:prstDash val="sysDash"/>
            <a:tailEnd type="triangle"/>
          </a:ln>
        </p:spPr>
        <p:style>
          <a:lnRef idx="1">
            <a:schemeClr val="dk1"/>
          </a:lnRef>
          <a:fillRef idx="0">
            <a:schemeClr val="dk1"/>
          </a:fillRef>
          <a:effectRef idx="0">
            <a:schemeClr val="dk1"/>
          </a:effectRef>
          <a:fontRef idx="minor">
            <a:schemeClr val="tx1"/>
          </a:fontRef>
        </p:style>
      </p:cxnSp>
      <p:sp>
        <p:nvSpPr>
          <p:cNvPr id="58" name="Rectangle 57"/>
          <p:cNvSpPr/>
          <p:nvPr/>
        </p:nvSpPr>
        <p:spPr>
          <a:xfrm>
            <a:off x="7579339" y="2063801"/>
            <a:ext cx="490840" cy="379656"/>
          </a:xfrm>
          <a:prstGeom prst="rect">
            <a:avLst/>
          </a:prstGeom>
        </p:spPr>
        <p:txBody>
          <a:bodyPr wrap="none">
            <a:spAutoFit/>
          </a:bodyPr>
          <a:lstStyle/>
          <a:p>
            <a:pPr defTabSz="1219170">
              <a:buClr>
                <a:srgbClr val="000000"/>
              </a:buClr>
            </a:pPr>
            <a:r>
              <a:rPr lang="en-US" sz="1867" kern="0" dirty="0" err="1">
                <a:solidFill>
                  <a:srgbClr val="000000"/>
                </a:solidFill>
                <a:latin typeface="Arial"/>
                <a:cs typeface="Arial"/>
                <a:sym typeface="Arial"/>
              </a:rPr>
              <a:t>wn</a:t>
            </a:r>
            <a:endParaRPr lang="en-US" sz="1867" kern="0" dirty="0">
              <a:solidFill>
                <a:srgbClr val="000000"/>
              </a:solidFill>
              <a:latin typeface="Arial"/>
              <a:cs typeface="Arial"/>
              <a:sym typeface="Arial"/>
            </a:endParaRPr>
          </a:p>
        </p:txBody>
      </p:sp>
    </p:spTree>
    <p:extLst>
      <p:ext uri="{BB962C8B-B14F-4D97-AF65-F5344CB8AC3E}">
        <p14:creationId xmlns:p14="http://schemas.microsoft.com/office/powerpoint/2010/main" val="409062987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2652DE91-79FB-4BF1-90DA-6CBA53D7B4B5}"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98</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normAutofit fontScale="90000"/>
          </a:bodyPr>
          <a:lstStyle/>
          <a:p>
            <a:r>
              <a:rPr lang="en-US" dirty="0"/>
              <a:t>Vanishing-gradient in Deep Neural Network</a:t>
            </a:r>
          </a:p>
        </p:txBody>
      </p:sp>
      <p:sp>
        <p:nvSpPr>
          <p:cNvPr id="8" name="Rectangle 7"/>
          <p:cNvSpPr/>
          <p:nvPr/>
        </p:nvSpPr>
        <p:spPr>
          <a:xfrm>
            <a:off x="975360" y="1413947"/>
            <a:ext cx="6096000" cy="666977"/>
          </a:xfrm>
          <a:prstGeom prst="rect">
            <a:avLst/>
          </a:prstGeom>
        </p:spPr>
        <p:txBody>
          <a:bodyPr>
            <a:spAutoFit/>
          </a:bodyPr>
          <a:lstStyle/>
          <a:p>
            <a:pPr defTabSz="1219170">
              <a:buClr>
                <a:srgbClr val="000000"/>
              </a:buClr>
            </a:pPr>
            <a:r>
              <a:rPr lang="en-US" sz="1867" kern="0" dirty="0">
                <a:solidFill>
                  <a:srgbClr val="000000"/>
                </a:solidFill>
                <a:latin typeface="Arial"/>
                <a:cs typeface="Arial"/>
                <a:sym typeface="Arial"/>
              </a:rPr>
              <a:t>Forward Pass (to understand dependency)</a:t>
            </a:r>
          </a:p>
          <a:p>
            <a:pPr defTabSz="1219170">
              <a:buClr>
                <a:srgbClr val="000000"/>
              </a:buClr>
            </a:pPr>
            <a:r>
              <a:rPr lang="en-US" sz="1867" kern="0" dirty="0">
                <a:solidFill>
                  <a:srgbClr val="000000"/>
                </a:solidFill>
                <a:latin typeface="Arial"/>
                <a:cs typeface="Arial"/>
                <a:sym typeface="Arial"/>
              </a:rPr>
              <a:t>For clarity, write forward equations:</a:t>
            </a:r>
          </a:p>
        </p:txBody>
      </p:sp>
      <p:pic>
        <p:nvPicPr>
          <p:cNvPr id="9" name="Picture 8"/>
          <p:cNvPicPr>
            <a:picLocks noChangeAspect="1"/>
          </p:cNvPicPr>
          <p:nvPr/>
        </p:nvPicPr>
        <p:blipFill>
          <a:blip r:embed="rId2"/>
          <a:stretch>
            <a:fillRect/>
          </a:stretch>
        </p:blipFill>
        <p:spPr>
          <a:xfrm>
            <a:off x="5145024" y="1746592"/>
            <a:ext cx="2877312" cy="2349267"/>
          </a:xfrm>
          <a:prstGeom prst="rect">
            <a:avLst/>
          </a:prstGeom>
        </p:spPr>
      </p:pic>
      <p:sp>
        <p:nvSpPr>
          <p:cNvPr id="10" name="Rectangle 9"/>
          <p:cNvSpPr/>
          <p:nvPr/>
        </p:nvSpPr>
        <p:spPr>
          <a:xfrm>
            <a:off x="2948419" y="4270315"/>
            <a:ext cx="756938"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Loss:</a:t>
            </a:r>
          </a:p>
        </p:txBody>
      </p:sp>
      <p:pic>
        <p:nvPicPr>
          <p:cNvPr id="11" name="Picture 10"/>
          <p:cNvPicPr>
            <a:picLocks noChangeAspect="1"/>
          </p:cNvPicPr>
          <p:nvPr/>
        </p:nvPicPr>
        <p:blipFill>
          <a:blip r:embed="rId3"/>
          <a:stretch>
            <a:fillRect/>
          </a:stretch>
        </p:blipFill>
        <p:spPr>
          <a:xfrm>
            <a:off x="5315628" y="4158536"/>
            <a:ext cx="1950889" cy="741744"/>
          </a:xfrm>
          <a:prstGeom prst="rect">
            <a:avLst/>
          </a:prstGeom>
        </p:spPr>
      </p:pic>
    </p:spTree>
    <p:extLst>
      <p:ext uri="{BB962C8B-B14F-4D97-AF65-F5344CB8AC3E}">
        <p14:creationId xmlns:p14="http://schemas.microsoft.com/office/powerpoint/2010/main" val="25522677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40B0AE7B-2DD0-46D4-98AF-ECF51BDD8786}"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99</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normAutofit fontScale="90000"/>
          </a:bodyPr>
          <a:lstStyle/>
          <a:p>
            <a:r>
              <a:rPr lang="en-US" dirty="0"/>
              <a:t>Vanishing-gradient in Deep Neural Network</a:t>
            </a:r>
          </a:p>
        </p:txBody>
      </p:sp>
      <p:sp>
        <p:nvSpPr>
          <p:cNvPr id="2" name="Rectangle 1"/>
          <p:cNvSpPr/>
          <p:nvPr/>
        </p:nvSpPr>
        <p:spPr>
          <a:xfrm>
            <a:off x="882853" y="1443784"/>
            <a:ext cx="4804520" cy="954300"/>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Suppose we want to update weight w1</a:t>
            </a:r>
          </a:p>
          <a:p>
            <a:pPr defTabSz="1219170">
              <a:buClr>
                <a:srgbClr val="000000"/>
              </a:buClr>
            </a:pPr>
            <a:r>
              <a:rPr lang="en-US" sz="1867" kern="0" dirty="0">
                <a:solidFill>
                  <a:srgbClr val="000000"/>
                </a:solidFill>
                <a:latin typeface="Arial"/>
                <a:cs typeface="Arial"/>
                <a:sym typeface="Arial"/>
              </a:rPr>
              <a:t>Chain Rule of Differentiation (for weight w1​)</a:t>
            </a:r>
          </a:p>
          <a:p>
            <a:pPr defTabSz="1219170">
              <a:buClr>
                <a:srgbClr val="000000"/>
              </a:buClr>
            </a:pPr>
            <a:r>
              <a:rPr lang="en-US" sz="1867" kern="0" dirty="0">
                <a:solidFill>
                  <a:srgbClr val="000000"/>
                </a:solidFill>
                <a:latin typeface="Arial"/>
                <a:cs typeface="Arial"/>
                <a:sym typeface="Arial"/>
              </a:rPr>
              <a:t>We need to compute</a:t>
            </a:r>
          </a:p>
        </p:txBody>
      </p:sp>
      <p:pic>
        <p:nvPicPr>
          <p:cNvPr id="3" name="Picture 2"/>
          <p:cNvPicPr>
            <a:picLocks noChangeAspect="1"/>
          </p:cNvPicPr>
          <p:nvPr/>
        </p:nvPicPr>
        <p:blipFill>
          <a:blip r:embed="rId2"/>
          <a:stretch>
            <a:fillRect/>
          </a:stretch>
        </p:blipFill>
        <p:spPr>
          <a:xfrm>
            <a:off x="4043818" y="2062877"/>
            <a:ext cx="782388" cy="731584"/>
          </a:xfrm>
          <a:prstGeom prst="rect">
            <a:avLst/>
          </a:prstGeom>
        </p:spPr>
      </p:pic>
      <p:sp>
        <p:nvSpPr>
          <p:cNvPr id="8" name="Rectangle 7"/>
          <p:cNvSpPr/>
          <p:nvPr/>
        </p:nvSpPr>
        <p:spPr>
          <a:xfrm>
            <a:off x="916466" y="2744003"/>
            <a:ext cx="3070071"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Full Chain Rule Expression</a:t>
            </a:r>
          </a:p>
        </p:txBody>
      </p:sp>
      <p:pic>
        <p:nvPicPr>
          <p:cNvPr id="9" name="Picture 8"/>
          <p:cNvPicPr>
            <a:picLocks noChangeAspect="1"/>
          </p:cNvPicPr>
          <p:nvPr/>
        </p:nvPicPr>
        <p:blipFill>
          <a:blip r:embed="rId3"/>
          <a:stretch>
            <a:fillRect/>
          </a:stretch>
        </p:blipFill>
        <p:spPr>
          <a:xfrm>
            <a:off x="1097280" y="3302082"/>
            <a:ext cx="4582557" cy="538527"/>
          </a:xfrm>
          <a:prstGeom prst="rect">
            <a:avLst/>
          </a:prstGeom>
        </p:spPr>
      </p:pic>
      <p:sp>
        <p:nvSpPr>
          <p:cNvPr id="10" name="Rectangle 9"/>
          <p:cNvSpPr/>
          <p:nvPr/>
        </p:nvSpPr>
        <p:spPr>
          <a:xfrm>
            <a:off x="992693" y="4081335"/>
            <a:ext cx="4267515"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Expanding Each Term (Sigmoid Case)</a:t>
            </a:r>
          </a:p>
        </p:txBody>
      </p:sp>
      <p:sp>
        <p:nvSpPr>
          <p:cNvPr id="11" name="Rectangle 10"/>
          <p:cNvSpPr/>
          <p:nvPr/>
        </p:nvSpPr>
        <p:spPr>
          <a:xfrm>
            <a:off x="925274" y="4646004"/>
            <a:ext cx="1781257"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Loss derivative</a:t>
            </a:r>
          </a:p>
        </p:txBody>
      </p:sp>
      <p:pic>
        <p:nvPicPr>
          <p:cNvPr id="12" name="Picture 11"/>
          <p:cNvPicPr>
            <a:picLocks noChangeAspect="1"/>
          </p:cNvPicPr>
          <p:nvPr/>
        </p:nvPicPr>
        <p:blipFill>
          <a:blip r:embed="rId4"/>
          <a:stretch>
            <a:fillRect/>
          </a:stretch>
        </p:blipFill>
        <p:spPr>
          <a:xfrm>
            <a:off x="3314289" y="4615975"/>
            <a:ext cx="1707028" cy="690940"/>
          </a:xfrm>
          <a:prstGeom prst="rect">
            <a:avLst/>
          </a:prstGeom>
        </p:spPr>
      </p:pic>
      <p:sp>
        <p:nvSpPr>
          <p:cNvPr id="13" name="Rectangle 12"/>
          <p:cNvSpPr/>
          <p:nvPr/>
        </p:nvSpPr>
        <p:spPr>
          <a:xfrm>
            <a:off x="663678" y="5533511"/>
            <a:ext cx="2138727"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Sigmoid derivative</a:t>
            </a:r>
          </a:p>
        </p:txBody>
      </p:sp>
      <p:pic>
        <p:nvPicPr>
          <p:cNvPr id="14" name="Picture 13"/>
          <p:cNvPicPr>
            <a:picLocks noChangeAspect="1"/>
          </p:cNvPicPr>
          <p:nvPr/>
        </p:nvPicPr>
        <p:blipFill>
          <a:blip r:embed="rId5"/>
          <a:stretch>
            <a:fillRect/>
          </a:stretch>
        </p:blipFill>
        <p:spPr>
          <a:xfrm>
            <a:off x="2926120" y="5413640"/>
            <a:ext cx="3017781" cy="569009"/>
          </a:xfrm>
          <a:prstGeom prst="rect">
            <a:avLst/>
          </a:prstGeom>
        </p:spPr>
      </p:pic>
      <p:pic>
        <p:nvPicPr>
          <p:cNvPr id="15" name="Picture 14"/>
          <p:cNvPicPr>
            <a:picLocks noChangeAspect="1"/>
          </p:cNvPicPr>
          <p:nvPr/>
        </p:nvPicPr>
        <p:blipFill>
          <a:blip r:embed="rId6"/>
          <a:stretch>
            <a:fillRect/>
          </a:stretch>
        </p:blipFill>
        <p:spPr>
          <a:xfrm>
            <a:off x="6008733" y="3113479"/>
            <a:ext cx="3956195" cy="3168108"/>
          </a:xfrm>
          <a:prstGeom prst="rect">
            <a:avLst/>
          </a:prstGeom>
        </p:spPr>
      </p:pic>
    </p:spTree>
    <p:extLst>
      <p:ext uri="{BB962C8B-B14F-4D97-AF65-F5344CB8AC3E}">
        <p14:creationId xmlns:p14="http://schemas.microsoft.com/office/powerpoint/2010/main" val="236983680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07B42996-281B-4328-9043-ED36C2449178}"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100</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normAutofit fontScale="90000"/>
          </a:bodyPr>
          <a:lstStyle/>
          <a:p>
            <a:r>
              <a:rPr lang="en-US" dirty="0"/>
              <a:t>Vanishing-gradient in Deep Neural Network</a:t>
            </a:r>
          </a:p>
        </p:txBody>
      </p:sp>
      <p:sp>
        <p:nvSpPr>
          <p:cNvPr id="2" name="Rectangle 1"/>
          <p:cNvSpPr/>
          <p:nvPr/>
        </p:nvSpPr>
        <p:spPr>
          <a:xfrm>
            <a:off x="931109" y="1590088"/>
            <a:ext cx="2752677"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Layer-to-layer derivative</a:t>
            </a:r>
          </a:p>
        </p:txBody>
      </p:sp>
      <p:pic>
        <p:nvPicPr>
          <p:cNvPr id="3" name="Picture 2"/>
          <p:cNvPicPr>
            <a:picLocks noChangeAspect="1"/>
          </p:cNvPicPr>
          <p:nvPr/>
        </p:nvPicPr>
        <p:blipFill>
          <a:blip r:embed="rId2"/>
          <a:stretch>
            <a:fillRect/>
          </a:stretch>
        </p:blipFill>
        <p:spPr>
          <a:xfrm>
            <a:off x="3935883" y="1503681"/>
            <a:ext cx="2688437" cy="993552"/>
          </a:xfrm>
          <a:prstGeom prst="rect">
            <a:avLst/>
          </a:prstGeom>
        </p:spPr>
      </p:pic>
      <p:sp>
        <p:nvSpPr>
          <p:cNvPr id="8" name="Rectangle 7"/>
          <p:cNvSpPr/>
          <p:nvPr/>
        </p:nvSpPr>
        <p:spPr>
          <a:xfrm>
            <a:off x="683719" y="2606088"/>
            <a:ext cx="3837910"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Final Expanded Gradient if we see</a:t>
            </a:r>
          </a:p>
        </p:txBody>
      </p:sp>
      <p:pic>
        <p:nvPicPr>
          <p:cNvPr id="9" name="Picture 8"/>
          <p:cNvPicPr>
            <a:picLocks noChangeAspect="1"/>
          </p:cNvPicPr>
          <p:nvPr/>
        </p:nvPicPr>
        <p:blipFill>
          <a:blip r:embed="rId3"/>
          <a:stretch>
            <a:fillRect/>
          </a:stretch>
        </p:blipFill>
        <p:spPr>
          <a:xfrm>
            <a:off x="2154599" y="3230977"/>
            <a:ext cx="6543531" cy="918016"/>
          </a:xfrm>
          <a:prstGeom prst="rect">
            <a:avLst/>
          </a:prstGeom>
        </p:spPr>
      </p:pic>
      <p:sp>
        <p:nvSpPr>
          <p:cNvPr id="10" name="Rectangle 9"/>
          <p:cNvSpPr/>
          <p:nvPr/>
        </p:nvSpPr>
        <p:spPr>
          <a:xfrm>
            <a:off x="528320" y="4021944"/>
            <a:ext cx="6096000" cy="954300"/>
          </a:xfrm>
          <a:prstGeom prst="rect">
            <a:avLst/>
          </a:prstGeom>
        </p:spPr>
        <p:txBody>
          <a:bodyPr>
            <a:spAutoFit/>
          </a:bodyPr>
          <a:lstStyle/>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Each sigmoid derivative ≤ 0.25</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Chain rule = </a:t>
            </a:r>
            <a:r>
              <a:rPr lang="en-US" sz="1867" b="1" kern="0" dirty="0">
                <a:solidFill>
                  <a:srgbClr val="000000"/>
                </a:solidFill>
                <a:latin typeface="Arial"/>
                <a:cs typeface="Arial"/>
                <a:sym typeface="Arial"/>
              </a:rPr>
              <a:t>multiplication of many small numbers</a:t>
            </a:r>
            <a:endParaRPr lang="en-US" sz="1867" kern="0" dirty="0">
              <a:solidFill>
                <a:srgbClr val="000000"/>
              </a:solidFill>
              <a:latin typeface="Arial"/>
              <a:cs typeface="Arial"/>
              <a:sym typeface="Arial"/>
            </a:endParaRPr>
          </a:p>
          <a:p>
            <a:pPr defTabSz="1219170">
              <a:buClr>
                <a:srgbClr val="000000"/>
              </a:buClr>
            </a:pPr>
            <a:r>
              <a:rPr lang="en-US" sz="1867" kern="0" dirty="0">
                <a:solidFill>
                  <a:srgbClr val="000000"/>
                </a:solidFill>
                <a:latin typeface="Arial"/>
                <a:cs typeface="Arial"/>
                <a:sym typeface="Arial"/>
              </a:rPr>
              <a:t>Example (5 hidden layers):</a:t>
            </a:r>
          </a:p>
        </p:txBody>
      </p:sp>
      <p:pic>
        <p:nvPicPr>
          <p:cNvPr id="11" name="Picture 10"/>
          <p:cNvPicPr>
            <a:picLocks noChangeAspect="1"/>
          </p:cNvPicPr>
          <p:nvPr/>
        </p:nvPicPr>
        <p:blipFill>
          <a:blip r:embed="rId4"/>
          <a:stretch>
            <a:fillRect/>
          </a:stretch>
        </p:blipFill>
        <p:spPr>
          <a:xfrm>
            <a:off x="3823127" y="4675778"/>
            <a:ext cx="1879763" cy="528365"/>
          </a:xfrm>
          <a:prstGeom prst="rect">
            <a:avLst/>
          </a:prstGeom>
        </p:spPr>
      </p:pic>
      <p:sp>
        <p:nvSpPr>
          <p:cNvPr id="12" name="Rectangle 11"/>
          <p:cNvSpPr/>
          <p:nvPr/>
        </p:nvSpPr>
        <p:spPr>
          <a:xfrm>
            <a:off x="1192906" y="5322937"/>
            <a:ext cx="543739"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So:</a:t>
            </a:r>
          </a:p>
        </p:txBody>
      </p:sp>
      <p:pic>
        <p:nvPicPr>
          <p:cNvPr id="13" name="Picture 12"/>
          <p:cNvPicPr>
            <a:picLocks noChangeAspect="1"/>
          </p:cNvPicPr>
          <p:nvPr/>
        </p:nvPicPr>
        <p:blipFill>
          <a:blip r:embed="rId5"/>
          <a:stretch>
            <a:fillRect/>
          </a:stretch>
        </p:blipFill>
        <p:spPr>
          <a:xfrm>
            <a:off x="3735723" y="5256948"/>
            <a:ext cx="1320915" cy="792549"/>
          </a:xfrm>
          <a:prstGeom prst="rect">
            <a:avLst/>
          </a:prstGeom>
        </p:spPr>
      </p:pic>
    </p:spTree>
    <p:extLst>
      <p:ext uri="{BB962C8B-B14F-4D97-AF65-F5344CB8AC3E}">
        <p14:creationId xmlns:p14="http://schemas.microsoft.com/office/powerpoint/2010/main" val="206205561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323C08BC-36FD-4FF1-89A4-32BFF8E7885B}"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101</a:t>
            </a:fld>
            <a:endParaRPr lang="en-US" kern="0" dirty="0">
              <a:latin typeface="Arial"/>
              <a:cs typeface="Arial"/>
              <a:sym typeface="Arial"/>
            </a:endParaRPr>
          </a:p>
        </p:txBody>
      </p:sp>
      <p:sp>
        <p:nvSpPr>
          <p:cNvPr id="7" name="Title 1"/>
          <p:cNvSpPr>
            <a:spLocks noGrp="1"/>
          </p:cNvSpPr>
          <p:nvPr>
            <p:ph type="title"/>
          </p:nvPr>
        </p:nvSpPr>
        <p:spPr>
          <a:xfrm>
            <a:off x="575679" y="514572"/>
            <a:ext cx="10058400" cy="794773"/>
          </a:xfrm>
        </p:spPr>
        <p:txBody>
          <a:bodyPr>
            <a:normAutofit fontScale="90000"/>
          </a:bodyPr>
          <a:lstStyle/>
          <a:p>
            <a:r>
              <a:rPr lang="en-US" dirty="0"/>
              <a:t>Vanishing-gradient in Deep Neural Network</a:t>
            </a:r>
          </a:p>
        </p:txBody>
      </p:sp>
      <p:sp>
        <p:nvSpPr>
          <p:cNvPr id="2" name="Rectangle 1"/>
          <p:cNvSpPr/>
          <p:nvPr/>
        </p:nvSpPr>
        <p:spPr>
          <a:xfrm>
            <a:off x="916147" y="1468168"/>
            <a:ext cx="3357009"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Final Effect on Weight Update</a:t>
            </a:r>
          </a:p>
        </p:txBody>
      </p:sp>
      <p:pic>
        <p:nvPicPr>
          <p:cNvPr id="3" name="Picture 2"/>
          <p:cNvPicPr>
            <a:picLocks noChangeAspect="1"/>
          </p:cNvPicPr>
          <p:nvPr/>
        </p:nvPicPr>
        <p:blipFill>
          <a:blip r:embed="rId2"/>
          <a:stretch>
            <a:fillRect/>
          </a:stretch>
        </p:blipFill>
        <p:spPr>
          <a:xfrm>
            <a:off x="4204129" y="1950721"/>
            <a:ext cx="2801503" cy="774884"/>
          </a:xfrm>
          <a:prstGeom prst="rect">
            <a:avLst/>
          </a:prstGeom>
        </p:spPr>
      </p:pic>
      <p:pic>
        <p:nvPicPr>
          <p:cNvPr id="8" name="Picture 7"/>
          <p:cNvPicPr>
            <a:picLocks noChangeAspect="1"/>
          </p:cNvPicPr>
          <p:nvPr/>
        </p:nvPicPr>
        <p:blipFill>
          <a:blip r:embed="rId3"/>
          <a:stretch>
            <a:fillRect/>
          </a:stretch>
        </p:blipFill>
        <p:spPr>
          <a:xfrm>
            <a:off x="3929802" y="2797787"/>
            <a:ext cx="1991532" cy="3302287"/>
          </a:xfrm>
          <a:prstGeom prst="rect">
            <a:avLst/>
          </a:prstGeom>
        </p:spPr>
      </p:pic>
      <p:sp>
        <p:nvSpPr>
          <p:cNvPr id="9" name="Rectangle 8"/>
          <p:cNvSpPr/>
          <p:nvPr/>
        </p:nvSpPr>
        <p:spPr>
          <a:xfrm>
            <a:off x="2901398" y="2961631"/>
            <a:ext cx="849913"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Since:</a:t>
            </a:r>
          </a:p>
        </p:txBody>
      </p:sp>
      <p:sp>
        <p:nvSpPr>
          <p:cNvPr id="10" name="Rectangle 9"/>
          <p:cNvSpPr/>
          <p:nvPr/>
        </p:nvSpPr>
        <p:spPr>
          <a:xfrm>
            <a:off x="674624" y="4325596"/>
            <a:ext cx="9030208" cy="1816266"/>
          </a:xfrm>
          <a:prstGeom prst="rect">
            <a:avLst/>
          </a:prstGeom>
        </p:spPr>
        <p:txBody>
          <a:bodyPr wrap="square">
            <a:spAutoFit/>
          </a:bodyPr>
          <a:lstStyle/>
          <a:p>
            <a:pPr marL="380990" indent="-380990" algn="just" defTabSz="1219170">
              <a:buClr>
                <a:srgbClr val="000000"/>
              </a:buClr>
              <a:buFont typeface="Wingdings" panose="05000000000000000000" pitchFamily="2" charset="2"/>
              <a:buChar char="Ø"/>
            </a:pPr>
            <a:r>
              <a:rPr lang="en-US" sz="1867" kern="0" dirty="0">
                <a:solidFill>
                  <a:srgbClr val="000000"/>
                </a:solidFill>
                <a:latin typeface="Arial"/>
                <a:cs typeface="Arial"/>
                <a:sym typeface="Arial"/>
              </a:rPr>
              <a:t>In deep neural networks with sigmoid activation, the chain rule multiplies many small derivatives, causing gradients to vanish as they propagate backward through layers.</a:t>
            </a:r>
          </a:p>
          <a:p>
            <a:pPr marL="380990" indent="-380990" algn="just" defTabSz="1219170">
              <a:buClr>
                <a:srgbClr val="000000"/>
              </a:buClr>
              <a:buFont typeface="Wingdings" panose="05000000000000000000" pitchFamily="2" charset="2"/>
              <a:buChar char="Ø"/>
            </a:pPr>
            <a:r>
              <a:rPr lang="en-US" sz="1867" kern="0" dirty="0">
                <a:solidFill>
                  <a:srgbClr val="000000"/>
                </a:solidFill>
                <a:latin typeface="Arial"/>
                <a:cs typeface="Arial"/>
                <a:sym typeface="Arial"/>
              </a:rPr>
              <a:t>In deep neural networks, repeated multiplication of small derivatives during backpropagation causes gradients to approach zero, preventing effective learning in early layers.</a:t>
            </a:r>
          </a:p>
        </p:txBody>
      </p:sp>
    </p:spTree>
    <p:extLst>
      <p:ext uri="{BB962C8B-B14F-4D97-AF65-F5344CB8AC3E}">
        <p14:creationId xmlns:p14="http://schemas.microsoft.com/office/powerpoint/2010/main" val="221422218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37123CF0-91B1-4291-A9F2-F9DD123265FE}"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102</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normAutofit/>
          </a:bodyPr>
          <a:lstStyle/>
          <a:p>
            <a:r>
              <a:rPr lang="en-US" dirty="0"/>
              <a:t>Activation Functions</a:t>
            </a:r>
          </a:p>
        </p:txBody>
      </p:sp>
      <mc:AlternateContent xmlns:mc="http://schemas.openxmlformats.org/markup-compatibility/2006" xmlns:a14="http://schemas.microsoft.com/office/drawing/2010/main">
        <mc:Choice Requires="a14">
          <p:sp>
            <p:nvSpPr>
              <p:cNvPr id="2" name="Rectangle 1"/>
              <p:cNvSpPr/>
              <p:nvPr/>
            </p:nvSpPr>
            <p:spPr>
              <a:xfrm>
                <a:off x="1024835" y="1431480"/>
                <a:ext cx="10363200" cy="3488584"/>
              </a:xfrm>
              <a:prstGeom prst="rect">
                <a:avLst/>
              </a:prstGeom>
            </p:spPr>
            <p:txBody>
              <a:bodyPr wrap="square">
                <a:spAutoFit/>
              </a:bodyPr>
              <a:lstStyle/>
              <a:p>
                <a:r>
                  <a:rPr lang="en-IN" dirty="0">
                    <a:latin typeface="Arial" panose="020B0604020202020204" pitchFamily="34" charset="0"/>
                    <a:cs typeface="Arial" panose="020B0604020202020204" pitchFamily="34" charset="0"/>
                  </a:rPr>
                  <a:t>An </a:t>
                </a:r>
                <a:r>
                  <a:rPr lang="en-IN" b="1" dirty="0">
                    <a:latin typeface="Arial" panose="020B0604020202020204" pitchFamily="34" charset="0"/>
                    <a:cs typeface="Arial" panose="020B0604020202020204" pitchFamily="34" charset="0"/>
                  </a:rPr>
                  <a:t>activation function</a:t>
                </a:r>
                <a:r>
                  <a:rPr lang="en-IN" dirty="0">
                    <a:latin typeface="Arial" panose="020B0604020202020204" pitchFamily="34" charset="0"/>
                    <a:cs typeface="Arial" panose="020B0604020202020204" pitchFamily="34" charset="0"/>
                  </a:rPr>
                  <a:t> is a mathematical formula applied to the output of every neuron in a neural network layer.</a:t>
                </a:r>
              </a:p>
              <a:p>
                <a:r>
                  <a:rPr lang="en-IN" dirty="0">
                    <a:latin typeface="Arial" panose="020B0604020202020204" pitchFamily="34" charset="0"/>
                    <a:cs typeface="Arial" panose="020B0604020202020204" pitchFamily="34" charset="0"/>
                  </a:rPr>
                  <a:t>a neuron first calculates a weighted sum of its inputs plus a bias (</a:t>
                </a:r>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sSup>
                      <m:sSupPr>
                        <m:ctrlPr>
                          <a:rPr lang="en-IN" b="1">
                            <a:latin typeface="Cambria Math" panose="02040503050406030204" pitchFamily="18" charset="0"/>
                          </a:rPr>
                        </m:ctrlPr>
                      </m:sSupPr>
                      <m:e>
                        <m:r>
                          <a:rPr lang="en-IN" b="1">
                            <a:latin typeface="Cambria Math" panose="02040503050406030204" pitchFamily="18" charset="0"/>
                          </a:rPr>
                          <m:t>𝐰</m:t>
                        </m:r>
                      </m:e>
                      <m:sup>
                        <m:r>
                          <a:rPr lang="en-IN" i="1">
                            <a:latin typeface="Cambria Math" panose="02040503050406030204" pitchFamily="18" charset="0"/>
                          </a:rPr>
                          <m:t>𝑇</m:t>
                        </m:r>
                      </m:sup>
                    </m:sSup>
                    <m:r>
                      <a:rPr lang="en-IN" b="1">
                        <a:latin typeface="Cambria Math" panose="02040503050406030204" pitchFamily="18" charset="0"/>
                      </a:rPr>
                      <m:t>𝐱</m:t>
                    </m:r>
                    <m:r>
                      <a:rPr lang="en-IN">
                        <a:latin typeface="Cambria Math" panose="02040503050406030204" pitchFamily="18" charset="0"/>
                      </a:rPr>
                      <m:t>+</m:t>
                    </m:r>
                    <m:r>
                      <a:rPr lang="en-IN" i="1">
                        <a:latin typeface="Cambria Math" panose="02040503050406030204" pitchFamily="18" charset="0"/>
                      </a:rPr>
                      <m:t>𝑏</m:t>
                    </m:r>
                  </m:oMath>
                </a14:m>
                <a:r>
                  <a:rPr lang="en-IN" dirty="0">
                    <a:latin typeface="Arial" panose="020B0604020202020204" pitchFamily="34" charset="0"/>
                    <a:cs typeface="Arial" panose="020B0604020202020204" pitchFamily="34" charset="0"/>
                  </a:rPr>
                  <a:t>). </a:t>
                </a:r>
              </a:p>
              <a:p>
                <a:r>
                  <a:rPr lang="en-IN" dirty="0">
                    <a:latin typeface="Arial" panose="020B0604020202020204" pitchFamily="34" charset="0"/>
                    <a:cs typeface="Arial" panose="020B0604020202020204" pitchFamily="34" charset="0"/>
                  </a:rPr>
                  <a:t>The activation function </a:t>
                </a:r>
                <a14:m>
                  <m:oMath xmlns:m="http://schemas.openxmlformats.org/officeDocument/2006/math">
                    <m:r>
                      <a:rPr lang="en-IN" i="1">
                        <a:latin typeface="Cambria Math" panose="02040503050406030204" pitchFamily="18" charset="0"/>
                      </a:rPr>
                      <m:t>𝑓</m:t>
                    </m:r>
                    <m:d>
                      <m:dPr>
                        <m:ctrlPr>
                          <a:rPr lang="en-IN" i="1">
                            <a:latin typeface="Cambria Math" panose="02040503050406030204" pitchFamily="18" charset="0"/>
                          </a:rPr>
                        </m:ctrlPr>
                      </m:dPr>
                      <m:e>
                        <m:r>
                          <a:rPr lang="en-IN" i="1">
                            <a:latin typeface="Cambria Math" panose="02040503050406030204" pitchFamily="18" charset="0"/>
                          </a:rPr>
                          <m:t>𝑧</m:t>
                        </m:r>
                      </m:e>
                    </m:d>
                  </m:oMath>
                </a14:m>
                <a:r>
                  <a:rPr lang="en-IN" dirty="0">
                    <a:latin typeface="Arial" panose="020B0604020202020204" pitchFamily="34" charset="0"/>
                    <a:cs typeface="Arial" panose="020B0604020202020204" pitchFamily="34" charset="0"/>
                  </a:rPr>
                  <a:t>takes that raw score (</a:t>
                </a:r>
                <a14:m>
                  <m:oMath xmlns:m="http://schemas.openxmlformats.org/officeDocument/2006/math">
                    <m:r>
                      <a:rPr lang="en-IN" i="1">
                        <a:latin typeface="Cambria Math" panose="02040503050406030204" pitchFamily="18" charset="0"/>
                      </a:rPr>
                      <m:t>𝑧</m:t>
                    </m:r>
                  </m:oMath>
                </a14:m>
                <a:r>
                  <a:rPr lang="en-IN" dirty="0">
                    <a:latin typeface="Arial" panose="020B0604020202020204" pitchFamily="34" charset="0"/>
                    <a:cs typeface="Arial" panose="020B0604020202020204" pitchFamily="34" charset="0"/>
                  </a:rPr>
                  <a:t>) and </a:t>
                </a:r>
              </a:p>
              <a:p>
                <a:r>
                  <a:rPr lang="en-IN" dirty="0">
                    <a:latin typeface="Arial" panose="020B0604020202020204" pitchFamily="34" charset="0"/>
                    <a:cs typeface="Arial" panose="020B0604020202020204" pitchFamily="34" charset="0"/>
                  </a:rPr>
                  <a:t>transforms it into the neuron's final output signal (</a:t>
                </a:r>
                <a14:m>
                  <m:oMath xmlns:m="http://schemas.openxmlformats.org/officeDocument/2006/math">
                    <m:r>
                      <a:rPr lang="en-IN" i="1">
                        <a:latin typeface="Cambria Math" panose="02040503050406030204" pitchFamily="18" charset="0"/>
                      </a:rPr>
                      <m:t>𝑎</m:t>
                    </m:r>
                    <m:r>
                      <a:rPr lang="en-IN">
                        <a:latin typeface="Cambria Math" panose="02040503050406030204" pitchFamily="18" charset="0"/>
                      </a:rPr>
                      <m:t>=</m:t>
                    </m:r>
                    <m:r>
                      <a:rPr lang="en-IN" i="1">
                        <a:latin typeface="Cambria Math" panose="02040503050406030204" pitchFamily="18" charset="0"/>
                      </a:rPr>
                      <m:t>𝑓</m:t>
                    </m:r>
                    <m:d>
                      <m:dPr>
                        <m:ctrlPr>
                          <a:rPr lang="en-IN" i="1">
                            <a:latin typeface="Cambria Math" panose="02040503050406030204" pitchFamily="18" charset="0"/>
                          </a:rPr>
                        </m:ctrlPr>
                      </m:dPr>
                      <m:e>
                        <m:r>
                          <a:rPr lang="en-IN" i="1">
                            <a:latin typeface="Cambria Math" panose="02040503050406030204" pitchFamily="18" charset="0"/>
                          </a:rPr>
                          <m:t>𝑧</m:t>
                        </m:r>
                      </m:e>
                    </m:d>
                  </m:oMath>
                </a14:m>
                <a:r>
                  <a:rPr lang="en-IN" dirty="0">
                    <a:latin typeface="Arial" panose="020B0604020202020204" pitchFamily="34" charset="0"/>
                    <a:cs typeface="Arial" panose="020B0604020202020204" pitchFamily="34" charset="0"/>
                  </a:rPr>
                  <a:t>) before passing it to the next layer.</a:t>
                </a:r>
              </a:p>
              <a:p>
                <a:pPr defTabSz="1219170">
                  <a:buClr>
                    <a:srgbClr val="000000"/>
                  </a:buClr>
                </a:pPr>
                <a:endParaRPr lang="en-US" sz="1867" kern="0" dirty="0">
                  <a:solidFill>
                    <a:srgbClr val="000000"/>
                  </a:solidFill>
                  <a:latin typeface="Arial" panose="020B0604020202020204" pitchFamily="34" charset="0"/>
                  <a:cs typeface="Arial" panose="020B0604020202020204" pitchFamily="34" charset="0"/>
                  <a:sym typeface="Arial"/>
                </a:endParaRPr>
              </a:p>
              <a:p>
                <a:pPr defTabSz="1219170">
                  <a:buClr>
                    <a:srgbClr val="000000"/>
                  </a:buClr>
                </a:pPr>
                <a:endParaRPr lang="en-US" sz="1867" kern="0" dirty="0">
                  <a:solidFill>
                    <a:srgbClr val="000000"/>
                  </a:solidFill>
                  <a:latin typeface="Arial" panose="020B0604020202020204" pitchFamily="34" charset="0"/>
                  <a:cs typeface="Arial" panose="020B0604020202020204" pitchFamily="34" charset="0"/>
                  <a:sym typeface="Arial"/>
                </a:endParaRPr>
              </a:p>
              <a:p>
                <a:pPr defTabSz="1219170">
                  <a:buClr>
                    <a:srgbClr val="000000"/>
                  </a:buClr>
                </a:pPr>
                <a:r>
                  <a:rPr lang="en-US" sz="1867" kern="0" dirty="0">
                    <a:solidFill>
                      <a:srgbClr val="000000"/>
                    </a:solidFill>
                    <a:latin typeface="Arial" panose="020B0604020202020204" pitchFamily="34" charset="0"/>
                    <a:cs typeface="Arial" panose="020B0604020202020204" pitchFamily="34" charset="0"/>
                    <a:sym typeface="Arial"/>
                  </a:rPr>
                  <a:t>There are  following </a:t>
                </a:r>
                <a:r>
                  <a:rPr lang="en-US" sz="1867" b="1" kern="0" dirty="0">
                    <a:solidFill>
                      <a:srgbClr val="000000"/>
                    </a:solidFill>
                    <a:latin typeface="Arial" panose="020B0604020202020204" pitchFamily="34" charset="0"/>
                    <a:cs typeface="Arial" panose="020B0604020202020204" pitchFamily="34" charset="0"/>
                    <a:sym typeface="Arial"/>
                  </a:rPr>
                  <a:t>activation functions</a:t>
                </a:r>
                <a:r>
                  <a:rPr lang="en-US" sz="1867" kern="0" dirty="0">
                    <a:solidFill>
                      <a:srgbClr val="000000"/>
                    </a:solidFill>
                    <a:latin typeface="Arial" panose="020B0604020202020204" pitchFamily="34" charset="0"/>
                    <a:cs typeface="Arial" panose="020B0604020202020204" pitchFamily="34" charset="0"/>
                    <a:sym typeface="Arial"/>
                  </a:rPr>
                  <a:t> are discussed:</a:t>
                </a:r>
              </a:p>
              <a:p>
                <a:pPr marL="0" lvl="1" defTabSz="1219170">
                  <a:buClr>
                    <a:srgbClr val="000000"/>
                  </a:buClr>
                  <a:buFont typeface="+mj-lt"/>
                  <a:buAutoNum type="arabicPeriod"/>
                </a:pPr>
                <a:r>
                  <a:rPr lang="en-US" sz="1867" kern="0" dirty="0">
                    <a:solidFill>
                      <a:srgbClr val="000000"/>
                    </a:solidFill>
                    <a:latin typeface="Arial" panose="020B0604020202020204" pitchFamily="34" charset="0"/>
                    <a:cs typeface="Arial" panose="020B0604020202020204" pitchFamily="34" charset="0"/>
                    <a:sym typeface="Arial"/>
                  </a:rPr>
                  <a:t>Sigmoid</a:t>
                </a:r>
              </a:p>
              <a:p>
                <a:pPr marL="0" lvl="1" defTabSz="1219170">
                  <a:buClr>
                    <a:srgbClr val="000000"/>
                  </a:buClr>
                  <a:buFont typeface="+mj-lt"/>
                  <a:buAutoNum type="arabicPeriod"/>
                </a:pPr>
                <a:r>
                  <a:rPr lang="en-US" sz="1867" kern="0" dirty="0" err="1">
                    <a:solidFill>
                      <a:srgbClr val="000000"/>
                    </a:solidFill>
                    <a:latin typeface="Arial" panose="020B0604020202020204" pitchFamily="34" charset="0"/>
                    <a:cs typeface="Arial" panose="020B0604020202020204" pitchFamily="34" charset="0"/>
                    <a:sym typeface="Arial"/>
                  </a:rPr>
                  <a:t>Tanh</a:t>
                </a:r>
                <a:endParaRPr lang="en-US" sz="1867" kern="0" dirty="0">
                  <a:solidFill>
                    <a:srgbClr val="000000"/>
                  </a:solidFill>
                  <a:latin typeface="Arial" panose="020B0604020202020204" pitchFamily="34" charset="0"/>
                  <a:cs typeface="Arial" panose="020B0604020202020204" pitchFamily="34" charset="0"/>
                  <a:sym typeface="Arial"/>
                </a:endParaRPr>
              </a:p>
              <a:p>
                <a:pPr marL="0" lvl="1" defTabSz="1219170">
                  <a:buClr>
                    <a:srgbClr val="000000"/>
                  </a:buClr>
                  <a:buFont typeface="+mj-lt"/>
                  <a:buAutoNum type="arabicPeriod"/>
                </a:pPr>
                <a:r>
                  <a:rPr lang="en-US" sz="1867" kern="0" dirty="0" err="1">
                    <a:solidFill>
                      <a:srgbClr val="000000"/>
                    </a:solidFill>
                    <a:latin typeface="Arial" panose="020B0604020202020204" pitchFamily="34" charset="0"/>
                    <a:cs typeface="Arial" panose="020B0604020202020204" pitchFamily="34" charset="0"/>
                    <a:sym typeface="Arial"/>
                  </a:rPr>
                  <a:t>ReLU</a:t>
                </a:r>
                <a:endParaRPr lang="en-US" sz="1867" kern="0" dirty="0">
                  <a:solidFill>
                    <a:srgbClr val="000000"/>
                  </a:solidFill>
                  <a:latin typeface="Arial" panose="020B0604020202020204" pitchFamily="34" charset="0"/>
                  <a:cs typeface="Arial" panose="020B0604020202020204" pitchFamily="34" charset="0"/>
                  <a:sym typeface="Arial"/>
                </a:endParaRPr>
              </a:p>
              <a:p>
                <a:pPr marL="0" lvl="1" defTabSz="1219170">
                  <a:buClr>
                    <a:srgbClr val="000000"/>
                  </a:buClr>
                  <a:buFont typeface="+mj-lt"/>
                  <a:buAutoNum type="arabicPeriod"/>
                </a:pPr>
                <a:r>
                  <a:rPr lang="en-US" sz="1867" kern="0" dirty="0">
                    <a:solidFill>
                      <a:srgbClr val="000000"/>
                    </a:solidFill>
                    <a:latin typeface="Arial" panose="020B0604020202020204" pitchFamily="34" charset="0"/>
                    <a:cs typeface="Arial" panose="020B0604020202020204" pitchFamily="34" charset="0"/>
                    <a:sym typeface="Arial"/>
                  </a:rPr>
                  <a:t>Leaky </a:t>
                </a:r>
                <a:r>
                  <a:rPr lang="en-US" sz="1867" kern="0" dirty="0" err="1">
                    <a:solidFill>
                      <a:srgbClr val="000000"/>
                    </a:solidFill>
                    <a:latin typeface="Arial" panose="020B0604020202020204" pitchFamily="34" charset="0"/>
                    <a:cs typeface="Arial" panose="020B0604020202020204" pitchFamily="34" charset="0"/>
                    <a:sym typeface="Arial"/>
                  </a:rPr>
                  <a:t>ReLU</a:t>
                </a:r>
                <a:endParaRPr lang="en-US" sz="1867" kern="0" dirty="0">
                  <a:solidFill>
                    <a:srgbClr val="000000"/>
                  </a:solidFill>
                  <a:latin typeface="Arial" panose="020B0604020202020204" pitchFamily="34" charset="0"/>
                  <a:cs typeface="Arial" panose="020B0604020202020204" pitchFamily="34" charset="0"/>
                  <a:sym typeface="Arial"/>
                </a:endParaRPr>
              </a:p>
            </p:txBody>
          </p:sp>
        </mc:Choice>
        <mc:Fallback xmlns="">
          <p:sp>
            <p:nvSpPr>
              <p:cNvPr id="2" name="Rectangle 1"/>
              <p:cNvSpPr>
                <a:spLocks noRot="1" noChangeAspect="1" noMove="1" noResize="1" noEditPoints="1" noAdjustHandles="1" noChangeArrowheads="1" noChangeShapeType="1" noTextEdit="1"/>
              </p:cNvSpPr>
              <p:nvPr/>
            </p:nvSpPr>
            <p:spPr>
              <a:xfrm>
                <a:off x="1024835" y="1431480"/>
                <a:ext cx="10363200" cy="3488584"/>
              </a:xfrm>
              <a:prstGeom prst="rect">
                <a:avLst/>
              </a:prstGeom>
              <a:blipFill>
                <a:blip r:embed="rId2"/>
                <a:stretch>
                  <a:fillRect l="-529" t="-1049" b="-2098"/>
                </a:stretch>
              </a:blipFill>
            </p:spPr>
            <p:txBody>
              <a:bodyPr/>
              <a:lstStyle/>
              <a:p>
                <a:r>
                  <a:rPr lang="en-IN">
                    <a:noFill/>
                  </a:rPr>
                  <a:t> </a:t>
                </a:r>
              </a:p>
            </p:txBody>
          </p:sp>
        </mc:Fallback>
      </mc:AlternateContent>
    </p:spTree>
    <p:extLst>
      <p:ext uri="{BB962C8B-B14F-4D97-AF65-F5344CB8AC3E}">
        <p14:creationId xmlns:p14="http://schemas.microsoft.com/office/powerpoint/2010/main" val="359885144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519B7A7E-8929-4FD1-8030-F587CC7C227C}"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103</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normAutofit/>
          </a:bodyPr>
          <a:lstStyle/>
          <a:p>
            <a:r>
              <a:rPr lang="en-US" dirty="0"/>
              <a:t>Sigmoid Function </a:t>
            </a:r>
          </a:p>
        </p:txBody>
      </p:sp>
      <p:pic>
        <p:nvPicPr>
          <p:cNvPr id="2" name="Picture 1"/>
          <p:cNvPicPr>
            <a:picLocks noChangeAspect="1"/>
          </p:cNvPicPr>
          <p:nvPr/>
        </p:nvPicPr>
        <p:blipFill>
          <a:blip r:embed="rId2"/>
          <a:stretch>
            <a:fillRect/>
          </a:stretch>
        </p:blipFill>
        <p:spPr>
          <a:xfrm>
            <a:off x="2199547" y="1428756"/>
            <a:ext cx="2103303" cy="1138019"/>
          </a:xfrm>
          <a:prstGeom prst="rect">
            <a:avLst/>
          </a:prstGeom>
        </p:spPr>
      </p:pic>
      <p:sp>
        <p:nvSpPr>
          <p:cNvPr id="3" name="Rectangle 2"/>
          <p:cNvSpPr/>
          <p:nvPr/>
        </p:nvSpPr>
        <p:spPr>
          <a:xfrm>
            <a:off x="1097280" y="1721903"/>
            <a:ext cx="1127232"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Formula:</a:t>
            </a:r>
          </a:p>
        </p:txBody>
      </p:sp>
      <p:sp>
        <p:nvSpPr>
          <p:cNvPr id="8" name="Rectangle 7"/>
          <p:cNvSpPr/>
          <p:nvPr/>
        </p:nvSpPr>
        <p:spPr>
          <a:xfrm>
            <a:off x="1009350" y="2449552"/>
            <a:ext cx="1737976"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Output Range:</a:t>
            </a:r>
          </a:p>
        </p:txBody>
      </p:sp>
      <p:sp>
        <p:nvSpPr>
          <p:cNvPr id="9" name="Rectangle 8"/>
          <p:cNvSpPr/>
          <p:nvPr/>
        </p:nvSpPr>
        <p:spPr>
          <a:xfrm>
            <a:off x="2843647" y="2449552"/>
            <a:ext cx="780983"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0 to 1</a:t>
            </a:r>
          </a:p>
        </p:txBody>
      </p:sp>
      <p:sp>
        <p:nvSpPr>
          <p:cNvPr id="10" name="Rectangle 9"/>
          <p:cNvSpPr/>
          <p:nvPr/>
        </p:nvSpPr>
        <p:spPr>
          <a:xfrm>
            <a:off x="759792" y="2654300"/>
            <a:ext cx="6157843" cy="2103589"/>
          </a:xfrm>
          <a:prstGeom prst="rect">
            <a:avLst/>
          </a:prstGeom>
        </p:spPr>
        <p:txBody>
          <a:bodyPr wrap="square">
            <a:spAutoFit/>
          </a:bodyPr>
          <a:lstStyle/>
          <a:p>
            <a:pPr defTabSz="1219170">
              <a:buClr>
                <a:srgbClr val="000000"/>
              </a:buClr>
            </a:pPr>
            <a:r>
              <a:rPr lang="en-US" sz="1867" b="1" kern="0" dirty="0">
                <a:solidFill>
                  <a:srgbClr val="000000"/>
                </a:solidFill>
                <a:latin typeface="Arial"/>
                <a:cs typeface="Arial"/>
                <a:sym typeface="Arial"/>
              </a:rPr>
              <a:t>Advantages:</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Output is bounded between </a:t>
            </a:r>
            <a:r>
              <a:rPr lang="en-US" sz="1867" b="1" kern="0" dirty="0">
                <a:solidFill>
                  <a:srgbClr val="000000"/>
                </a:solidFill>
                <a:latin typeface="Arial"/>
                <a:cs typeface="Arial"/>
                <a:sym typeface="Arial"/>
              </a:rPr>
              <a:t>0 and 1</a:t>
            </a:r>
            <a:r>
              <a:rPr lang="en-US" sz="1867" kern="0" dirty="0">
                <a:solidFill>
                  <a:srgbClr val="000000"/>
                </a:solidFill>
                <a:latin typeface="Arial"/>
                <a:cs typeface="Arial"/>
                <a:sym typeface="Arial"/>
              </a:rPr>
              <a:t> (acts like probability).</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Due to this biasness in output</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Smooth gradient.</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Clear prediction (close to 0 or 1).</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Useful in </a:t>
            </a:r>
            <a:r>
              <a:rPr lang="en-US" sz="1867" b="1" kern="0" dirty="0">
                <a:solidFill>
                  <a:srgbClr val="000000"/>
                </a:solidFill>
                <a:latin typeface="Arial"/>
                <a:cs typeface="Arial"/>
                <a:sym typeface="Arial"/>
              </a:rPr>
              <a:t>binary classification output layer</a:t>
            </a:r>
            <a:r>
              <a:rPr lang="en-US" sz="1867" kern="0" dirty="0">
                <a:solidFill>
                  <a:srgbClr val="000000"/>
                </a:solidFill>
                <a:latin typeface="Arial"/>
                <a:cs typeface="Arial"/>
                <a:sym typeface="Arial"/>
              </a:rPr>
              <a:t>.</a:t>
            </a:r>
          </a:p>
        </p:txBody>
      </p:sp>
      <p:sp>
        <p:nvSpPr>
          <p:cNvPr id="11" name="Rectangle 10"/>
          <p:cNvSpPr/>
          <p:nvPr/>
        </p:nvSpPr>
        <p:spPr>
          <a:xfrm>
            <a:off x="759792" y="4857553"/>
            <a:ext cx="7394712" cy="1528945"/>
          </a:xfrm>
          <a:prstGeom prst="rect">
            <a:avLst/>
          </a:prstGeom>
        </p:spPr>
        <p:txBody>
          <a:bodyPr wrap="square">
            <a:spAutoFit/>
          </a:bodyPr>
          <a:lstStyle/>
          <a:p>
            <a:pPr defTabSz="1219170">
              <a:buClr>
                <a:srgbClr val="000000"/>
              </a:buClr>
            </a:pPr>
            <a:r>
              <a:rPr lang="en-US" sz="1867" b="1" kern="0" dirty="0">
                <a:solidFill>
                  <a:srgbClr val="000000"/>
                </a:solidFill>
                <a:latin typeface="Arial"/>
                <a:cs typeface="Arial"/>
                <a:sym typeface="Arial"/>
              </a:rPr>
              <a:t>Disadvantages:</a:t>
            </a:r>
          </a:p>
          <a:p>
            <a:pPr defTabSz="1219170">
              <a:buClr>
                <a:srgbClr val="000000"/>
              </a:buClr>
              <a:buFont typeface="Arial" panose="020B0604020202020204" pitchFamily="34" charset="0"/>
              <a:buChar char="•"/>
            </a:pPr>
            <a:r>
              <a:rPr lang="en-US" sz="1867" b="1" kern="0" dirty="0">
                <a:solidFill>
                  <a:srgbClr val="000000"/>
                </a:solidFill>
                <a:latin typeface="Arial"/>
                <a:cs typeface="Arial"/>
                <a:sym typeface="Arial"/>
              </a:rPr>
              <a:t>Not zero-centered</a:t>
            </a:r>
            <a:r>
              <a:rPr lang="en-US" sz="1867" kern="0" dirty="0">
                <a:solidFill>
                  <a:srgbClr val="000000"/>
                </a:solidFill>
                <a:latin typeface="Arial"/>
                <a:cs typeface="Arial"/>
                <a:sym typeface="Arial"/>
              </a:rPr>
              <a:t> (output always positive).</a:t>
            </a:r>
          </a:p>
          <a:p>
            <a:pPr defTabSz="1219170">
              <a:buClr>
                <a:srgbClr val="000000"/>
              </a:buClr>
              <a:buFont typeface="Arial" panose="020B0604020202020204" pitchFamily="34" charset="0"/>
              <a:buChar char="•"/>
            </a:pPr>
            <a:r>
              <a:rPr lang="en-US" sz="1867" b="1" kern="0" dirty="0">
                <a:solidFill>
                  <a:srgbClr val="000000"/>
                </a:solidFill>
                <a:latin typeface="Arial"/>
                <a:cs typeface="Arial"/>
                <a:sym typeface="Arial"/>
              </a:rPr>
              <a:t>Vanishing gradient problem</a:t>
            </a:r>
            <a:r>
              <a:rPr lang="en-US" sz="1867" kern="0" dirty="0">
                <a:solidFill>
                  <a:srgbClr val="000000"/>
                </a:solidFill>
                <a:latin typeface="Arial"/>
                <a:cs typeface="Arial"/>
                <a:sym typeface="Arial"/>
              </a:rPr>
              <a:t> (for very large or very small values).</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Uses exponential → computationally expensive.</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Slow learning in deep networks.</a:t>
            </a:r>
          </a:p>
        </p:txBody>
      </p:sp>
      <p:pic>
        <p:nvPicPr>
          <p:cNvPr id="12" name="Picture 11"/>
          <p:cNvPicPr>
            <a:picLocks noChangeAspect="1"/>
          </p:cNvPicPr>
          <p:nvPr/>
        </p:nvPicPr>
        <p:blipFill>
          <a:blip r:embed="rId3"/>
          <a:stretch>
            <a:fillRect/>
          </a:stretch>
        </p:blipFill>
        <p:spPr>
          <a:xfrm>
            <a:off x="6373813" y="1546087"/>
            <a:ext cx="5352508" cy="3472236"/>
          </a:xfrm>
          <a:prstGeom prst="rect">
            <a:avLst/>
          </a:prstGeom>
        </p:spPr>
      </p:pic>
      <p:pic>
        <p:nvPicPr>
          <p:cNvPr id="14" name="Picture 13">
            <a:extLst>
              <a:ext uri="{FF2B5EF4-FFF2-40B4-BE49-F238E27FC236}">
                <a16:creationId xmlns:a16="http://schemas.microsoft.com/office/drawing/2014/main" id="{0C5C90ED-61DD-1A62-E064-CE60EB5A175B}"/>
              </a:ext>
            </a:extLst>
          </p:cNvPr>
          <p:cNvPicPr>
            <a:picLocks noChangeAspect="1"/>
          </p:cNvPicPr>
          <p:nvPr/>
        </p:nvPicPr>
        <p:blipFill>
          <a:blip r:embed="rId4"/>
          <a:stretch>
            <a:fillRect/>
          </a:stretch>
        </p:blipFill>
        <p:spPr>
          <a:xfrm>
            <a:off x="6006363" y="82454"/>
            <a:ext cx="3292125" cy="1066892"/>
          </a:xfrm>
          <a:prstGeom prst="rect">
            <a:avLst/>
          </a:prstGeom>
        </p:spPr>
      </p:pic>
      <p:pic>
        <p:nvPicPr>
          <p:cNvPr id="16" name="Picture 15">
            <a:extLst>
              <a:ext uri="{FF2B5EF4-FFF2-40B4-BE49-F238E27FC236}">
                <a16:creationId xmlns:a16="http://schemas.microsoft.com/office/drawing/2014/main" id="{80B18119-6E87-00C5-F6D2-EBD4D47C5F39}"/>
              </a:ext>
            </a:extLst>
          </p:cNvPr>
          <p:cNvPicPr>
            <a:picLocks noChangeAspect="1"/>
          </p:cNvPicPr>
          <p:nvPr/>
        </p:nvPicPr>
        <p:blipFill>
          <a:blip r:embed="rId5"/>
          <a:stretch>
            <a:fillRect/>
          </a:stretch>
        </p:blipFill>
        <p:spPr>
          <a:xfrm>
            <a:off x="9473526" y="178653"/>
            <a:ext cx="1844200" cy="434378"/>
          </a:xfrm>
          <a:prstGeom prst="rect">
            <a:avLst/>
          </a:prstGeom>
        </p:spPr>
      </p:pic>
    </p:spTree>
    <p:extLst>
      <p:ext uri="{BB962C8B-B14F-4D97-AF65-F5344CB8AC3E}">
        <p14:creationId xmlns:p14="http://schemas.microsoft.com/office/powerpoint/2010/main" val="47037774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494D3-B4F1-E2E6-6E1F-F477F18BAA06}"/>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30FB8DB2-D9AD-3E33-EC70-138309AC9B6D}"/>
              </a:ext>
            </a:extLst>
          </p:cNvPr>
          <p:cNvSpPr>
            <a:spLocks noGrp="1"/>
          </p:cNvSpPr>
          <p:nvPr>
            <p:ph type="dt" sz="half" idx="10"/>
          </p:nvPr>
        </p:nvSpPr>
        <p:spPr/>
        <p:txBody>
          <a:bodyPr/>
          <a:lstStyle/>
          <a:p>
            <a:pPr defTabSz="1219170">
              <a:buClr>
                <a:srgbClr val="000000"/>
              </a:buClr>
            </a:pPr>
            <a:fld id="{519B7A7E-8929-4FD1-8030-F587CC7C227C}"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a:extLst>
              <a:ext uri="{FF2B5EF4-FFF2-40B4-BE49-F238E27FC236}">
                <a16:creationId xmlns:a16="http://schemas.microsoft.com/office/drawing/2014/main" id="{6D710F25-2697-B59E-220E-D2623A08D64F}"/>
              </a:ext>
            </a:extLst>
          </p:cNvPr>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104</a:t>
            </a:fld>
            <a:endParaRPr lang="en-US" kern="0" dirty="0">
              <a:latin typeface="Arial"/>
              <a:cs typeface="Arial"/>
              <a:sym typeface="Arial"/>
            </a:endParaRPr>
          </a:p>
        </p:txBody>
      </p:sp>
      <p:sp>
        <p:nvSpPr>
          <p:cNvPr id="7" name="Title 1">
            <a:extLst>
              <a:ext uri="{FF2B5EF4-FFF2-40B4-BE49-F238E27FC236}">
                <a16:creationId xmlns:a16="http://schemas.microsoft.com/office/drawing/2014/main" id="{399410CD-D9D7-7EE5-3055-9FC179A1AD8A}"/>
              </a:ext>
            </a:extLst>
          </p:cNvPr>
          <p:cNvSpPr>
            <a:spLocks noGrp="1"/>
          </p:cNvSpPr>
          <p:nvPr>
            <p:ph type="title"/>
          </p:nvPr>
        </p:nvSpPr>
        <p:spPr>
          <a:xfrm>
            <a:off x="1097280" y="286604"/>
            <a:ext cx="10058400" cy="794773"/>
          </a:xfrm>
        </p:spPr>
        <p:txBody>
          <a:bodyPr>
            <a:normAutofit/>
          </a:bodyPr>
          <a:lstStyle/>
          <a:p>
            <a:r>
              <a:rPr lang="en-US" dirty="0"/>
              <a:t>Sigmoid Function numerical </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10AD69E-0938-E481-C9E3-6F60F90C65B9}"/>
                  </a:ext>
                </a:extLst>
              </p:cNvPr>
              <p:cNvSpPr txBox="1"/>
              <p:nvPr/>
            </p:nvSpPr>
            <p:spPr>
              <a:xfrm>
                <a:off x="1137832" y="1849815"/>
                <a:ext cx="9916336" cy="4247317"/>
              </a:xfrm>
              <a:prstGeom prst="rect">
                <a:avLst/>
              </a:prstGeom>
              <a:noFill/>
            </p:spPr>
            <p:txBody>
              <a:bodyPr wrap="square">
                <a:spAutoFit/>
              </a:bodyPr>
              <a:lstStyle/>
              <a:p>
                <a:pPr>
                  <a:buNone/>
                </a:pPr>
                <a:r>
                  <a:rPr lang="en-IN" b="1" dirty="0">
                    <a:effectLst/>
                    <a:latin typeface="Google Sans"/>
                  </a:rPr>
                  <a:t>Scenario: Email Spam Classifier</a:t>
                </a:r>
              </a:p>
              <a:p>
                <a:pPr>
                  <a:buNone/>
                </a:pPr>
                <a:r>
                  <a:rPr lang="en-IN" dirty="0">
                    <a:effectLst/>
                    <a:latin typeface="Google Sans Text"/>
                  </a:rPr>
                  <a:t>Suppose our model evaluates an email based on two extracted features:</a:t>
                </a:r>
              </a:p>
              <a:p>
                <a:pPr marL="342900" lvl="0" indent="-342900">
                  <a:buFont typeface="Arial" panose="020B0604020202020204" pitchFamily="34" charset="0"/>
                  <a:buChar char="•"/>
                </a:pP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0">
                            <a:latin typeface="Cambria Math" panose="02040503050406030204" pitchFamily="18" charset="0"/>
                          </a:rPr>
                          <m:t>1</m:t>
                        </m:r>
                      </m:sub>
                    </m:sSub>
                  </m:oMath>
                </a14:m>
                <a:r>
                  <a:rPr lang="en-IN" dirty="0">
                    <a:effectLst/>
                    <a:latin typeface="Google Sans Text"/>
                  </a:rPr>
                  <a:t>: Number of times the word </a:t>
                </a:r>
                <a:r>
                  <a:rPr lang="en-IN" b="1" dirty="0">
                    <a:effectLst/>
                    <a:latin typeface="Google Sans Text"/>
                  </a:rPr>
                  <a:t>"FREE"</a:t>
                </a:r>
                <a:r>
                  <a:rPr lang="en-IN" dirty="0">
                    <a:effectLst/>
                    <a:latin typeface="Google Sans Text"/>
                  </a:rPr>
                  <a:t> appears.</a:t>
                </a:r>
              </a:p>
              <a:p>
                <a:pPr marL="342900" lvl="0" indent="-342900">
                  <a:buFont typeface="Arial" panose="020B0604020202020204" pitchFamily="34" charset="0"/>
                  <a:buChar char="•"/>
                </a:pP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0">
                            <a:latin typeface="Cambria Math" panose="02040503050406030204" pitchFamily="18" charset="0"/>
                          </a:rPr>
                          <m:t>2</m:t>
                        </m:r>
                      </m:sub>
                    </m:sSub>
                  </m:oMath>
                </a14:m>
                <a:r>
                  <a:rPr lang="en-IN" dirty="0">
                    <a:effectLst/>
                    <a:latin typeface="Google Sans Text"/>
                  </a:rPr>
                  <a:t>: Number of times suspicious </a:t>
                </a:r>
                <a:r>
                  <a:rPr lang="en-IN" b="1" dirty="0">
                    <a:effectLst/>
                    <a:latin typeface="Google Sans Text"/>
                  </a:rPr>
                  <a:t>Links/URLs</a:t>
                </a:r>
                <a:r>
                  <a:rPr lang="en-IN" dirty="0">
                    <a:effectLst/>
                    <a:latin typeface="Google Sans Text"/>
                  </a:rPr>
                  <a:t> are present.</a:t>
                </a:r>
              </a:p>
              <a:p>
                <a:pPr>
                  <a:buNone/>
                </a:pPr>
                <a:r>
                  <a:rPr lang="en-IN" b="1" dirty="0">
                    <a:effectLst/>
                    <a:latin typeface="Google Sans"/>
                  </a:rPr>
                  <a:t>Model Parameters (Trained Weights &amp; Bias)</a:t>
                </a:r>
              </a:p>
              <a:p>
                <a:pPr marL="342900" lvl="0" indent="-342900">
                  <a:buFont typeface="Arial" panose="020B0604020202020204" pitchFamily="34" charset="0"/>
                  <a:buChar char="•"/>
                </a:pP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i="0">
                            <a:latin typeface="Cambria Math" panose="02040503050406030204" pitchFamily="18" charset="0"/>
                          </a:rPr>
                          <m:t>1</m:t>
                        </m:r>
                      </m:sub>
                    </m:sSub>
                    <m:r>
                      <a:rPr lang="en-IN" i="0">
                        <a:latin typeface="Cambria Math" panose="02040503050406030204" pitchFamily="18" charset="0"/>
                      </a:rPr>
                      <m:t>=1.2</m:t>
                    </m:r>
                  </m:oMath>
                </a14:m>
                <a:r>
                  <a:rPr lang="en-IN" dirty="0">
                    <a:effectLst/>
                    <a:latin typeface="Google Sans Text"/>
                  </a:rPr>
                  <a:t>(Weight for word "FREE")</a:t>
                </a:r>
              </a:p>
              <a:p>
                <a:pPr marL="342900" lvl="0" indent="-342900">
                  <a:buFont typeface="Arial" panose="020B0604020202020204" pitchFamily="34" charset="0"/>
                  <a:buChar char="•"/>
                </a:pP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i="0">
                            <a:latin typeface="Cambria Math" panose="02040503050406030204" pitchFamily="18" charset="0"/>
                          </a:rPr>
                          <m:t>2</m:t>
                        </m:r>
                      </m:sub>
                    </m:sSub>
                    <m:r>
                      <a:rPr lang="en-IN" i="0">
                        <a:latin typeface="Cambria Math" panose="02040503050406030204" pitchFamily="18" charset="0"/>
                      </a:rPr>
                      <m:t>=1.5</m:t>
                    </m:r>
                  </m:oMath>
                </a14:m>
                <a:r>
                  <a:rPr lang="en-IN" dirty="0">
                    <a:effectLst/>
                    <a:latin typeface="Google Sans Text"/>
                  </a:rPr>
                  <a:t>(Weight for links count)</a:t>
                </a:r>
              </a:p>
              <a:p>
                <a:pPr marL="342900" lvl="0" indent="-342900">
                  <a:buFont typeface="Arial" panose="020B0604020202020204" pitchFamily="34" charset="0"/>
                  <a:buChar char="•"/>
                </a:pPr>
                <a14:m>
                  <m:oMath xmlns:m="http://schemas.openxmlformats.org/officeDocument/2006/math">
                    <m:r>
                      <a:rPr lang="en-IN" i="1" smtClean="0">
                        <a:latin typeface="Cambria Math" panose="02040503050406030204" pitchFamily="18" charset="0"/>
                      </a:rPr>
                      <m:t>𝑏</m:t>
                    </m:r>
                    <m:r>
                      <a:rPr lang="en-IN" i="0">
                        <a:latin typeface="Cambria Math" panose="02040503050406030204" pitchFamily="18" charset="0"/>
                      </a:rPr>
                      <m:t>=−2.0</m:t>
                    </m:r>
                  </m:oMath>
                </a14:m>
                <a:r>
                  <a:rPr lang="en-IN" dirty="0">
                    <a:effectLst/>
                    <a:latin typeface="Google Sans Text"/>
                  </a:rPr>
                  <a:t>(Base threshold)</a:t>
                </a:r>
              </a:p>
              <a:p>
                <a:pPr marL="342900" lvl="0" indent="-342900">
                  <a:buFont typeface="Arial" panose="020B0604020202020204" pitchFamily="34" charset="0"/>
                  <a:buChar char="•"/>
                </a:pPr>
                <a:r>
                  <a:rPr lang="en-IN" b="1" dirty="0">
                    <a:effectLst/>
                    <a:latin typeface="Google Sans Text"/>
                  </a:rPr>
                  <a:t>Classification Threshold:</a:t>
                </a:r>
                <a:r>
                  <a:rPr lang="en-IN" dirty="0">
                    <a:effectLst/>
                    <a:latin typeface="Google Sans Text"/>
                  </a:rPr>
                  <a:t> If </a:t>
                </a:r>
                <a14:m>
                  <m:oMath xmlns:m="http://schemas.openxmlformats.org/officeDocument/2006/math">
                    <m:r>
                      <m:rPr>
                        <m:nor/>
                      </m:rPr>
                      <a:rPr lang="en-IN" i="0" smtClean="0">
                        <a:latin typeface="Cambria Math" panose="02040503050406030204" pitchFamily="18" charset="0"/>
                      </a:rPr>
                      <m:t>Probability </m:t>
                    </m:r>
                    <m:r>
                      <a:rPr lang="en-IN" i="1">
                        <a:latin typeface="Cambria Math" panose="02040503050406030204" pitchFamily="18" charset="0"/>
                      </a:rPr>
                      <m:t>𝑃</m:t>
                    </m:r>
                    <m:r>
                      <a:rPr lang="en-IN" i="0">
                        <a:latin typeface="Cambria Math" panose="02040503050406030204" pitchFamily="18" charset="0"/>
                      </a:rPr>
                      <m:t>≥0.5</m:t>
                    </m:r>
                  </m:oMath>
                </a14:m>
                <a:r>
                  <a:rPr lang="en-IN" dirty="0">
                    <a:effectLst/>
                    <a:latin typeface="Google Sans Text"/>
                  </a:rPr>
                  <a:t>, classify as </a:t>
                </a:r>
                <a:r>
                  <a:rPr lang="en-IN" b="1" dirty="0">
                    <a:effectLst/>
                    <a:latin typeface="Google Sans Text"/>
                  </a:rPr>
                  <a:t>Spam (</a:t>
                </a:r>
                <a14:m>
                  <m:oMath xmlns:m="http://schemas.openxmlformats.org/officeDocument/2006/math">
                    <m:r>
                      <a:rPr lang="en-IN" smtClean="0">
                        <a:latin typeface="Cambria Math" panose="02040503050406030204" pitchFamily="18" charset="0"/>
                      </a:rPr>
                      <m:t>1</m:t>
                    </m:r>
                  </m:oMath>
                </a14:m>
                <a:r>
                  <a:rPr lang="en-IN" b="1" dirty="0">
                    <a:effectLst/>
                    <a:latin typeface="Google Sans Text"/>
                  </a:rPr>
                  <a:t>)</a:t>
                </a:r>
                <a:r>
                  <a:rPr lang="en-IN" dirty="0">
                    <a:effectLst/>
                    <a:latin typeface="Google Sans Text"/>
                  </a:rPr>
                  <a:t>; otherwise, </a:t>
                </a:r>
                <a:r>
                  <a:rPr lang="en-IN" b="1" dirty="0">
                    <a:effectLst/>
                    <a:latin typeface="Google Sans Text"/>
                  </a:rPr>
                  <a:t>Not Spam (</a:t>
                </a:r>
                <a14:m>
                  <m:oMath xmlns:m="http://schemas.openxmlformats.org/officeDocument/2006/math">
                    <m:r>
                      <a:rPr lang="en-IN" smtClean="0">
                        <a:latin typeface="Cambria Math" panose="02040503050406030204" pitchFamily="18" charset="0"/>
                      </a:rPr>
                      <m:t>0</m:t>
                    </m:r>
                  </m:oMath>
                </a14:m>
                <a:r>
                  <a:rPr lang="en-IN" b="1" dirty="0">
                    <a:effectLst/>
                    <a:latin typeface="Google Sans Text"/>
                  </a:rPr>
                  <a:t>)</a:t>
                </a:r>
                <a:r>
                  <a:rPr lang="en-IN" dirty="0">
                    <a:effectLst/>
                    <a:latin typeface="Google Sans Text"/>
                  </a:rPr>
                  <a:t>.</a:t>
                </a:r>
              </a:p>
              <a:p>
                <a:pPr marL="342900" lvl="0" indent="-342900">
                  <a:buFont typeface="Arial" panose="020B0604020202020204" pitchFamily="34" charset="0"/>
                  <a:buChar char="•"/>
                </a:pPr>
                <a:endParaRPr lang="en-IN" dirty="0">
                  <a:latin typeface="Google Sans Text"/>
                </a:endParaRPr>
              </a:p>
              <a:p>
                <a:pPr marL="342900" lvl="0" indent="-342900">
                  <a:buFont typeface="Arial" panose="020B0604020202020204" pitchFamily="34" charset="0"/>
                  <a:buChar char="•"/>
                </a:pPr>
                <a:r>
                  <a:rPr lang="en-IN" b="1" u="sng" dirty="0">
                    <a:latin typeface="Google Sans Text"/>
                  </a:rPr>
                  <a:t>Check for:</a:t>
                </a:r>
                <a:r>
                  <a:rPr lang="en-IN" dirty="0">
                    <a:latin typeface="Google Sans Text"/>
                  </a:rPr>
                  <a:t> </a:t>
                </a:r>
              </a:p>
              <a:p>
                <a:pPr marL="342900" indent="-342900">
                  <a:buFont typeface="Arial" panose="020B0604020202020204" pitchFamily="34" charset="0"/>
                  <a:buChar char="•"/>
                </a:pPr>
                <a:r>
                  <a:rPr lang="en-IN" b="1" dirty="0"/>
                  <a:t>Email A: Received email containing 3 "FREE"s and 2 Links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=3,</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=2</m:t>
                    </m:r>
                  </m:oMath>
                </a14:m>
                <a:r>
                  <a:rPr lang="en-IN" b="1" dirty="0"/>
                  <a:t>)</a:t>
                </a:r>
              </a:p>
              <a:p>
                <a:pPr marL="342900" indent="-342900">
                  <a:buFont typeface="Arial" panose="020B0604020202020204" pitchFamily="34" charset="0"/>
                  <a:buChar char="•"/>
                </a:pPr>
                <a:r>
                  <a:rPr lang="en-IN" b="1" dirty="0"/>
                  <a:t>Email B: Normal email containing 0 "FREE"s and 1 Link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=0,</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=1</m:t>
                    </m:r>
                  </m:oMath>
                </a14:m>
                <a:r>
                  <a:rPr lang="en-IN" b="1" dirty="0"/>
                  <a:t>)</a:t>
                </a:r>
              </a:p>
              <a:p>
                <a:pPr marL="342900" indent="-342900">
                  <a:buFont typeface="Arial" panose="020B0604020202020204" pitchFamily="34" charset="0"/>
                  <a:buChar char="•"/>
                </a:pPr>
                <a:endParaRPr lang="en-IN" b="1" dirty="0"/>
              </a:p>
              <a:p>
                <a:pPr marL="342900" lvl="0" indent="-342900">
                  <a:buFont typeface="Arial" panose="020B0604020202020204" pitchFamily="34" charset="0"/>
                  <a:buChar char="•"/>
                </a:pPr>
                <a:endParaRPr lang="en-IN" dirty="0">
                  <a:effectLst/>
                  <a:latin typeface="Google Sans Text"/>
                </a:endParaRPr>
              </a:p>
            </p:txBody>
          </p:sp>
        </mc:Choice>
        <mc:Fallback xmlns="">
          <p:sp>
            <p:nvSpPr>
              <p:cNvPr id="13" name="TextBox 12">
                <a:extLst>
                  <a:ext uri="{FF2B5EF4-FFF2-40B4-BE49-F238E27FC236}">
                    <a16:creationId xmlns:a16="http://schemas.microsoft.com/office/drawing/2014/main" id="{310AD69E-0938-E481-C9E3-6F60F90C65B9}"/>
                  </a:ext>
                </a:extLst>
              </p:cNvPr>
              <p:cNvSpPr txBox="1">
                <a:spLocks noRot="1" noChangeAspect="1" noMove="1" noResize="1" noEditPoints="1" noAdjustHandles="1" noChangeArrowheads="1" noChangeShapeType="1" noTextEdit="1"/>
              </p:cNvSpPr>
              <p:nvPr/>
            </p:nvSpPr>
            <p:spPr>
              <a:xfrm>
                <a:off x="1137832" y="1849815"/>
                <a:ext cx="9916336" cy="4247317"/>
              </a:xfrm>
              <a:prstGeom prst="rect">
                <a:avLst/>
              </a:prstGeom>
              <a:blipFill>
                <a:blip r:embed="rId2"/>
                <a:stretch>
                  <a:fillRect l="-554" t="-717"/>
                </a:stretch>
              </a:blipFill>
            </p:spPr>
            <p:txBody>
              <a:bodyPr/>
              <a:lstStyle/>
              <a:p>
                <a:r>
                  <a:rPr lang="en-IN">
                    <a:noFill/>
                  </a:rPr>
                  <a:t> </a:t>
                </a:r>
              </a:p>
            </p:txBody>
          </p:sp>
        </mc:Fallback>
      </mc:AlternateContent>
    </p:spTree>
    <p:extLst>
      <p:ext uri="{BB962C8B-B14F-4D97-AF65-F5344CB8AC3E}">
        <p14:creationId xmlns:p14="http://schemas.microsoft.com/office/powerpoint/2010/main" val="9702398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8017F-025E-0C17-61D9-C83957273745}"/>
              </a:ext>
            </a:extLst>
          </p:cNvPr>
          <p:cNvSpPr>
            <a:spLocks noGrp="1"/>
          </p:cNvSpPr>
          <p:nvPr>
            <p:ph type="title"/>
          </p:nvPr>
        </p:nvSpPr>
        <p:spPr/>
        <p:txBody>
          <a:bodyPr/>
          <a:lstStyle/>
          <a:p>
            <a:r>
              <a:rPr lang="en-US" dirty="0"/>
              <a:t>Sigmoid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30506BD-71CC-2BFC-FFC3-81E98D4B2524}"/>
                  </a:ext>
                </a:extLst>
              </p:cNvPr>
              <p:cNvSpPr>
                <a:spLocks noGrp="1"/>
              </p:cNvSpPr>
              <p:nvPr>
                <p:ph idx="1"/>
              </p:nvPr>
            </p:nvSpPr>
            <p:spPr>
              <a:xfrm>
                <a:off x="1066800" y="1417319"/>
                <a:ext cx="10058400" cy="4827837"/>
              </a:xfrm>
            </p:spPr>
            <p:txBody>
              <a:bodyPr>
                <a:normAutofit fontScale="92500" lnSpcReduction="10000"/>
              </a:bodyPr>
              <a:lstStyle/>
              <a:p>
                <a:r>
                  <a:rPr lang="en-IN" b="1" dirty="0"/>
                  <a:t>Email A: Received email containing 3 "FREE"s and 2 Links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=3,</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=2</m:t>
                    </m:r>
                  </m:oMath>
                </a14:m>
                <a:r>
                  <a:rPr lang="en-IN" b="1" dirty="0"/>
                  <a:t>)</a:t>
                </a:r>
              </a:p>
              <a:p>
                <a:r>
                  <a:rPr lang="en-IN" b="1" dirty="0"/>
                  <a:t>Step 1: Calculate Linear Logit (</a:t>
                </a:r>
                <a14:m>
                  <m:oMath xmlns:m="http://schemas.openxmlformats.org/officeDocument/2006/math">
                    <m:r>
                      <a:rPr lang="en-IN" i="1">
                        <a:latin typeface="Cambria Math" panose="02040503050406030204" pitchFamily="18" charset="0"/>
                      </a:rPr>
                      <m:t>𝑧</m:t>
                    </m:r>
                  </m:oMath>
                </a14:m>
                <a:r>
                  <a:rPr lang="en-IN" b="1" dirty="0"/>
                  <a:t>)</a:t>
                </a:r>
              </a:p>
              <a:p>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1</m:t>
                        </m:r>
                      </m:sub>
                    </m:sSub>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2</m:t>
                        </m:r>
                      </m:sub>
                    </m:sSub>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m:t>
                    </m:r>
                    <m:r>
                      <a:rPr lang="en-IN" i="1">
                        <a:latin typeface="Cambria Math" panose="02040503050406030204" pitchFamily="18" charset="0"/>
                      </a:rPr>
                      <m:t>𝑏</m:t>
                    </m:r>
                  </m:oMath>
                </a14:m>
                <a:endParaRPr lang="en-IN" dirty="0"/>
              </a:p>
              <a:p>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1.2×3</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1.5×2</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−2.0</m:t>
                        </m:r>
                      </m:e>
                    </m:d>
                  </m:oMath>
                </a14:m>
                <a:endParaRPr lang="en-IN" dirty="0"/>
              </a:p>
              <a:p>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=3.6+3.0−2.0=</m:t>
                    </m:r>
                    <m:r>
                      <a:rPr lang="en-IN" b="1">
                        <a:latin typeface="Cambria Math" panose="02040503050406030204" pitchFamily="18" charset="0"/>
                      </a:rPr>
                      <m:t>𝟒</m:t>
                    </m:r>
                    <m:r>
                      <a:rPr lang="en-IN">
                        <a:latin typeface="Cambria Math" panose="02040503050406030204" pitchFamily="18" charset="0"/>
                      </a:rPr>
                      <m:t>.</m:t>
                    </m:r>
                    <m:r>
                      <a:rPr lang="en-IN" b="1">
                        <a:latin typeface="Cambria Math" panose="02040503050406030204" pitchFamily="18" charset="0"/>
                      </a:rPr>
                      <m:t>𝟔</m:t>
                    </m:r>
                  </m:oMath>
                </a14:m>
                <a:endParaRPr lang="en-IN" dirty="0"/>
              </a:p>
              <a:p>
                <a:r>
                  <a:rPr lang="en-IN" b="1" dirty="0"/>
                  <a:t>Step 2: Apply Sigmoid Activation Function</a:t>
                </a:r>
              </a:p>
              <a:p>
                <a14:m>
                  <m:oMath xmlns:m="http://schemas.openxmlformats.org/officeDocument/2006/math">
                    <m:r>
                      <a:rPr lang="en-IN" i="1">
                        <a:latin typeface="Cambria Math" panose="02040503050406030204" pitchFamily="18" charset="0"/>
                      </a:rPr>
                      <m:t>𝑃</m:t>
                    </m:r>
                    <m:d>
                      <m:dPr>
                        <m:ctrlPr>
                          <a:rPr lang="en-IN" i="0"/>
                        </m:ctrlPr>
                      </m:dPr>
                      <m:e>
                        <m:r>
                          <m:rPr>
                            <m:nor/>
                          </m:rPr>
                          <a:rPr lang="en-IN" i="0"/>
                          <m:t>Spam</m:t>
                        </m:r>
                      </m:e>
                    </m:d>
                    <m:r>
                      <a:rPr lang="en-IN">
                        <a:latin typeface="Cambria Math" panose="02040503050406030204" pitchFamily="18" charset="0"/>
                      </a:rPr>
                      <m:t>=</m:t>
                    </m:r>
                    <m:r>
                      <a:rPr lang="en-IN" i="1">
                        <a:latin typeface="Cambria Math" panose="02040503050406030204" pitchFamily="18" charset="0"/>
                      </a:rPr>
                      <m:t>𝜎</m:t>
                    </m:r>
                    <m:d>
                      <m:dPr>
                        <m:ctrlPr>
                          <a:rPr lang="en-IN">
                            <a:latin typeface="Cambria Math" panose="02040503050406030204" pitchFamily="18" charset="0"/>
                          </a:rPr>
                        </m:ctrlPr>
                      </m:dPr>
                      <m:e>
                        <m:r>
                          <a:rPr lang="en-IN">
                            <a:latin typeface="Cambria Math" panose="02040503050406030204" pitchFamily="18" charset="0"/>
                          </a:rPr>
                          <m:t>4.6</m:t>
                        </m:r>
                      </m:e>
                    </m:d>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1+</m:t>
                        </m:r>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−4.6</m:t>
                            </m:r>
                          </m:sup>
                        </m:sSup>
                      </m:den>
                    </m:f>
                  </m:oMath>
                </a14:m>
                <a:endParaRPr lang="en-IN" dirty="0"/>
              </a:p>
              <a:p>
                <a:pPr lvl="0"/>
                <a:r>
                  <a:rPr lang="en-IN" dirty="0"/>
                  <a:t>Since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−4.6</m:t>
                        </m:r>
                      </m:sup>
                    </m:sSup>
                    <m:r>
                      <a:rPr lang="en-IN">
                        <a:latin typeface="Cambria Math" panose="02040503050406030204" pitchFamily="18" charset="0"/>
                      </a:rPr>
                      <m:t>≈0.01005</m:t>
                    </m:r>
                  </m:oMath>
                </a14:m>
                <a:r>
                  <a:rPr lang="en-IN" dirty="0"/>
                  <a:t>:</a:t>
                </a:r>
              </a:p>
              <a:p>
                <a:pPr lvl="0"/>
                <a14:m>
                  <m:oMath xmlns:m="http://schemas.openxmlformats.org/officeDocument/2006/math">
                    <m:r>
                      <a:rPr lang="en-IN" i="1">
                        <a:latin typeface="Cambria Math" panose="02040503050406030204" pitchFamily="18" charset="0"/>
                      </a:rPr>
                      <m:t>𝑃</m:t>
                    </m:r>
                    <m:d>
                      <m:dPr>
                        <m:ctrlPr>
                          <a:rPr lang="en-IN" i="0"/>
                        </m:ctrlPr>
                      </m:dPr>
                      <m:e>
                        <m:r>
                          <m:rPr>
                            <m:nor/>
                          </m:rPr>
                          <a:rPr lang="en-IN" i="0"/>
                          <m:t>Spam</m:t>
                        </m:r>
                      </m:e>
                    </m:d>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1+0.01005</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1.01005</m:t>
                        </m:r>
                      </m:den>
                    </m:f>
                    <m:r>
                      <a:rPr lang="en-IN">
                        <a:latin typeface="Cambria Math" panose="02040503050406030204" pitchFamily="18" charset="0"/>
                      </a:rPr>
                      <m:t>≈</m:t>
                    </m:r>
                    <m:r>
                      <a:rPr lang="en-IN" b="1">
                        <a:latin typeface="Cambria Math" panose="02040503050406030204" pitchFamily="18" charset="0"/>
                      </a:rPr>
                      <m:t>𝟎</m:t>
                    </m:r>
                    <m:r>
                      <a:rPr lang="en-IN">
                        <a:latin typeface="Cambria Math" panose="02040503050406030204" pitchFamily="18" charset="0"/>
                      </a:rPr>
                      <m:t>.</m:t>
                    </m:r>
                    <m:r>
                      <a:rPr lang="en-IN" b="1">
                        <a:latin typeface="Cambria Math" panose="02040503050406030204" pitchFamily="18" charset="0"/>
                      </a:rPr>
                      <m:t>𝟗𝟗𝟎</m:t>
                    </m:r>
                    <m:r>
                      <a:rPr lang="en-IN">
                        <a:latin typeface="Cambria Math" panose="02040503050406030204" pitchFamily="18" charset="0"/>
                      </a:rPr>
                      <m:t> </m:t>
                    </m:r>
                    <m:d>
                      <m:dPr>
                        <m:ctrlPr>
                          <a:rPr lang="en-IN">
                            <a:latin typeface="Cambria Math" panose="02040503050406030204" pitchFamily="18" charset="0"/>
                          </a:rPr>
                        </m:ctrlPr>
                      </m:dPr>
                      <m:e>
                        <m:r>
                          <a:rPr lang="en-IN">
                            <a:latin typeface="Cambria Math" panose="02040503050406030204" pitchFamily="18" charset="0"/>
                          </a:rPr>
                          <m:t>99.0%</m:t>
                        </m:r>
                      </m:e>
                    </m:d>
                  </m:oMath>
                </a14:m>
                <a:endParaRPr lang="en-IN" dirty="0"/>
              </a:p>
              <a:p>
                <a:r>
                  <a:rPr lang="en-IN" b="1" dirty="0"/>
                  <a:t>Step 3: Decision Threshold</a:t>
                </a:r>
              </a:p>
              <a:p>
                <a:r>
                  <a:rPr lang="en-IN" dirty="0"/>
                  <a:t>Since </a:t>
                </a:r>
                <a14:m>
                  <m:oMath xmlns:m="http://schemas.openxmlformats.org/officeDocument/2006/math">
                    <m:r>
                      <a:rPr lang="en-IN" i="1">
                        <a:latin typeface="Cambria Math" panose="02040503050406030204" pitchFamily="18" charset="0"/>
                      </a:rPr>
                      <m:t>𝑃</m:t>
                    </m:r>
                    <m:r>
                      <a:rPr lang="en-IN">
                        <a:latin typeface="Cambria Math" panose="02040503050406030204" pitchFamily="18" charset="0"/>
                      </a:rPr>
                      <m:t>=0.990≥0.5</m:t>
                    </m:r>
                  </m:oMath>
                </a14:m>
                <a:r>
                  <a:rPr lang="en-IN" dirty="0"/>
                  <a:t>, the email is classified as </a:t>
                </a:r>
                <a:r>
                  <a:rPr lang="en-IN" b="1" dirty="0"/>
                  <a:t>Spam (</a:t>
                </a:r>
                <a14:m>
                  <m:oMath xmlns:m="http://schemas.openxmlformats.org/officeDocument/2006/math">
                    <m:r>
                      <a:rPr lang="en-IN">
                        <a:latin typeface="Cambria Math" panose="02040503050406030204" pitchFamily="18" charset="0"/>
                      </a:rPr>
                      <m:t>1</m:t>
                    </m:r>
                  </m:oMath>
                </a14:m>
                <a:r>
                  <a:rPr lang="en-IN" b="1" dirty="0"/>
                  <a:t>)</a:t>
                </a:r>
                <a:r>
                  <a:rPr lang="en-IN" dirty="0"/>
                  <a:t>.</a:t>
                </a:r>
              </a:p>
              <a:p>
                <a:endParaRPr lang="en-IN" dirty="0"/>
              </a:p>
            </p:txBody>
          </p:sp>
        </mc:Choice>
        <mc:Fallback xmlns="">
          <p:sp>
            <p:nvSpPr>
              <p:cNvPr id="3" name="Content Placeholder 2">
                <a:extLst>
                  <a:ext uri="{FF2B5EF4-FFF2-40B4-BE49-F238E27FC236}">
                    <a16:creationId xmlns:a16="http://schemas.microsoft.com/office/drawing/2014/main" id="{D30506BD-71CC-2BFC-FFC3-81E98D4B2524}"/>
                  </a:ext>
                </a:extLst>
              </p:cNvPr>
              <p:cNvSpPr>
                <a:spLocks noGrp="1" noRot="1" noChangeAspect="1" noMove="1" noResize="1" noEditPoints="1" noAdjustHandles="1" noChangeArrowheads="1" noChangeShapeType="1" noTextEdit="1"/>
              </p:cNvSpPr>
              <p:nvPr>
                <p:ph idx="1"/>
              </p:nvPr>
            </p:nvSpPr>
            <p:spPr>
              <a:xfrm>
                <a:off x="1066800" y="1417319"/>
                <a:ext cx="10058400" cy="4827837"/>
              </a:xfrm>
              <a:blipFill>
                <a:blip r:embed="rId2"/>
                <a:stretch>
                  <a:fillRect l="-1455" t="-1515" b="-1389"/>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576B9DF3-9BFD-2F36-9D22-10970510A580}"/>
              </a:ext>
            </a:extLst>
          </p:cNvPr>
          <p:cNvSpPr>
            <a:spLocks noGrp="1"/>
          </p:cNvSpPr>
          <p:nvPr>
            <p:ph type="dt" sz="half" idx="10"/>
          </p:nvPr>
        </p:nvSpPr>
        <p:spPr/>
        <p:txBody>
          <a:bodyPr/>
          <a:lstStyle/>
          <a:p>
            <a:pPr defTabSz="1219170">
              <a:buClr>
                <a:srgbClr val="000000"/>
              </a:buClr>
            </a:pPr>
            <a:fld id="{ED2BA43E-C2D3-45F6-8EA4-498DC871DBD1}" type="datetime1">
              <a:rPr lang="en-US" kern="0" smtClean="0">
                <a:latin typeface="Arial"/>
                <a:cs typeface="Arial"/>
                <a:sym typeface="Arial"/>
              </a:rPr>
              <a:t>04-Aug-26</a:t>
            </a:fld>
            <a:endParaRPr lang="en-US" kern="0" dirty="0">
              <a:latin typeface="Arial"/>
              <a:cs typeface="Arial"/>
              <a:sym typeface="Arial"/>
            </a:endParaRPr>
          </a:p>
        </p:txBody>
      </p:sp>
      <p:sp>
        <p:nvSpPr>
          <p:cNvPr id="5" name="Slide Number Placeholder 4">
            <a:extLst>
              <a:ext uri="{FF2B5EF4-FFF2-40B4-BE49-F238E27FC236}">
                <a16:creationId xmlns:a16="http://schemas.microsoft.com/office/drawing/2014/main" id="{B8C91571-3126-C511-6668-843E8D38D3E1}"/>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105</a:t>
            </a:fld>
            <a:endParaRPr lang="en-US" kern="0" dirty="0">
              <a:latin typeface="Arial"/>
              <a:cs typeface="Arial"/>
              <a:sym typeface="Arial"/>
            </a:endParaRPr>
          </a:p>
        </p:txBody>
      </p:sp>
    </p:spTree>
    <p:extLst>
      <p:ext uri="{BB962C8B-B14F-4D97-AF65-F5344CB8AC3E}">
        <p14:creationId xmlns:p14="http://schemas.microsoft.com/office/powerpoint/2010/main" val="118911171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3E06D-3D57-CE10-06E1-17EA20434201}"/>
              </a:ext>
            </a:extLst>
          </p:cNvPr>
          <p:cNvSpPr>
            <a:spLocks noGrp="1"/>
          </p:cNvSpPr>
          <p:nvPr>
            <p:ph type="title"/>
          </p:nvPr>
        </p:nvSpPr>
        <p:spPr/>
        <p:txBody>
          <a:bodyPr/>
          <a:lstStyle/>
          <a:p>
            <a:r>
              <a:rPr lang="en-US" dirty="0"/>
              <a:t>Sigmoid</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1A6BD4-82AB-5DE7-BC13-E1D4061A7F2B}"/>
                  </a:ext>
                </a:extLst>
              </p:cNvPr>
              <p:cNvSpPr>
                <a:spLocks noGrp="1"/>
              </p:cNvSpPr>
              <p:nvPr>
                <p:ph idx="1"/>
              </p:nvPr>
            </p:nvSpPr>
            <p:spPr>
              <a:xfrm>
                <a:off x="1154085" y="1521873"/>
                <a:ext cx="10058400" cy="4742739"/>
              </a:xfrm>
            </p:spPr>
            <p:txBody>
              <a:bodyPr>
                <a:normAutofit/>
              </a:bodyPr>
              <a:lstStyle/>
              <a:p>
                <a:r>
                  <a:rPr lang="en-IN" b="1" dirty="0"/>
                  <a:t>Email B: Normal email containing 0 "FREE"s and 1 Link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=0,</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=1</m:t>
                    </m:r>
                  </m:oMath>
                </a14:m>
                <a:r>
                  <a:rPr lang="en-IN" b="1" dirty="0"/>
                  <a:t>)</a:t>
                </a:r>
              </a:p>
              <a:p>
                <a:r>
                  <a:rPr lang="en-IN" b="1" dirty="0"/>
                  <a:t>Step 1: Calculate Linear Logit (</a:t>
                </a:r>
                <a14:m>
                  <m:oMath xmlns:m="http://schemas.openxmlformats.org/officeDocument/2006/math">
                    <m:r>
                      <a:rPr lang="en-IN" i="1">
                        <a:latin typeface="Cambria Math" panose="02040503050406030204" pitchFamily="18" charset="0"/>
                      </a:rPr>
                      <m:t>𝑧</m:t>
                    </m:r>
                  </m:oMath>
                </a14:m>
                <a:r>
                  <a:rPr lang="en-IN" b="1" dirty="0"/>
                  <a:t>)</a:t>
                </a:r>
              </a:p>
              <a:p>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1.2×0</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1.5×1</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−2.0</m:t>
                        </m:r>
                      </m:e>
                    </m:d>
                  </m:oMath>
                </a14:m>
                <a:endParaRPr lang="en-IN" dirty="0"/>
              </a:p>
              <a:p>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=0+1.5−2.0=−</m:t>
                    </m:r>
                    <m:r>
                      <a:rPr lang="en-IN" b="1">
                        <a:latin typeface="Cambria Math" panose="02040503050406030204" pitchFamily="18" charset="0"/>
                      </a:rPr>
                      <m:t>𝟎</m:t>
                    </m:r>
                    <m:r>
                      <a:rPr lang="en-IN">
                        <a:latin typeface="Cambria Math" panose="02040503050406030204" pitchFamily="18" charset="0"/>
                      </a:rPr>
                      <m:t>.</m:t>
                    </m:r>
                    <m:r>
                      <a:rPr lang="en-IN" b="1">
                        <a:latin typeface="Cambria Math" panose="02040503050406030204" pitchFamily="18" charset="0"/>
                      </a:rPr>
                      <m:t>𝟓</m:t>
                    </m:r>
                  </m:oMath>
                </a14:m>
                <a:endParaRPr lang="en-IN" dirty="0"/>
              </a:p>
              <a:p>
                <a:r>
                  <a:rPr lang="en-IN" b="1" dirty="0"/>
                  <a:t>Step 2: Apply Sigmoid Activation Function</a:t>
                </a:r>
              </a:p>
              <a:p>
                <a14:m>
                  <m:oMath xmlns:m="http://schemas.openxmlformats.org/officeDocument/2006/math">
                    <m:r>
                      <a:rPr lang="en-IN" i="1">
                        <a:latin typeface="Cambria Math" panose="02040503050406030204" pitchFamily="18" charset="0"/>
                      </a:rPr>
                      <m:t>𝑃</m:t>
                    </m:r>
                    <m:d>
                      <m:dPr>
                        <m:ctrlPr>
                          <a:rPr lang="en-IN" i="0"/>
                        </m:ctrlPr>
                      </m:dPr>
                      <m:e>
                        <m:r>
                          <m:rPr>
                            <m:nor/>
                          </m:rPr>
                          <a:rPr lang="en-IN" i="0"/>
                          <m:t>Spam</m:t>
                        </m:r>
                      </m:e>
                    </m:d>
                    <m:r>
                      <a:rPr lang="en-IN">
                        <a:latin typeface="Cambria Math" panose="02040503050406030204" pitchFamily="18" charset="0"/>
                      </a:rPr>
                      <m:t>=</m:t>
                    </m:r>
                    <m:r>
                      <a:rPr lang="en-IN" i="1">
                        <a:latin typeface="Cambria Math" panose="02040503050406030204" pitchFamily="18" charset="0"/>
                      </a:rPr>
                      <m:t>𝜎</m:t>
                    </m:r>
                    <m:d>
                      <m:dPr>
                        <m:ctrlPr>
                          <a:rPr lang="en-IN">
                            <a:latin typeface="Cambria Math" panose="02040503050406030204" pitchFamily="18" charset="0"/>
                          </a:rPr>
                        </m:ctrlPr>
                      </m:dPr>
                      <m:e>
                        <m:r>
                          <a:rPr lang="en-IN">
                            <a:latin typeface="Cambria Math" panose="02040503050406030204" pitchFamily="18" charset="0"/>
                          </a:rPr>
                          <m:t>−0.5</m:t>
                        </m:r>
                      </m:e>
                    </m:d>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1+</m:t>
                        </m:r>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−0.5</m:t>
                                </m:r>
                              </m:e>
                            </m:d>
                          </m:sup>
                        </m:sSup>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1+</m:t>
                        </m:r>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0.5</m:t>
                            </m:r>
                          </m:sup>
                        </m:sSup>
                      </m:den>
                    </m:f>
                  </m:oMath>
                </a14:m>
                <a:endParaRPr lang="en-IN" dirty="0"/>
              </a:p>
              <a:p>
                <a:pPr lvl="0"/>
                <a:r>
                  <a:rPr lang="en-IN" dirty="0"/>
                  <a:t>Since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0.5</m:t>
                        </m:r>
                      </m:sup>
                    </m:sSup>
                    <m:r>
                      <a:rPr lang="en-IN">
                        <a:latin typeface="Cambria Math" panose="02040503050406030204" pitchFamily="18" charset="0"/>
                      </a:rPr>
                      <m:t>≈1.6487</m:t>
                    </m:r>
                  </m:oMath>
                </a14:m>
                <a:r>
                  <a:rPr lang="en-IN" dirty="0"/>
                  <a:t>:</a:t>
                </a:r>
              </a:p>
              <a:p>
                <a:pPr lvl="0"/>
                <a14:m>
                  <m:oMath xmlns:m="http://schemas.openxmlformats.org/officeDocument/2006/math">
                    <m:r>
                      <a:rPr lang="en-IN" i="1">
                        <a:latin typeface="Cambria Math" panose="02040503050406030204" pitchFamily="18" charset="0"/>
                      </a:rPr>
                      <m:t>𝑃</m:t>
                    </m:r>
                    <m:d>
                      <m:dPr>
                        <m:ctrlPr>
                          <a:rPr lang="en-IN" i="0"/>
                        </m:ctrlPr>
                      </m:dPr>
                      <m:e>
                        <m:r>
                          <m:rPr>
                            <m:nor/>
                          </m:rPr>
                          <a:rPr lang="en-IN" i="0"/>
                          <m:t>Spam</m:t>
                        </m:r>
                      </m:e>
                    </m:d>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1+1.6487</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1</m:t>
                        </m:r>
                      </m:num>
                      <m:den>
                        <m:r>
                          <a:rPr lang="en-IN">
                            <a:latin typeface="Cambria Math" panose="02040503050406030204" pitchFamily="18" charset="0"/>
                          </a:rPr>
                          <m:t>2.6487</m:t>
                        </m:r>
                      </m:den>
                    </m:f>
                    <m:r>
                      <a:rPr lang="en-IN">
                        <a:latin typeface="Cambria Math" panose="02040503050406030204" pitchFamily="18" charset="0"/>
                      </a:rPr>
                      <m:t>≈</m:t>
                    </m:r>
                    <m:r>
                      <a:rPr lang="en-IN" b="1">
                        <a:latin typeface="Cambria Math" panose="02040503050406030204" pitchFamily="18" charset="0"/>
                      </a:rPr>
                      <m:t>𝟎</m:t>
                    </m:r>
                    <m:r>
                      <a:rPr lang="en-IN">
                        <a:latin typeface="Cambria Math" panose="02040503050406030204" pitchFamily="18" charset="0"/>
                      </a:rPr>
                      <m:t>.</m:t>
                    </m:r>
                    <m:r>
                      <a:rPr lang="en-IN" b="1">
                        <a:latin typeface="Cambria Math" panose="02040503050406030204" pitchFamily="18" charset="0"/>
                      </a:rPr>
                      <m:t>𝟑𝟕𝟕</m:t>
                    </m:r>
                    <m:r>
                      <a:rPr lang="en-IN">
                        <a:latin typeface="Cambria Math" panose="02040503050406030204" pitchFamily="18" charset="0"/>
                      </a:rPr>
                      <m:t> </m:t>
                    </m:r>
                    <m:d>
                      <m:dPr>
                        <m:ctrlPr>
                          <a:rPr lang="en-IN">
                            <a:latin typeface="Cambria Math" panose="02040503050406030204" pitchFamily="18" charset="0"/>
                          </a:rPr>
                        </m:ctrlPr>
                      </m:dPr>
                      <m:e>
                        <m:r>
                          <a:rPr lang="en-IN">
                            <a:latin typeface="Cambria Math" panose="02040503050406030204" pitchFamily="18" charset="0"/>
                          </a:rPr>
                          <m:t>37.7%</m:t>
                        </m:r>
                      </m:e>
                    </m:d>
                  </m:oMath>
                </a14:m>
                <a:endParaRPr lang="en-IN" dirty="0"/>
              </a:p>
              <a:p>
                <a:r>
                  <a:rPr lang="en-IN" b="1" dirty="0"/>
                  <a:t>Step 3: Decision Threshold</a:t>
                </a:r>
              </a:p>
              <a:p>
                <a:r>
                  <a:rPr lang="en-IN" dirty="0"/>
                  <a:t>Since </a:t>
                </a:r>
                <a14:m>
                  <m:oMath xmlns:m="http://schemas.openxmlformats.org/officeDocument/2006/math">
                    <m:r>
                      <a:rPr lang="en-IN" i="1">
                        <a:latin typeface="Cambria Math" panose="02040503050406030204" pitchFamily="18" charset="0"/>
                      </a:rPr>
                      <m:t>𝑃</m:t>
                    </m:r>
                    <m:r>
                      <a:rPr lang="en-IN">
                        <a:latin typeface="Cambria Math" panose="02040503050406030204" pitchFamily="18" charset="0"/>
                      </a:rPr>
                      <m:t>=0.377&lt;0.5</m:t>
                    </m:r>
                  </m:oMath>
                </a14:m>
                <a:r>
                  <a:rPr lang="en-IN" dirty="0"/>
                  <a:t>, the email is classified as </a:t>
                </a:r>
                <a:r>
                  <a:rPr lang="en-IN" b="1" dirty="0"/>
                  <a:t>Not Spam / Inbox (</a:t>
                </a:r>
                <a14:m>
                  <m:oMath xmlns:m="http://schemas.openxmlformats.org/officeDocument/2006/math">
                    <m:r>
                      <a:rPr lang="en-IN">
                        <a:latin typeface="Cambria Math" panose="02040503050406030204" pitchFamily="18" charset="0"/>
                      </a:rPr>
                      <m:t>0</m:t>
                    </m:r>
                  </m:oMath>
                </a14:m>
                <a:r>
                  <a:rPr lang="en-IN" b="1" dirty="0"/>
                  <a:t>)</a:t>
                </a:r>
                <a:r>
                  <a:rPr lang="en-IN" dirty="0"/>
                  <a:t>.</a:t>
                </a:r>
              </a:p>
              <a:p>
                <a:endParaRPr lang="en-IN" dirty="0"/>
              </a:p>
            </p:txBody>
          </p:sp>
        </mc:Choice>
        <mc:Fallback xmlns="">
          <p:sp>
            <p:nvSpPr>
              <p:cNvPr id="3" name="Content Placeholder 2">
                <a:extLst>
                  <a:ext uri="{FF2B5EF4-FFF2-40B4-BE49-F238E27FC236}">
                    <a16:creationId xmlns:a16="http://schemas.microsoft.com/office/drawing/2014/main" id="{531A6BD4-82AB-5DE7-BC13-E1D4061A7F2B}"/>
                  </a:ext>
                </a:extLst>
              </p:cNvPr>
              <p:cNvSpPr>
                <a:spLocks noGrp="1" noRot="1" noChangeAspect="1" noMove="1" noResize="1" noEditPoints="1" noAdjustHandles="1" noChangeArrowheads="1" noChangeShapeType="1" noTextEdit="1"/>
              </p:cNvSpPr>
              <p:nvPr>
                <p:ph idx="1"/>
              </p:nvPr>
            </p:nvSpPr>
            <p:spPr>
              <a:xfrm>
                <a:off x="1154085" y="1521873"/>
                <a:ext cx="10058400" cy="4742739"/>
              </a:xfrm>
              <a:blipFill>
                <a:blip r:embed="rId2"/>
                <a:stretch>
                  <a:fillRect l="-1515" t="-1414" b="-1285"/>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66948804-1F53-C475-9007-7AC66A7048B0}"/>
              </a:ext>
            </a:extLst>
          </p:cNvPr>
          <p:cNvSpPr>
            <a:spLocks noGrp="1"/>
          </p:cNvSpPr>
          <p:nvPr>
            <p:ph type="dt" sz="half" idx="10"/>
          </p:nvPr>
        </p:nvSpPr>
        <p:spPr/>
        <p:txBody>
          <a:bodyPr/>
          <a:lstStyle/>
          <a:p>
            <a:pPr defTabSz="1219170">
              <a:buClr>
                <a:srgbClr val="000000"/>
              </a:buClr>
            </a:pPr>
            <a:fld id="{ED2BA43E-C2D3-45F6-8EA4-498DC871DBD1}" type="datetime1">
              <a:rPr lang="en-US" kern="0" smtClean="0">
                <a:latin typeface="Arial"/>
                <a:cs typeface="Arial"/>
                <a:sym typeface="Arial"/>
              </a:rPr>
              <a:t>04-Aug-26</a:t>
            </a:fld>
            <a:endParaRPr lang="en-US" kern="0" dirty="0">
              <a:latin typeface="Arial"/>
              <a:cs typeface="Arial"/>
              <a:sym typeface="Arial"/>
            </a:endParaRPr>
          </a:p>
        </p:txBody>
      </p:sp>
      <p:sp>
        <p:nvSpPr>
          <p:cNvPr id="5" name="Slide Number Placeholder 4">
            <a:extLst>
              <a:ext uri="{FF2B5EF4-FFF2-40B4-BE49-F238E27FC236}">
                <a16:creationId xmlns:a16="http://schemas.microsoft.com/office/drawing/2014/main" id="{7103C077-E787-A7B7-9651-B5CFBE3AB8A7}"/>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106</a:t>
            </a:fld>
            <a:endParaRPr lang="en-US" kern="0" dirty="0">
              <a:latin typeface="Arial"/>
              <a:cs typeface="Arial"/>
              <a:sym typeface="Arial"/>
            </a:endParaRPr>
          </a:p>
        </p:txBody>
      </p:sp>
    </p:spTree>
    <p:extLst>
      <p:ext uri="{BB962C8B-B14F-4D97-AF65-F5344CB8AC3E}">
        <p14:creationId xmlns:p14="http://schemas.microsoft.com/office/powerpoint/2010/main" val="366362967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FFF2EC8D-A683-40FF-976B-B223B1D932A0}"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107</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normAutofit/>
          </a:bodyPr>
          <a:lstStyle/>
          <a:p>
            <a:r>
              <a:rPr lang="en-US" dirty="0" err="1"/>
              <a:t>Tanh</a:t>
            </a:r>
            <a:r>
              <a:rPr lang="en-US" dirty="0"/>
              <a:t> Function</a:t>
            </a:r>
          </a:p>
        </p:txBody>
      </p:sp>
      <p:pic>
        <p:nvPicPr>
          <p:cNvPr id="2" name="Picture 1"/>
          <p:cNvPicPr>
            <a:picLocks noChangeAspect="1"/>
          </p:cNvPicPr>
          <p:nvPr/>
        </p:nvPicPr>
        <p:blipFill>
          <a:blip r:embed="rId2"/>
          <a:stretch>
            <a:fillRect/>
          </a:stretch>
        </p:blipFill>
        <p:spPr>
          <a:xfrm>
            <a:off x="2591682" y="1510896"/>
            <a:ext cx="2615892" cy="853252"/>
          </a:xfrm>
          <a:prstGeom prst="rect">
            <a:avLst/>
          </a:prstGeom>
        </p:spPr>
      </p:pic>
      <p:sp>
        <p:nvSpPr>
          <p:cNvPr id="3" name="Rectangle 2"/>
          <p:cNvSpPr/>
          <p:nvPr/>
        </p:nvSpPr>
        <p:spPr>
          <a:xfrm>
            <a:off x="1217805" y="1771247"/>
            <a:ext cx="1127232"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Formula:</a:t>
            </a:r>
          </a:p>
        </p:txBody>
      </p:sp>
      <p:sp>
        <p:nvSpPr>
          <p:cNvPr id="8" name="Rectangle 7"/>
          <p:cNvSpPr/>
          <p:nvPr/>
        </p:nvSpPr>
        <p:spPr>
          <a:xfrm>
            <a:off x="1097280" y="2494187"/>
            <a:ext cx="6096000" cy="379656"/>
          </a:xfrm>
          <a:prstGeom prst="rect">
            <a:avLst/>
          </a:prstGeom>
        </p:spPr>
        <p:txBody>
          <a:bodyPr>
            <a:spAutoFit/>
          </a:bodyPr>
          <a:lstStyle/>
          <a:p>
            <a:pPr defTabSz="1219170">
              <a:buClr>
                <a:srgbClr val="000000"/>
              </a:buClr>
            </a:pPr>
            <a:r>
              <a:rPr lang="en-US" sz="1867" b="1" kern="0" dirty="0">
                <a:solidFill>
                  <a:srgbClr val="000000"/>
                </a:solidFill>
                <a:latin typeface="Arial"/>
                <a:cs typeface="Arial"/>
                <a:sym typeface="Arial"/>
              </a:rPr>
              <a:t>Output Range: </a:t>
            </a:r>
            <a:r>
              <a:rPr lang="en-US" sz="1867" kern="0" dirty="0">
                <a:solidFill>
                  <a:srgbClr val="000000"/>
                </a:solidFill>
                <a:latin typeface="Arial"/>
                <a:cs typeface="Arial"/>
                <a:sym typeface="Arial"/>
              </a:rPr>
              <a:t>-1 to +1</a:t>
            </a:r>
          </a:p>
        </p:txBody>
      </p:sp>
      <p:sp>
        <p:nvSpPr>
          <p:cNvPr id="9" name="Rectangle 8"/>
          <p:cNvSpPr/>
          <p:nvPr/>
        </p:nvSpPr>
        <p:spPr>
          <a:xfrm>
            <a:off x="1097280" y="2980792"/>
            <a:ext cx="6096000" cy="1816266"/>
          </a:xfrm>
          <a:prstGeom prst="rect">
            <a:avLst/>
          </a:prstGeom>
        </p:spPr>
        <p:txBody>
          <a:bodyPr>
            <a:spAutoFit/>
          </a:bodyPr>
          <a:lstStyle/>
          <a:p>
            <a:pPr defTabSz="1219170">
              <a:buClr>
                <a:srgbClr val="000000"/>
              </a:buClr>
            </a:pPr>
            <a:r>
              <a:rPr lang="en-US" sz="1867" b="1" kern="0" dirty="0">
                <a:solidFill>
                  <a:srgbClr val="000000"/>
                </a:solidFill>
                <a:latin typeface="Arial"/>
                <a:cs typeface="Arial"/>
                <a:sym typeface="Arial"/>
              </a:rPr>
              <a:t>Advantages:</a:t>
            </a:r>
          </a:p>
          <a:p>
            <a:pPr defTabSz="1219170">
              <a:buClr>
                <a:srgbClr val="000000"/>
              </a:buClr>
              <a:buFont typeface="Arial" panose="020B0604020202020204" pitchFamily="34" charset="0"/>
              <a:buChar char="•"/>
            </a:pPr>
            <a:r>
              <a:rPr lang="en-US" sz="1867" b="1" kern="0" dirty="0">
                <a:solidFill>
                  <a:srgbClr val="000000"/>
                </a:solidFill>
                <a:latin typeface="Arial"/>
                <a:cs typeface="Arial"/>
                <a:sym typeface="Arial"/>
              </a:rPr>
              <a:t>Zero-centered output</a:t>
            </a:r>
            <a:r>
              <a:rPr lang="en-US" sz="1867" kern="0" dirty="0">
                <a:solidFill>
                  <a:srgbClr val="000000"/>
                </a:solidFill>
                <a:latin typeface="Arial"/>
                <a:cs typeface="Arial"/>
                <a:sym typeface="Arial"/>
              </a:rPr>
              <a:t>.</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Stronger gradients than sigmoid.</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Vanishing gradient problem reduced (but not fully solved).</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Often used in hidden layers.</a:t>
            </a:r>
          </a:p>
        </p:txBody>
      </p:sp>
      <p:sp>
        <p:nvSpPr>
          <p:cNvPr id="10" name="Rectangle 9"/>
          <p:cNvSpPr/>
          <p:nvPr/>
        </p:nvSpPr>
        <p:spPr>
          <a:xfrm>
            <a:off x="927652" y="4827452"/>
            <a:ext cx="6096000" cy="1241622"/>
          </a:xfrm>
          <a:prstGeom prst="rect">
            <a:avLst/>
          </a:prstGeom>
        </p:spPr>
        <p:txBody>
          <a:bodyPr>
            <a:spAutoFit/>
          </a:bodyPr>
          <a:lstStyle/>
          <a:p>
            <a:pPr defTabSz="1219170">
              <a:buClr>
                <a:srgbClr val="000000"/>
              </a:buClr>
            </a:pPr>
            <a:r>
              <a:rPr lang="en-US" sz="1867" b="1" kern="0" dirty="0">
                <a:solidFill>
                  <a:srgbClr val="000000"/>
                </a:solidFill>
                <a:latin typeface="Arial"/>
                <a:cs typeface="Arial"/>
                <a:sym typeface="Arial"/>
              </a:rPr>
              <a:t>Disadvantages:</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Still suffers from </a:t>
            </a:r>
            <a:r>
              <a:rPr lang="en-US" sz="1867" b="1" kern="0" dirty="0">
                <a:solidFill>
                  <a:srgbClr val="000000"/>
                </a:solidFill>
                <a:latin typeface="Arial"/>
                <a:cs typeface="Arial"/>
                <a:sym typeface="Arial"/>
              </a:rPr>
              <a:t>vanishing gradient</a:t>
            </a:r>
            <a:r>
              <a:rPr lang="en-US" sz="1867" kern="0" dirty="0">
                <a:solidFill>
                  <a:srgbClr val="000000"/>
                </a:solidFill>
                <a:latin typeface="Arial"/>
                <a:cs typeface="Arial"/>
                <a:sym typeface="Arial"/>
              </a:rPr>
              <a:t> in deep networks.</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Uses exponential → computationally costly.</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Saturates at extreme values.</a:t>
            </a:r>
          </a:p>
        </p:txBody>
      </p:sp>
      <p:pic>
        <p:nvPicPr>
          <p:cNvPr id="11" name="Picture 10"/>
          <p:cNvPicPr>
            <a:picLocks noChangeAspect="1"/>
          </p:cNvPicPr>
          <p:nvPr/>
        </p:nvPicPr>
        <p:blipFill>
          <a:blip r:embed="rId3"/>
          <a:stretch>
            <a:fillRect/>
          </a:stretch>
        </p:blipFill>
        <p:spPr>
          <a:xfrm>
            <a:off x="6670957" y="3004273"/>
            <a:ext cx="5078047" cy="2814576"/>
          </a:xfrm>
          <a:prstGeom prst="rect">
            <a:avLst/>
          </a:prstGeom>
        </p:spPr>
      </p:pic>
    </p:spTree>
    <p:extLst>
      <p:ext uri="{BB962C8B-B14F-4D97-AF65-F5344CB8AC3E}">
        <p14:creationId xmlns:p14="http://schemas.microsoft.com/office/powerpoint/2010/main" val="114526569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B23E7-D724-BBBB-2126-980E1B141624}"/>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7080CB2C-833F-DB8D-C1F8-BA52A3A3EE16}"/>
              </a:ext>
            </a:extLst>
          </p:cNvPr>
          <p:cNvSpPr>
            <a:spLocks noGrp="1"/>
          </p:cNvSpPr>
          <p:nvPr>
            <p:ph type="dt" sz="half" idx="10"/>
          </p:nvPr>
        </p:nvSpPr>
        <p:spPr/>
        <p:txBody>
          <a:bodyPr/>
          <a:lstStyle/>
          <a:p>
            <a:pPr defTabSz="1219170">
              <a:buClr>
                <a:srgbClr val="000000"/>
              </a:buClr>
            </a:pPr>
            <a:fld id="{FFF2EC8D-A683-40FF-976B-B223B1D932A0}"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a:extLst>
              <a:ext uri="{FF2B5EF4-FFF2-40B4-BE49-F238E27FC236}">
                <a16:creationId xmlns:a16="http://schemas.microsoft.com/office/drawing/2014/main" id="{2964D2A7-2C67-6A3F-E755-837084B2E591}"/>
              </a:ext>
            </a:extLst>
          </p:cNvPr>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108</a:t>
            </a:fld>
            <a:endParaRPr lang="en-US" kern="0" dirty="0">
              <a:latin typeface="Arial"/>
              <a:cs typeface="Arial"/>
              <a:sym typeface="Arial"/>
            </a:endParaRPr>
          </a:p>
        </p:txBody>
      </p:sp>
      <p:sp>
        <p:nvSpPr>
          <p:cNvPr id="7" name="Title 1">
            <a:extLst>
              <a:ext uri="{FF2B5EF4-FFF2-40B4-BE49-F238E27FC236}">
                <a16:creationId xmlns:a16="http://schemas.microsoft.com/office/drawing/2014/main" id="{BCB8D31F-5EB4-451E-1BF7-39C19CA1D2BC}"/>
              </a:ext>
            </a:extLst>
          </p:cNvPr>
          <p:cNvSpPr>
            <a:spLocks noGrp="1"/>
          </p:cNvSpPr>
          <p:nvPr>
            <p:ph type="title"/>
          </p:nvPr>
        </p:nvSpPr>
        <p:spPr>
          <a:xfrm>
            <a:off x="1097280" y="286604"/>
            <a:ext cx="10058400" cy="794773"/>
          </a:xfrm>
        </p:spPr>
        <p:txBody>
          <a:bodyPr>
            <a:normAutofit/>
          </a:bodyPr>
          <a:lstStyle/>
          <a:p>
            <a:r>
              <a:rPr lang="en-US" b="1" dirty="0"/>
              <a:t>Tanh Function Example</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BB6E76F-C03F-5280-868B-098F4BA06D08}"/>
                  </a:ext>
                </a:extLst>
              </p:cNvPr>
              <p:cNvSpPr txBox="1"/>
              <p:nvPr/>
            </p:nvSpPr>
            <p:spPr>
              <a:xfrm>
                <a:off x="1021080" y="1501952"/>
                <a:ext cx="10398034" cy="3693319"/>
              </a:xfrm>
              <a:prstGeom prst="rect">
                <a:avLst/>
              </a:prstGeom>
              <a:noFill/>
            </p:spPr>
            <p:txBody>
              <a:bodyPr wrap="square">
                <a:spAutoFit/>
              </a:bodyPr>
              <a:lstStyle/>
              <a:p>
                <a:pPr>
                  <a:buNone/>
                </a:pPr>
                <a:r>
                  <a:rPr lang="en-IN" dirty="0">
                    <a:effectLst/>
                    <a:latin typeface="Google Sans Text"/>
                  </a:rPr>
                  <a:t>Suppose a single-neuron model evaluates customer product reviews based on two extracted features:</a:t>
                </a:r>
              </a:p>
              <a:p>
                <a:pPr marL="342900" lvl="0" indent="-342900">
                  <a:buFont typeface="Arial" panose="020B0604020202020204" pitchFamily="34" charset="0"/>
                  <a:buChar char="•"/>
                </a:pP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0">
                            <a:latin typeface="Cambria Math" panose="02040503050406030204" pitchFamily="18" charset="0"/>
                          </a:rPr>
                          <m:t>1</m:t>
                        </m:r>
                      </m:sub>
                    </m:sSub>
                  </m:oMath>
                </a14:m>
                <a:r>
                  <a:rPr lang="en-IN" dirty="0">
                    <a:effectLst/>
                    <a:latin typeface="Google Sans Text"/>
                  </a:rPr>
                  <a:t>: Count of positive words (e.g., </a:t>
                </a:r>
                <a:r>
                  <a:rPr lang="en-IN" i="1" dirty="0">
                    <a:effectLst/>
                    <a:latin typeface="Google Sans Text"/>
                  </a:rPr>
                  <a:t>"excellent"</a:t>
                </a:r>
                <a:r>
                  <a:rPr lang="en-IN" dirty="0">
                    <a:effectLst/>
                    <a:latin typeface="Google Sans Text"/>
                  </a:rPr>
                  <a:t>, </a:t>
                </a:r>
                <a:r>
                  <a:rPr lang="en-IN" i="1" dirty="0">
                    <a:effectLst/>
                    <a:latin typeface="Google Sans Text"/>
                  </a:rPr>
                  <a:t>"love"</a:t>
                </a:r>
                <a:r>
                  <a:rPr lang="en-IN" dirty="0">
                    <a:effectLst/>
                    <a:latin typeface="Google Sans Text"/>
                  </a:rPr>
                  <a:t>)</a:t>
                </a:r>
              </a:p>
              <a:p>
                <a:pPr marL="342900" lvl="0" indent="-342900">
                  <a:buFont typeface="Arial" panose="020B0604020202020204" pitchFamily="34" charset="0"/>
                  <a:buChar char="•"/>
                </a:pP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i="0">
                            <a:latin typeface="Cambria Math" panose="02040503050406030204" pitchFamily="18" charset="0"/>
                          </a:rPr>
                          <m:t>2</m:t>
                        </m:r>
                      </m:sub>
                    </m:sSub>
                  </m:oMath>
                </a14:m>
                <a:r>
                  <a:rPr lang="en-IN" dirty="0">
                    <a:effectLst/>
                    <a:latin typeface="Google Sans Text"/>
                  </a:rPr>
                  <a:t>: Count of negative words (e.g., </a:t>
                </a:r>
                <a:r>
                  <a:rPr lang="en-IN" i="1" dirty="0">
                    <a:effectLst/>
                    <a:latin typeface="Google Sans Text"/>
                  </a:rPr>
                  <a:t>"terrible"</a:t>
                </a:r>
                <a:r>
                  <a:rPr lang="en-IN" dirty="0">
                    <a:effectLst/>
                    <a:latin typeface="Google Sans Text"/>
                  </a:rPr>
                  <a:t>, </a:t>
                </a:r>
                <a:r>
                  <a:rPr lang="en-IN" i="1" dirty="0">
                    <a:effectLst/>
                    <a:latin typeface="Google Sans Text"/>
                  </a:rPr>
                  <a:t>"broken"</a:t>
                </a:r>
                <a:r>
                  <a:rPr lang="en-IN" dirty="0">
                    <a:effectLst/>
                    <a:latin typeface="Google Sans Text"/>
                  </a:rPr>
                  <a:t>)</a:t>
                </a:r>
              </a:p>
              <a:p>
                <a:pPr>
                  <a:buNone/>
                </a:pPr>
                <a:r>
                  <a:rPr lang="en-IN" b="1" dirty="0">
                    <a:effectLst/>
                    <a:latin typeface="Google Sans"/>
                  </a:rPr>
                  <a:t>Model Parameters</a:t>
                </a:r>
              </a:p>
              <a:p>
                <a:pPr marL="342900" lvl="0" indent="-342900">
                  <a:buFont typeface="Arial" panose="020B0604020202020204" pitchFamily="34" charset="0"/>
                  <a:buChar char="•"/>
                </a:pP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i="0">
                            <a:latin typeface="Cambria Math" panose="02040503050406030204" pitchFamily="18" charset="0"/>
                          </a:rPr>
                          <m:t>1</m:t>
                        </m:r>
                      </m:sub>
                    </m:sSub>
                    <m:r>
                      <a:rPr lang="en-IN" i="0">
                        <a:latin typeface="Cambria Math" panose="02040503050406030204" pitchFamily="18" charset="0"/>
                      </a:rPr>
                      <m:t>=+1.5</m:t>
                    </m:r>
                  </m:oMath>
                </a14:m>
                <a:r>
                  <a:rPr lang="en-IN" dirty="0">
                    <a:effectLst/>
                    <a:latin typeface="Google Sans Text"/>
                  </a:rPr>
                  <a:t>(Weight for positive words)</a:t>
                </a:r>
              </a:p>
              <a:p>
                <a:pPr marL="342900" lvl="0" indent="-342900">
                  <a:buFont typeface="Arial" panose="020B0604020202020204" pitchFamily="34" charset="0"/>
                  <a:buChar char="•"/>
                </a:pP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i="0">
                            <a:latin typeface="Cambria Math" panose="02040503050406030204" pitchFamily="18" charset="0"/>
                          </a:rPr>
                          <m:t>2</m:t>
                        </m:r>
                      </m:sub>
                    </m:sSub>
                    <m:r>
                      <a:rPr lang="en-IN" i="0">
                        <a:latin typeface="Cambria Math" panose="02040503050406030204" pitchFamily="18" charset="0"/>
                      </a:rPr>
                      <m:t>=−2.0</m:t>
                    </m:r>
                  </m:oMath>
                </a14:m>
                <a:r>
                  <a:rPr lang="en-IN" dirty="0">
                    <a:effectLst/>
                    <a:latin typeface="Google Sans Text"/>
                  </a:rPr>
                  <a:t>(Weight for negative words)</a:t>
                </a:r>
              </a:p>
              <a:p>
                <a:pPr marL="342900" lvl="0" indent="-342900">
                  <a:buFont typeface="Arial" panose="020B0604020202020204" pitchFamily="34" charset="0"/>
                  <a:buChar char="•"/>
                </a:pPr>
                <a14:m>
                  <m:oMath xmlns:m="http://schemas.openxmlformats.org/officeDocument/2006/math">
                    <m:r>
                      <a:rPr lang="en-IN" i="1" smtClean="0">
                        <a:latin typeface="Cambria Math" panose="02040503050406030204" pitchFamily="18" charset="0"/>
                      </a:rPr>
                      <m:t>𝑏</m:t>
                    </m:r>
                    <m:r>
                      <a:rPr lang="en-IN" i="0">
                        <a:latin typeface="Cambria Math" panose="02040503050406030204" pitchFamily="18" charset="0"/>
                      </a:rPr>
                      <m:t>=0.0</m:t>
                    </m:r>
                  </m:oMath>
                </a14:m>
                <a:r>
                  <a:rPr lang="en-IN" dirty="0">
                    <a:effectLst/>
                    <a:latin typeface="Google Sans Text"/>
                  </a:rPr>
                  <a:t>(Neutral baseline)</a:t>
                </a:r>
              </a:p>
              <a:p>
                <a:pPr marL="342900" lvl="0" indent="-342900">
                  <a:buFont typeface="Arial" panose="020B0604020202020204" pitchFamily="34" charset="0"/>
                  <a:buChar char="•"/>
                </a:pPr>
                <a:endParaRPr lang="en-IN" dirty="0">
                  <a:latin typeface="Google Sans Text"/>
                </a:endParaRPr>
              </a:p>
              <a:p>
                <a:pPr marL="342900" lvl="0" indent="-342900">
                  <a:buFont typeface="Arial" panose="020B0604020202020204" pitchFamily="34" charset="0"/>
                  <a:buChar char="•"/>
                </a:pPr>
                <a:r>
                  <a:rPr lang="en-IN" b="1" u="sng" dirty="0">
                    <a:effectLst/>
                    <a:latin typeface="Google Sans Text"/>
                  </a:rPr>
                  <a:t>Check Positive or Negative Statement:</a:t>
                </a:r>
              </a:p>
              <a:p>
                <a:pPr marL="342900" indent="-342900">
                  <a:buFont typeface="Arial" panose="020B0604020202020204" pitchFamily="34" charset="0"/>
                  <a:buChar char="•"/>
                </a:pPr>
                <a:r>
                  <a:rPr lang="en-IN" b="1" dirty="0"/>
                  <a:t>Review A: "Great product, I love it!"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=2</m:t>
                    </m:r>
                    <m:r>
                      <m:rPr>
                        <m:nor/>
                      </m:rPr>
                      <a:rPr lang="en-IN" i="0"/>
                      <m:t> positive words</m:t>
                    </m:r>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=0</m:t>
                    </m:r>
                    <m:r>
                      <m:rPr>
                        <m:nor/>
                      </m:rPr>
                      <a:rPr lang="en-IN" i="0"/>
                      <m:t> negative words</m:t>
                    </m:r>
                  </m:oMath>
                </a14:m>
                <a:r>
                  <a:rPr lang="en-IN" b="1" dirty="0"/>
                  <a:t>)</a:t>
                </a:r>
              </a:p>
              <a:p>
                <a:pPr marL="342900" indent="-342900">
                  <a:buFont typeface="Arial" panose="020B0604020202020204" pitchFamily="34" charset="0"/>
                  <a:buChar char="•"/>
                </a:pPr>
                <a:r>
                  <a:rPr lang="en-IN" b="1" dirty="0"/>
                  <a:t>Review B: "Arrived broken and terrible quality."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=0</m:t>
                    </m:r>
                    <m:r>
                      <m:rPr>
                        <m:nor/>
                      </m:rPr>
                      <a:rPr lang="en-IN" i="0"/>
                      <m:t> positive words</m:t>
                    </m:r>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=2</m:t>
                    </m:r>
                    <m:r>
                      <m:rPr>
                        <m:nor/>
                      </m:rPr>
                      <a:rPr lang="en-IN" i="0"/>
                      <m:t> negative words</m:t>
                    </m:r>
                  </m:oMath>
                </a14:m>
                <a:r>
                  <a:rPr lang="en-IN" b="1" dirty="0"/>
                  <a:t>)</a:t>
                </a:r>
              </a:p>
              <a:p>
                <a:pPr marL="342900" indent="-342900">
                  <a:buFont typeface="Arial" panose="020B0604020202020204" pitchFamily="34" charset="0"/>
                  <a:buChar char="•"/>
                </a:pPr>
                <a:endParaRPr lang="en-IN" b="1" dirty="0"/>
              </a:p>
              <a:p>
                <a:pPr marL="342900" lvl="0" indent="-342900">
                  <a:buFont typeface="Arial" panose="020B0604020202020204" pitchFamily="34" charset="0"/>
                  <a:buChar char="•"/>
                </a:pPr>
                <a:endParaRPr lang="en-IN" dirty="0">
                  <a:effectLst/>
                  <a:latin typeface="Google Sans Text"/>
                </a:endParaRPr>
              </a:p>
            </p:txBody>
          </p:sp>
        </mc:Choice>
        <mc:Fallback xmlns="">
          <p:sp>
            <p:nvSpPr>
              <p:cNvPr id="12" name="TextBox 11">
                <a:extLst>
                  <a:ext uri="{FF2B5EF4-FFF2-40B4-BE49-F238E27FC236}">
                    <a16:creationId xmlns:a16="http://schemas.microsoft.com/office/drawing/2014/main" id="{3BB6E76F-C03F-5280-868B-098F4BA06D08}"/>
                  </a:ext>
                </a:extLst>
              </p:cNvPr>
              <p:cNvSpPr txBox="1">
                <a:spLocks noRot="1" noChangeAspect="1" noMove="1" noResize="1" noEditPoints="1" noAdjustHandles="1" noChangeArrowheads="1" noChangeShapeType="1" noTextEdit="1"/>
              </p:cNvSpPr>
              <p:nvPr/>
            </p:nvSpPr>
            <p:spPr>
              <a:xfrm>
                <a:off x="1021080" y="1501952"/>
                <a:ext cx="10398034" cy="3693319"/>
              </a:xfrm>
              <a:prstGeom prst="rect">
                <a:avLst/>
              </a:prstGeom>
              <a:blipFill>
                <a:blip r:embed="rId2"/>
                <a:stretch>
                  <a:fillRect l="-528" t="-825"/>
                </a:stretch>
              </a:blipFill>
            </p:spPr>
            <p:txBody>
              <a:bodyPr/>
              <a:lstStyle/>
              <a:p>
                <a:r>
                  <a:rPr lang="en-IN">
                    <a:noFill/>
                  </a:rPr>
                  <a:t> </a:t>
                </a:r>
              </a:p>
            </p:txBody>
          </p:sp>
        </mc:Fallback>
      </mc:AlternateContent>
    </p:spTree>
    <p:extLst>
      <p:ext uri="{BB962C8B-B14F-4D97-AF65-F5344CB8AC3E}">
        <p14:creationId xmlns:p14="http://schemas.microsoft.com/office/powerpoint/2010/main" val="62018618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55118-6A00-669F-7C55-59F6E60EDE42}"/>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277D6B-5E8B-131E-5A51-009C184BB4B4}"/>
                  </a:ext>
                </a:extLst>
              </p:cNvPr>
              <p:cNvSpPr>
                <a:spLocks noGrp="1"/>
              </p:cNvSpPr>
              <p:nvPr>
                <p:ph idx="1"/>
              </p:nvPr>
            </p:nvSpPr>
            <p:spPr>
              <a:xfrm>
                <a:off x="1066800" y="1541329"/>
                <a:ext cx="10058400" cy="4489819"/>
              </a:xfrm>
            </p:spPr>
            <p:txBody>
              <a:bodyPr>
                <a:normAutofit/>
              </a:bodyPr>
              <a:lstStyle/>
              <a:p>
                <a:r>
                  <a:rPr lang="en-IN" b="1" dirty="0"/>
                  <a:t>Review A: "Great product, I love it!"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=2</m:t>
                    </m:r>
                    <m:r>
                      <m:rPr>
                        <m:nor/>
                      </m:rPr>
                      <a:rPr lang="en-IN" i="0"/>
                      <m:t> positive words</m:t>
                    </m:r>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=0</m:t>
                    </m:r>
                    <m:r>
                      <m:rPr>
                        <m:nor/>
                      </m:rPr>
                      <a:rPr lang="en-IN" i="0"/>
                      <m:t> negative words</m:t>
                    </m:r>
                  </m:oMath>
                </a14:m>
                <a:r>
                  <a:rPr lang="en-IN" b="1" dirty="0"/>
                  <a:t>)</a:t>
                </a:r>
              </a:p>
              <a:p>
                <a:r>
                  <a:rPr lang="en-IN" b="1" dirty="0"/>
                  <a:t>Step 1: Calculate Linear Combination (</a:t>
                </a:r>
                <a14:m>
                  <m:oMath xmlns:m="http://schemas.openxmlformats.org/officeDocument/2006/math">
                    <m:r>
                      <a:rPr lang="en-IN" i="1">
                        <a:latin typeface="Cambria Math" panose="02040503050406030204" pitchFamily="18" charset="0"/>
                      </a:rPr>
                      <m:t>𝑧</m:t>
                    </m:r>
                  </m:oMath>
                </a14:m>
                <a:r>
                  <a:rPr lang="en-IN" b="1" dirty="0"/>
                  <a:t>)</a:t>
                </a:r>
              </a:p>
              <a:p>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1</m:t>
                        </m:r>
                      </m:sub>
                    </m:sSub>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2</m:t>
                        </m:r>
                      </m:sub>
                    </m:sSub>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m:t>
                    </m:r>
                    <m:r>
                      <a:rPr lang="en-IN" i="1">
                        <a:latin typeface="Cambria Math" panose="02040503050406030204" pitchFamily="18" charset="0"/>
                      </a:rPr>
                      <m:t>𝑏</m:t>
                    </m:r>
                  </m:oMath>
                </a14:m>
                <a:endParaRPr lang="en-IN" dirty="0"/>
              </a:p>
              <a:p>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1.5×2</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−2.0×0</m:t>
                        </m:r>
                      </m:e>
                    </m:d>
                    <m:r>
                      <a:rPr lang="en-IN">
                        <a:latin typeface="Cambria Math" panose="02040503050406030204" pitchFamily="18" charset="0"/>
                      </a:rPr>
                      <m:t>+0.0=+</m:t>
                    </m:r>
                    <m:r>
                      <a:rPr lang="en-IN" b="1">
                        <a:latin typeface="Cambria Math" panose="02040503050406030204" pitchFamily="18" charset="0"/>
                      </a:rPr>
                      <m:t>𝟑</m:t>
                    </m:r>
                    <m:r>
                      <a:rPr lang="en-IN">
                        <a:latin typeface="Cambria Math" panose="02040503050406030204" pitchFamily="18" charset="0"/>
                      </a:rPr>
                      <m:t>.</m:t>
                    </m:r>
                    <m:r>
                      <a:rPr lang="en-IN" b="1">
                        <a:latin typeface="Cambria Math" panose="02040503050406030204" pitchFamily="18" charset="0"/>
                      </a:rPr>
                      <m:t>𝟎</m:t>
                    </m:r>
                  </m:oMath>
                </a14:m>
                <a:endParaRPr lang="en-IN" dirty="0"/>
              </a:p>
              <a:p>
                <a:r>
                  <a:rPr lang="en-IN" b="1" dirty="0"/>
                  <a:t>Step 2: Apply Tanh Activation Function</a:t>
                </a:r>
              </a:p>
              <a:p>
                <a14:m>
                  <m:oMath xmlns:m="http://schemas.openxmlformats.org/officeDocument/2006/math">
                    <m:func>
                      <m:funcPr>
                        <m:ctrlPr>
                          <a:rPr lang="en-IN">
                            <a:latin typeface="Cambria Math" panose="02040503050406030204" pitchFamily="18" charset="0"/>
                          </a:rPr>
                        </m:ctrlPr>
                      </m:funcPr>
                      <m:fName>
                        <m:r>
                          <m:rPr>
                            <m:sty m:val="p"/>
                          </m:rPr>
                          <a:rPr lang="en-IN">
                            <a:latin typeface="Cambria Math" panose="02040503050406030204" pitchFamily="18" charset="0"/>
                          </a:rPr>
                          <m:t>tanh</m:t>
                        </m:r>
                      </m:fName>
                      <m:e>
                        <m:d>
                          <m:dPr>
                            <m:ctrlPr>
                              <a:rPr lang="en-IN">
                                <a:latin typeface="Cambria Math" panose="02040503050406030204" pitchFamily="18" charset="0"/>
                              </a:rPr>
                            </m:ctrlPr>
                          </m:dPr>
                          <m:e>
                            <m:r>
                              <a:rPr lang="en-IN">
                                <a:latin typeface="Cambria Math" panose="02040503050406030204" pitchFamily="18" charset="0"/>
                              </a:rPr>
                              <m:t>3.0</m:t>
                            </m:r>
                          </m:e>
                        </m:d>
                      </m:e>
                    </m:func>
                    <m:r>
                      <a:rPr lang="en-IN">
                        <a:latin typeface="Cambria Math" panose="02040503050406030204" pitchFamily="18" charset="0"/>
                      </a:rPr>
                      <m:t>=</m:t>
                    </m:r>
                    <m:f>
                      <m:fPr>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3.0</m:t>
                            </m:r>
                          </m:sup>
                        </m:sSup>
                        <m:r>
                          <a:rPr lang="en-IN">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−3.0</m:t>
                            </m:r>
                          </m:sup>
                        </m:sSup>
                      </m:num>
                      <m:den>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3.0</m:t>
                            </m:r>
                          </m:sup>
                        </m:sSup>
                        <m:r>
                          <a:rPr lang="en-IN">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−3.0</m:t>
                            </m:r>
                          </m:sup>
                        </m:sSup>
                      </m:den>
                    </m:f>
                  </m:oMath>
                </a14:m>
                <a:endParaRPr lang="en-IN" dirty="0"/>
              </a:p>
              <a:p>
                <a:pPr lvl="0"/>
                <a:r>
                  <a:rPr lang="en-IN" dirty="0"/>
                  <a:t>Since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3.0</m:t>
                        </m:r>
                      </m:sup>
                    </m:sSup>
                    <m:r>
                      <a:rPr lang="en-IN">
                        <a:latin typeface="Cambria Math" panose="02040503050406030204" pitchFamily="18" charset="0"/>
                      </a:rPr>
                      <m:t>≈20.0855</m:t>
                    </m:r>
                  </m:oMath>
                </a14:m>
                <a:r>
                  <a:rPr lang="en-IN" dirty="0"/>
                  <a:t>and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−3.0</m:t>
                        </m:r>
                      </m:sup>
                    </m:sSup>
                    <m:r>
                      <a:rPr lang="en-IN">
                        <a:latin typeface="Cambria Math" panose="02040503050406030204" pitchFamily="18" charset="0"/>
                      </a:rPr>
                      <m:t>≈0.0498</m:t>
                    </m:r>
                  </m:oMath>
                </a14:m>
                <a:r>
                  <a:rPr lang="en-IN" dirty="0"/>
                  <a:t>:</a:t>
                </a:r>
              </a:p>
              <a:p>
                <a:pPr lvl="0"/>
                <a14:m>
                  <m:oMath xmlns:m="http://schemas.openxmlformats.org/officeDocument/2006/math">
                    <m:func>
                      <m:funcPr>
                        <m:ctrlPr>
                          <a:rPr lang="en-IN">
                            <a:latin typeface="Cambria Math" panose="02040503050406030204" pitchFamily="18" charset="0"/>
                          </a:rPr>
                        </m:ctrlPr>
                      </m:funcPr>
                      <m:fName>
                        <m:r>
                          <m:rPr>
                            <m:sty m:val="p"/>
                          </m:rPr>
                          <a:rPr lang="en-IN">
                            <a:latin typeface="Cambria Math" panose="02040503050406030204" pitchFamily="18" charset="0"/>
                          </a:rPr>
                          <m:t>tanh</m:t>
                        </m:r>
                      </m:fName>
                      <m:e>
                        <m:d>
                          <m:dPr>
                            <m:ctrlPr>
                              <a:rPr lang="en-IN">
                                <a:latin typeface="Cambria Math" panose="02040503050406030204" pitchFamily="18" charset="0"/>
                              </a:rPr>
                            </m:ctrlPr>
                          </m:dPr>
                          <m:e>
                            <m:r>
                              <a:rPr lang="en-IN">
                                <a:latin typeface="Cambria Math" panose="02040503050406030204" pitchFamily="18" charset="0"/>
                              </a:rPr>
                              <m:t>3.0</m:t>
                            </m:r>
                          </m:e>
                        </m:d>
                      </m:e>
                    </m:func>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20.0855−0.0498</m:t>
                        </m:r>
                      </m:num>
                      <m:den>
                        <m:r>
                          <a:rPr lang="en-IN">
                            <a:latin typeface="Cambria Math" panose="02040503050406030204" pitchFamily="18" charset="0"/>
                          </a:rPr>
                          <m:t>20.0855+0.0498</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20.0357</m:t>
                        </m:r>
                      </m:num>
                      <m:den>
                        <m:r>
                          <a:rPr lang="en-IN">
                            <a:latin typeface="Cambria Math" panose="02040503050406030204" pitchFamily="18" charset="0"/>
                          </a:rPr>
                          <m:t>20.1353</m:t>
                        </m:r>
                      </m:den>
                    </m:f>
                    <m:r>
                      <a:rPr lang="en-IN">
                        <a:latin typeface="Cambria Math" panose="02040503050406030204" pitchFamily="18" charset="0"/>
                      </a:rPr>
                      <m:t>≈+</m:t>
                    </m:r>
                    <m:r>
                      <a:rPr lang="en-IN" b="1">
                        <a:latin typeface="Cambria Math" panose="02040503050406030204" pitchFamily="18" charset="0"/>
                      </a:rPr>
                      <m:t>𝟎</m:t>
                    </m:r>
                    <m:r>
                      <a:rPr lang="en-IN">
                        <a:latin typeface="Cambria Math" panose="02040503050406030204" pitchFamily="18" charset="0"/>
                      </a:rPr>
                      <m:t>.</m:t>
                    </m:r>
                    <m:r>
                      <a:rPr lang="en-IN" b="1">
                        <a:latin typeface="Cambria Math" panose="02040503050406030204" pitchFamily="18" charset="0"/>
                      </a:rPr>
                      <m:t>𝟗𝟗𝟓</m:t>
                    </m:r>
                  </m:oMath>
                </a14:m>
                <a:endParaRPr lang="en-IN" dirty="0"/>
              </a:p>
              <a:p>
                <a:pPr lvl="0"/>
                <a:r>
                  <a:rPr lang="en-IN" b="1" dirty="0"/>
                  <a:t>Output (+0.995):</a:t>
                </a:r>
                <a:r>
                  <a:rPr lang="en-IN" dirty="0"/>
                  <a:t> Strongly </a:t>
                </a:r>
                <a:r>
                  <a:rPr lang="en-IN" b="1" dirty="0"/>
                  <a:t>Positive Sentiment</a:t>
                </a:r>
                <a:r>
                  <a:rPr lang="en-IN" dirty="0"/>
                  <a:t>.</a:t>
                </a:r>
              </a:p>
              <a:p>
                <a:endParaRPr lang="en-IN" dirty="0"/>
              </a:p>
            </p:txBody>
          </p:sp>
        </mc:Choice>
        <mc:Fallback xmlns="">
          <p:sp>
            <p:nvSpPr>
              <p:cNvPr id="3" name="Content Placeholder 2">
                <a:extLst>
                  <a:ext uri="{FF2B5EF4-FFF2-40B4-BE49-F238E27FC236}">
                    <a16:creationId xmlns:a16="http://schemas.microsoft.com/office/drawing/2014/main" id="{F4277D6B-5E8B-131E-5A51-009C184BB4B4}"/>
                  </a:ext>
                </a:extLst>
              </p:cNvPr>
              <p:cNvSpPr>
                <a:spLocks noGrp="1" noRot="1" noChangeAspect="1" noMove="1" noResize="1" noEditPoints="1" noAdjustHandles="1" noChangeArrowheads="1" noChangeShapeType="1" noTextEdit="1"/>
              </p:cNvSpPr>
              <p:nvPr>
                <p:ph idx="1"/>
              </p:nvPr>
            </p:nvSpPr>
            <p:spPr>
              <a:xfrm>
                <a:off x="1066800" y="1541329"/>
                <a:ext cx="10058400" cy="4489819"/>
              </a:xfrm>
              <a:blipFill>
                <a:blip r:embed="rId2"/>
                <a:stretch>
                  <a:fillRect l="-1515" t="-1495"/>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FB455E91-6846-D582-602D-9A78E13EBC99}"/>
              </a:ext>
            </a:extLst>
          </p:cNvPr>
          <p:cNvSpPr>
            <a:spLocks noGrp="1"/>
          </p:cNvSpPr>
          <p:nvPr>
            <p:ph type="dt" sz="half" idx="10"/>
          </p:nvPr>
        </p:nvSpPr>
        <p:spPr/>
        <p:txBody>
          <a:bodyPr/>
          <a:lstStyle/>
          <a:p>
            <a:pPr defTabSz="1219170">
              <a:buClr>
                <a:srgbClr val="000000"/>
              </a:buClr>
            </a:pPr>
            <a:fld id="{ED2BA43E-C2D3-45F6-8EA4-498DC871DBD1}" type="datetime1">
              <a:rPr lang="en-US" kern="0" smtClean="0">
                <a:latin typeface="Arial"/>
                <a:cs typeface="Arial"/>
                <a:sym typeface="Arial"/>
              </a:rPr>
              <a:t>04-Aug-26</a:t>
            </a:fld>
            <a:endParaRPr lang="en-US" kern="0" dirty="0">
              <a:latin typeface="Arial"/>
              <a:cs typeface="Arial"/>
              <a:sym typeface="Arial"/>
            </a:endParaRPr>
          </a:p>
        </p:txBody>
      </p:sp>
      <p:sp>
        <p:nvSpPr>
          <p:cNvPr id="5" name="Slide Number Placeholder 4">
            <a:extLst>
              <a:ext uri="{FF2B5EF4-FFF2-40B4-BE49-F238E27FC236}">
                <a16:creationId xmlns:a16="http://schemas.microsoft.com/office/drawing/2014/main" id="{8F9665FE-C204-29C1-6666-F2EDBA053473}"/>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109</a:t>
            </a:fld>
            <a:endParaRPr lang="en-US" kern="0" dirty="0">
              <a:latin typeface="Arial"/>
              <a:cs typeface="Arial"/>
              <a:sym typeface="Arial"/>
            </a:endParaRPr>
          </a:p>
        </p:txBody>
      </p:sp>
    </p:spTree>
    <p:extLst>
      <p:ext uri="{BB962C8B-B14F-4D97-AF65-F5344CB8AC3E}">
        <p14:creationId xmlns:p14="http://schemas.microsoft.com/office/powerpoint/2010/main" val="2282115240"/>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BCB12-080C-6496-1073-8B252A63C050}"/>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F9A86B4-4E81-7767-92D1-FC68253215B4}"/>
                  </a:ext>
                </a:extLst>
              </p:cNvPr>
              <p:cNvSpPr>
                <a:spLocks noGrp="1"/>
              </p:cNvSpPr>
              <p:nvPr>
                <p:ph idx="1"/>
              </p:nvPr>
            </p:nvSpPr>
            <p:spPr>
              <a:xfrm>
                <a:off x="1066800" y="1628878"/>
                <a:ext cx="10058400" cy="4382815"/>
              </a:xfrm>
            </p:spPr>
            <p:txBody>
              <a:bodyPr>
                <a:normAutofit/>
              </a:bodyPr>
              <a:lstStyle/>
              <a:p>
                <a:r>
                  <a:rPr lang="en-IN" b="1" dirty="0"/>
                  <a:t>Review B: "Arrived broken and terrible quality."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=0</m:t>
                    </m:r>
                    <m:r>
                      <m:rPr>
                        <m:nor/>
                      </m:rPr>
                      <a:rPr lang="en-IN" i="0"/>
                      <m:t> positive words</m:t>
                    </m:r>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=2</m:t>
                    </m:r>
                    <m:r>
                      <m:rPr>
                        <m:nor/>
                      </m:rPr>
                      <a:rPr lang="en-IN" i="0"/>
                      <m:t> negative words</m:t>
                    </m:r>
                  </m:oMath>
                </a14:m>
                <a:r>
                  <a:rPr lang="en-IN" b="1" dirty="0"/>
                  <a:t>)</a:t>
                </a:r>
              </a:p>
              <a:p>
                <a:r>
                  <a:rPr lang="en-IN" b="1" dirty="0"/>
                  <a:t>Step 1: Calculate Linear Combination (</a:t>
                </a:r>
                <a14:m>
                  <m:oMath xmlns:m="http://schemas.openxmlformats.org/officeDocument/2006/math">
                    <m:r>
                      <a:rPr lang="en-IN" i="1">
                        <a:latin typeface="Cambria Math" panose="02040503050406030204" pitchFamily="18" charset="0"/>
                      </a:rPr>
                      <m:t>𝑧</m:t>
                    </m:r>
                  </m:oMath>
                </a14:m>
                <a:r>
                  <a:rPr lang="en-IN" b="1" dirty="0"/>
                  <a:t>)</a:t>
                </a:r>
              </a:p>
              <a:p>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1.5×0</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−2.0×2</m:t>
                        </m:r>
                      </m:e>
                    </m:d>
                    <m:r>
                      <a:rPr lang="en-IN">
                        <a:latin typeface="Cambria Math" panose="02040503050406030204" pitchFamily="18" charset="0"/>
                      </a:rPr>
                      <m:t>+0.0=−</m:t>
                    </m:r>
                    <m:r>
                      <a:rPr lang="en-IN" b="1">
                        <a:latin typeface="Cambria Math" panose="02040503050406030204" pitchFamily="18" charset="0"/>
                      </a:rPr>
                      <m:t>𝟒</m:t>
                    </m:r>
                    <m:r>
                      <a:rPr lang="en-IN">
                        <a:latin typeface="Cambria Math" panose="02040503050406030204" pitchFamily="18" charset="0"/>
                      </a:rPr>
                      <m:t>.</m:t>
                    </m:r>
                    <m:r>
                      <a:rPr lang="en-IN" b="1">
                        <a:latin typeface="Cambria Math" panose="02040503050406030204" pitchFamily="18" charset="0"/>
                      </a:rPr>
                      <m:t>𝟎</m:t>
                    </m:r>
                  </m:oMath>
                </a14:m>
                <a:endParaRPr lang="en-IN" dirty="0"/>
              </a:p>
              <a:p>
                <a:r>
                  <a:rPr lang="en-IN" b="1" dirty="0"/>
                  <a:t>Step 2: Apply Tanh Activation Function</a:t>
                </a:r>
              </a:p>
              <a:p>
                <a14:m>
                  <m:oMath xmlns:m="http://schemas.openxmlformats.org/officeDocument/2006/math">
                    <m:func>
                      <m:funcPr>
                        <m:ctrlPr>
                          <a:rPr lang="en-IN">
                            <a:latin typeface="Cambria Math" panose="02040503050406030204" pitchFamily="18" charset="0"/>
                          </a:rPr>
                        </m:ctrlPr>
                      </m:funcPr>
                      <m:fName>
                        <m:r>
                          <m:rPr>
                            <m:sty m:val="p"/>
                          </m:rPr>
                          <a:rPr lang="en-IN">
                            <a:latin typeface="Cambria Math" panose="02040503050406030204" pitchFamily="18" charset="0"/>
                          </a:rPr>
                          <m:t>tanh</m:t>
                        </m:r>
                      </m:fName>
                      <m:e>
                        <m:d>
                          <m:dPr>
                            <m:ctrlPr>
                              <a:rPr lang="en-IN">
                                <a:latin typeface="Cambria Math" panose="02040503050406030204" pitchFamily="18" charset="0"/>
                              </a:rPr>
                            </m:ctrlPr>
                          </m:dPr>
                          <m:e>
                            <m:r>
                              <a:rPr lang="en-IN">
                                <a:latin typeface="Cambria Math" panose="02040503050406030204" pitchFamily="18" charset="0"/>
                              </a:rPr>
                              <m:t>−4.0</m:t>
                            </m:r>
                          </m:e>
                        </m:d>
                      </m:e>
                    </m:func>
                    <m:r>
                      <a:rPr lang="en-IN">
                        <a:latin typeface="Cambria Math" panose="02040503050406030204" pitchFamily="18" charset="0"/>
                      </a:rPr>
                      <m:t>=</m:t>
                    </m:r>
                    <m:f>
                      <m:fPr>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−4.0</m:t>
                            </m:r>
                          </m:sup>
                        </m:sSup>
                        <m:r>
                          <a:rPr lang="en-IN">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−4.0</m:t>
                                </m:r>
                              </m:e>
                            </m:d>
                          </m:sup>
                        </m:sSup>
                      </m:num>
                      <m:den>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−4.0</m:t>
                            </m:r>
                          </m:sup>
                        </m:sSup>
                        <m:r>
                          <a:rPr lang="en-IN">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−4.0</m:t>
                                </m:r>
                              </m:e>
                            </m:d>
                          </m:sup>
                        </m:sSup>
                      </m:den>
                    </m:f>
                    <m:r>
                      <a:rPr lang="en-IN">
                        <a:latin typeface="Cambria Math" panose="02040503050406030204" pitchFamily="18" charset="0"/>
                      </a:rPr>
                      <m:t>=</m:t>
                    </m:r>
                    <m:f>
                      <m:fPr>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−4.0</m:t>
                            </m:r>
                          </m:sup>
                        </m:sSup>
                        <m:r>
                          <a:rPr lang="en-IN">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4.0</m:t>
                            </m:r>
                          </m:sup>
                        </m:sSup>
                      </m:num>
                      <m:den>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−4.0</m:t>
                            </m:r>
                          </m:sup>
                        </m:sSup>
                        <m:r>
                          <a:rPr lang="en-IN">
                            <a:latin typeface="Cambria Math" panose="02040503050406030204" pitchFamily="18" charset="0"/>
                          </a:rPr>
                          <m:t>+</m:t>
                        </m:r>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4.0</m:t>
                            </m:r>
                          </m:sup>
                        </m:sSup>
                      </m:den>
                    </m:f>
                  </m:oMath>
                </a14:m>
                <a:endParaRPr lang="en-IN" dirty="0"/>
              </a:p>
              <a:p>
                <a:pPr lvl="0"/>
                <a:r>
                  <a:rPr lang="en-IN" dirty="0"/>
                  <a:t>Since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4.0</m:t>
                        </m:r>
                      </m:sup>
                    </m:sSup>
                    <m:r>
                      <a:rPr lang="en-IN">
                        <a:latin typeface="Cambria Math" panose="02040503050406030204" pitchFamily="18" charset="0"/>
                      </a:rPr>
                      <m:t>≈54.598</m:t>
                    </m:r>
                  </m:oMath>
                </a14:m>
                <a:r>
                  <a:rPr lang="en-IN" dirty="0"/>
                  <a:t>and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𝑒</m:t>
                        </m:r>
                      </m:e>
                      <m:sup>
                        <m:r>
                          <a:rPr lang="en-IN">
                            <a:latin typeface="Cambria Math" panose="02040503050406030204" pitchFamily="18" charset="0"/>
                          </a:rPr>
                          <m:t>−4.0</m:t>
                        </m:r>
                      </m:sup>
                    </m:sSup>
                    <m:r>
                      <a:rPr lang="en-IN">
                        <a:latin typeface="Cambria Math" panose="02040503050406030204" pitchFamily="18" charset="0"/>
                      </a:rPr>
                      <m:t>≈0.0183</m:t>
                    </m:r>
                  </m:oMath>
                </a14:m>
                <a:r>
                  <a:rPr lang="en-IN" dirty="0"/>
                  <a:t>:</a:t>
                </a:r>
              </a:p>
              <a:p>
                <a:pPr lvl="0"/>
                <a14:m>
                  <m:oMath xmlns:m="http://schemas.openxmlformats.org/officeDocument/2006/math">
                    <m:func>
                      <m:funcPr>
                        <m:ctrlPr>
                          <a:rPr lang="en-IN">
                            <a:latin typeface="Cambria Math" panose="02040503050406030204" pitchFamily="18" charset="0"/>
                          </a:rPr>
                        </m:ctrlPr>
                      </m:funcPr>
                      <m:fName>
                        <m:r>
                          <m:rPr>
                            <m:sty m:val="p"/>
                          </m:rPr>
                          <a:rPr lang="en-IN">
                            <a:latin typeface="Cambria Math" panose="02040503050406030204" pitchFamily="18" charset="0"/>
                          </a:rPr>
                          <m:t>tanh</m:t>
                        </m:r>
                      </m:fName>
                      <m:e>
                        <m:d>
                          <m:dPr>
                            <m:ctrlPr>
                              <a:rPr lang="en-IN">
                                <a:latin typeface="Cambria Math" panose="02040503050406030204" pitchFamily="18" charset="0"/>
                              </a:rPr>
                            </m:ctrlPr>
                          </m:dPr>
                          <m:e>
                            <m:r>
                              <a:rPr lang="en-IN">
                                <a:latin typeface="Cambria Math" panose="02040503050406030204" pitchFamily="18" charset="0"/>
                              </a:rPr>
                              <m:t>−4.0</m:t>
                            </m:r>
                          </m:e>
                        </m:d>
                      </m:e>
                    </m:func>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0.0183−54.598</m:t>
                        </m:r>
                      </m:num>
                      <m:den>
                        <m:r>
                          <a:rPr lang="en-IN">
                            <a:latin typeface="Cambria Math" panose="02040503050406030204" pitchFamily="18" charset="0"/>
                          </a:rPr>
                          <m:t>0.0183+54.598</m:t>
                        </m:r>
                      </m:den>
                    </m:f>
                    <m:r>
                      <a:rPr lang="en-IN">
                        <a:latin typeface="Cambria Math" panose="02040503050406030204" pitchFamily="18" charset="0"/>
                      </a:rPr>
                      <m:t>=</m:t>
                    </m:r>
                    <m:f>
                      <m:fPr>
                        <m:ctrlPr>
                          <a:rPr lang="en-IN">
                            <a:latin typeface="Cambria Math" panose="02040503050406030204" pitchFamily="18" charset="0"/>
                          </a:rPr>
                        </m:ctrlPr>
                      </m:fPr>
                      <m:num>
                        <m:r>
                          <a:rPr lang="en-IN">
                            <a:latin typeface="Cambria Math" panose="02040503050406030204" pitchFamily="18" charset="0"/>
                          </a:rPr>
                          <m:t>−54.5797</m:t>
                        </m:r>
                      </m:num>
                      <m:den>
                        <m:r>
                          <a:rPr lang="en-IN">
                            <a:latin typeface="Cambria Math" panose="02040503050406030204" pitchFamily="18" charset="0"/>
                          </a:rPr>
                          <m:t>54.6163</m:t>
                        </m:r>
                      </m:den>
                    </m:f>
                    <m:r>
                      <a:rPr lang="en-IN">
                        <a:latin typeface="Cambria Math" panose="02040503050406030204" pitchFamily="18" charset="0"/>
                      </a:rPr>
                      <m:t>≈−</m:t>
                    </m:r>
                    <m:r>
                      <a:rPr lang="en-IN" b="1">
                        <a:latin typeface="Cambria Math" panose="02040503050406030204" pitchFamily="18" charset="0"/>
                      </a:rPr>
                      <m:t>𝟎</m:t>
                    </m:r>
                    <m:r>
                      <a:rPr lang="en-IN">
                        <a:latin typeface="Cambria Math" panose="02040503050406030204" pitchFamily="18" charset="0"/>
                      </a:rPr>
                      <m:t>.</m:t>
                    </m:r>
                    <m:r>
                      <a:rPr lang="en-IN" b="1">
                        <a:latin typeface="Cambria Math" panose="02040503050406030204" pitchFamily="18" charset="0"/>
                      </a:rPr>
                      <m:t>𝟗𝟗𝟗</m:t>
                    </m:r>
                  </m:oMath>
                </a14:m>
                <a:endParaRPr lang="en-IN" dirty="0"/>
              </a:p>
              <a:p>
                <a:pPr lvl="0"/>
                <a:r>
                  <a:rPr lang="en-IN" b="1" dirty="0"/>
                  <a:t>Output (-0.999):</a:t>
                </a:r>
                <a:r>
                  <a:rPr lang="en-IN" dirty="0"/>
                  <a:t> Strongly </a:t>
                </a:r>
                <a:r>
                  <a:rPr lang="en-IN" b="1" dirty="0"/>
                  <a:t>Negative Sentiment</a:t>
                </a:r>
                <a:r>
                  <a:rPr lang="en-IN" dirty="0"/>
                  <a:t>.</a:t>
                </a:r>
              </a:p>
              <a:p>
                <a:endParaRPr lang="en-IN" dirty="0"/>
              </a:p>
            </p:txBody>
          </p:sp>
        </mc:Choice>
        <mc:Fallback xmlns="">
          <p:sp>
            <p:nvSpPr>
              <p:cNvPr id="3" name="Content Placeholder 2">
                <a:extLst>
                  <a:ext uri="{FF2B5EF4-FFF2-40B4-BE49-F238E27FC236}">
                    <a16:creationId xmlns:a16="http://schemas.microsoft.com/office/drawing/2014/main" id="{9F9A86B4-4E81-7767-92D1-FC68253215B4}"/>
                  </a:ext>
                </a:extLst>
              </p:cNvPr>
              <p:cNvSpPr>
                <a:spLocks noGrp="1" noRot="1" noChangeAspect="1" noMove="1" noResize="1" noEditPoints="1" noAdjustHandles="1" noChangeArrowheads="1" noChangeShapeType="1" noTextEdit="1"/>
              </p:cNvSpPr>
              <p:nvPr>
                <p:ph idx="1"/>
              </p:nvPr>
            </p:nvSpPr>
            <p:spPr>
              <a:xfrm>
                <a:off x="1066800" y="1628878"/>
                <a:ext cx="10058400" cy="4382815"/>
              </a:xfrm>
              <a:blipFill>
                <a:blip r:embed="rId2"/>
                <a:stretch>
                  <a:fillRect l="-1515" t="-1391"/>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A2E8BA8D-B88F-9E45-0727-9A6FEA19A7A0}"/>
              </a:ext>
            </a:extLst>
          </p:cNvPr>
          <p:cNvSpPr>
            <a:spLocks noGrp="1"/>
          </p:cNvSpPr>
          <p:nvPr>
            <p:ph type="dt" sz="half" idx="10"/>
          </p:nvPr>
        </p:nvSpPr>
        <p:spPr/>
        <p:txBody>
          <a:bodyPr/>
          <a:lstStyle/>
          <a:p>
            <a:pPr defTabSz="1219170">
              <a:buClr>
                <a:srgbClr val="000000"/>
              </a:buClr>
            </a:pPr>
            <a:fld id="{ED2BA43E-C2D3-45F6-8EA4-498DC871DBD1}" type="datetime1">
              <a:rPr lang="en-US" kern="0" smtClean="0">
                <a:latin typeface="Arial"/>
                <a:cs typeface="Arial"/>
                <a:sym typeface="Arial"/>
              </a:rPr>
              <a:t>04-Aug-26</a:t>
            </a:fld>
            <a:endParaRPr lang="en-US" kern="0" dirty="0">
              <a:latin typeface="Arial"/>
              <a:cs typeface="Arial"/>
              <a:sym typeface="Arial"/>
            </a:endParaRPr>
          </a:p>
        </p:txBody>
      </p:sp>
      <p:sp>
        <p:nvSpPr>
          <p:cNvPr id="5" name="Slide Number Placeholder 4">
            <a:extLst>
              <a:ext uri="{FF2B5EF4-FFF2-40B4-BE49-F238E27FC236}">
                <a16:creationId xmlns:a16="http://schemas.microsoft.com/office/drawing/2014/main" id="{489B22E3-A1F9-EE27-4A7F-5FDF36B3B703}"/>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110</a:t>
            </a:fld>
            <a:endParaRPr lang="en-US" kern="0" dirty="0">
              <a:latin typeface="Arial"/>
              <a:cs typeface="Arial"/>
              <a:sym typeface="Arial"/>
            </a:endParaRPr>
          </a:p>
        </p:txBody>
      </p:sp>
    </p:spTree>
    <p:extLst>
      <p:ext uri="{BB962C8B-B14F-4D97-AF65-F5344CB8AC3E}">
        <p14:creationId xmlns:p14="http://schemas.microsoft.com/office/powerpoint/2010/main" val="195147711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AE85ADA2-13B9-4364-A45F-67985ED73661}"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111</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normAutofit/>
          </a:bodyPr>
          <a:lstStyle/>
          <a:p>
            <a:r>
              <a:rPr lang="en-US" dirty="0" err="1"/>
              <a:t>ReLU</a:t>
            </a:r>
            <a:r>
              <a:rPr lang="en-US" dirty="0"/>
              <a:t> (Rectified Linear Unit)</a:t>
            </a:r>
          </a:p>
        </p:txBody>
      </p:sp>
      <p:pic>
        <p:nvPicPr>
          <p:cNvPr id="2" name="Picture 1"/>
          <p:cNvPicPr>
            <a:picLocks noChangeAspect="1"/>
          </p:cNvPicPr>
          <p:nvPr/>
        </p:nvPicPr>
        <p:blipFill>
          <a:blip r:embed="rId2"/>
          <a:stretch>
            <a:fillRect/>
          </a:stretch>
        </p:blipFill>
        <p:spPr>
          <a:xfrm>
            <a:off x="2221151" y="1606141"/>
            <a:ext cx="2930068" cy="602555"/>
          </a:xfrm>
          <a:prstGeom prst="rect">
            <a:avLst/>
          </a:prstGeom>
        </p:spPr>
      </p:pic>
      <p:sp>
        <p:nvSpPr>
          <p:cNvPr id="3" name="Rectangle 2"/>
          <p:cNvSpPr/>
          <p:nvPr/>
        </p:nvSpPr>
        <p:spPr>
          <a:xfrm>
            <a:off x="926257" y="1606141"/>
            <a:ext cx="1127232"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Formula:</a:t>
            </a:r>
          </a:p>
        </p:txBody>
      </p:sp>
      <p:sp>
        <p:nvSpPr>
          <p:cNvPr id="8" name="Rectangle 7"/>
          <p:cNvSpPr/>
          <p:nvPr/>
        </p:nvSpPr>
        <p:spPr>
          <a:xfrm>
            <a:off x="874643" y="2208696"/>
            <a:ext cx="6096000" cy="379656"/>
          </a:xfrm>
          <a:prstGeom prst="rect">
            <a:avLst/>
          </a:prstGeom>
        </p:spPr>
        <p:txBody>
          <a:bodyPr>
            <a:spAutoFit/>
          </a:bodyPr>
          <a:lstStyle/>
          <a:p>
            <a:pPr defTabSz="1219170">
              <a:buClr>
                <a:srgbClr val="000000"/>
              </a:buClr>
            </a:pPr>
            <a:r>
              <a:rPr lang="en-US" sz="1867" b="1" kern="0" dirty="0">
                <a:solidFill>
                  <a:srgbClr val="000000"/>
                </a:solidFill>
                <a:latin typeface="Arial"/>
                <a:cs typeface="Arial"/>
                <a:sym typeface="Arial"/>
              </a:rPr>
              <a:t>Output Range: </a:t>
            </a:r>
            <a:r>
              <a:rPr lang="en-US" sz="1867" kern="0" dirty="0">
                <a:solidFill>
                  <a:srgbClr val="000000"/>
                </a:solidFill>
                <a:latin typeface="Arial"/>
                <a:cs typeface="Arial"/>
                <a:sym typeface="Arial"/>
              </a:rPr>
              <a:t>0 to ∞</a:t>
            </a:r>
          </a:p>
        </p:txBody>
      </p:sp>
      <p:sp>
        <p:nvSpPr>
          <p:cNvPr id="9" name="Rectangle 8"/>
          <p:cNvSpPr/>
          <p:nvPr/>
        </p:nvSpPr>
        <p:spPr>
          <a:xfrm>
            <a:off x="926257" y="2619066"/>
            <a:ext cx="6096000" cy="1816266"/>
          </a:xfrm>
          <a:prstGeom prst="rect">
            <a:avLst/>
          </a:prstGeom>
        </p:spPr>
        <p:txBody>
          <a:bodyPr>
            <a:spAutoFit/>
          </a:bodyPr>
          <a:lstStyle/>
          <a:p>
            <a:pPr defTabSz="1219170">
              <a:buClr>
                <a:srgbClr val="000000"/>
              </a:buClr>
            </a:pPr>
            <a:r>
              <a:rPr lang="en-US" sz="1867" b="1" kern="0" dirty="0">
                <a:solidFill>
                  <a:srgbClr val="000000"/>
                </a:solidFill>
                <a:latin typeface="Arial"/>
                <a:cs typeface="Arial"/>
                <a:sym typeface="Arial"/>
              </a:rPr>
              <a:t>Advantages:</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Very simple and fast.</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No exponential calculation.</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Solves vanishing gradient problem (for positive inputs).</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Computationally efficient.</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Widely used in deep networks.</a:t>
            </a:r>
          </a:p>
        </p:txBody>
      </p:sp>
      <p:sp>
        <p:nvSpPr>
          <p:cNvPr id="10" name="Rectangle 9"/>
          <p:cNvSpPr/>
          <p:nvPr/>
        </p:nvSpPr>
        <p:spPr>
          <a:xfrm>
            <a:off x="874643" y="4613125"/>
            <a:ext cx="6096000" cy="1241622"/>
          </a:xfrm>
          <a:prstGeom prst="rect">
            <a:avLst/>
          </a:prstGeom>
        </p:spPr>
        <p:txBody>
          <a:bodyPr>
            <a:spAutoFit/>
          </a:bodyPr>
          <a:lstStyle/>
          <a:p>
            <a:pPr defTabSz="1219170">
              <a:buClr>
                <a:srgbClr val="000000"/>
              </a:buClr>
            </a:pPr>
            <a:r>
              <a:rPr lang="en-US" sz="1867" b="1" kern="0" dirty="0">
                <a:solidFill>
                  <a:srgbClr val="000000"/>
                </a:solidFill>
                <a:latin typeface="Arial"/>
                <a:cs typeface="Arial"/>
                <a:sym typeface="Arial"/>
              </a:rPr>
              <a:t>Disadvantages:</a:t>
            </a:r>
          </a:p>
          <a:p>
            <a:pPr defTabSz="1219170">
              <a:buClr>
                <a:srgbClr val="000000"/>
              </a:buClr>
              <a:buFont typeface="Arial" panose="020B0604020202020204" pitchFamily="34" charset="0"/>
              <a:buChar char="•"/>
            </a:pPr>
            <a:r>
              <a:rPr lang="en-US" sz="1867" b="1" kern="0" dirty="0">
                <a:solidFill>
                  <a:srgbClr val="000000"/>
                </a:solidFill>
                <a:latin typeface="Arial"/>
                <a:cs typeface="Arial"/>
                <a:sym typeface="Arial"/>
              </a:rPr>
              <a:t>Dead </a:t>
            </a:r>
            <a:r>
              <a:rPr lang="en-US" sz="1867" b="1" kern="0" dirty="0" err="1">
                <a:solidFill>
                  <a:srgbClr val="000000"/>
                </a:solidFill>
                <a:latin typeface="Arial"/>
                <a:cs typeface="Arial"/>
                <a:sym typeface="Arial"/>
              </a:rPr>
              <a:t>ReLU</a:t>
            </a:r>
            <a:r>
              <a:rPr lang="en-US" sz="1867" b="1" kern="0" dirty="0">
                <a:solidFill>
                  <a:srgbClr val="000000"/>
                </a:solidFill>
                <a:latin typeface="Arial"/>
                <a:cs typeface="Arial"/>
                <a:sym typeface="Arial"/>
              </a:rPr>
              <a:t> problem</a:t>
            </a:r>
            <a:r>
              <a:rPr lang="en-US" sz="1867" kern="0" dirty="0">
                <a:solidFill>
                  <a:srgbClr val="000000"/>
                </a:solidFill>
                <a:latin typeface="Arial"/>
                <a:cs typeface="Arial"/>
                <a:sym typeface="Arial"/>
              </a:rPr>
              <a:t> (if input ≤ 0, gradient = 0).</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Not zero-centered.</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Neurons may stop learning if stuck in negative region.</a:t>
            </a:r>
          </a:p>
        </p:txBody>
      </p:sp>
      <p:pic>
        <p:nvPicPr>
          <p:cNvPr id="2050" name="Picture 2" descr="relu derivative | kawahara.ca"/>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84768" y="2999345"/>
            <a:ext cx="4768283" cy="381796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BA042AE7-3159-A24E-4895-CC03FDD1DF20}"/>
              </a:ext>
            </a:extLst>
          </p:cNvPr>
          <p:cNvPicPr>
            <a:picLocks noChangeAspect="1"/>
          </p:cNvPicPr>
          <p:nvPr/>
        </p:nvPicPr>
        <p:blipFill>
          <a:blip r:embed="rId4"/>
          <a:stretch>
            <a:fillRect/>
          </a:stretch>
        </p:blipFill>
        <p:spPr>
          <a:xfrm>
            <a:off x="7372103" y="972249"/>
            <a:ext cx="4480948" cy="2027096"/>
          </a:xfrm>
          <a:prstGeom prst="rect">
            <a:avLst/>
          </a:prstGeom>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97EA53DE-8067-0ABE-32F8-2EA2291682BA}"/>
                  </a:ext>
                </a:extLst>
              </p:cNvPr>
              <p:cNvSpPr txBox="1"/>
              <p:nvPr/>
            </p:nvSpPr>
            <p:spPr>
              <a:xfrm>
                <a:off x="1097280" y="5832485"/>
                <a:ext cx="6094378" cy="400110"/>
              </a:xfrm>
              <a:prstGeom prst="rect">
                <a:avLst/>
              </a:prstGeom>
              <a:noFill/>
            </p:spPr>
            <p:txBody>
              <a:bodyPr wrap="square">
                <a:spAutoFit/>
              </a:bodyPr>
              <a:lstStyle/>
              <a:p>
                <a:r>
                  <a:rPr lang="en-IN" sz="2000" b="1" dirty="0"/>
                  <a:t>Case 1: Strong Feature Presence (</a:t>
                </a:r>
                <a14:m>
                  <m:oMath xmlns:m="http://schemas.openxmlformats.org/officeDocument/2006/math">
                    <m:sSub>
                      <m:sSubPr>
                        <m:ctrlPr>
                          <a:rPr lang="en-IN" sz="2000" i="1">
                            <a:latin typeface="Cambria Math" panose="02040503050406030204" pitchFamily="18" charset="0"/>
                          </a:rPr>
                        </m:ctrlPr>
                      </m:sSubPr>
                      <m:e>
                        <m:r>
                          <a:rPr lang="en-IN" sz="2000" i="1">
                            <a:latin typeface="Cambria Math" panose="02040503050406030204" pitchFamily="18" charset="0"/>
                          </a:rPr>
                          <m:t>𝑥</m:t>
                        </m:r>
                      </m:e>
                      <m:sub>
                        <m:r>
                          <a:rPr lang="en-IN" sz="2000">
                            <a:latin typeface="Cambria Math" panose="02040503050406030204" pitchFamily="18" charset="0"/>
                          </a:rPr>
                          <m:t>1</m:t>
                        </m:r>
                      </m:sub>
                    </m:sSub>
                    <m:r>
                      <a:rPr lang="en-IN" sz="2000">
                        <a:latin typeface="Cambria Math" panose="02040503050406030204" pitchFamily="18" charset="0"/>
                      </a:rPr>
                      <m:t>=3,</m:t>
                    </m:r>
                    <m:sSub>
                      <m:sSubPr>
                        <m:ctrlPr>
                          <a:rPr lang="en-IN" sz="2000" i="1">
                            <a:latin typeface="Cambria Math" panose="02040503050406030204" pitchFamily="18" charset="0"/>
                          </a:rPr>
                        </m:ctrlPr>
                      </m:sSubPr>
                      <m:e>
                        <m:r>
                          <a:rPr lang="en-IN" sz="2000" i="1">
                            <a:latin typeface="Cambria Math" panose="02040503050406030204" pitchFamily="18" charset="0"/>
                          </a:rPr>
                          <m:t>𝑥</m:t>
                        </m:r>
                      </m:e>
                      <m:sub>
                        <m:r>
                          <a:rPr lang="en-IN" sz="2000">
                            <a:latin typeface="Cambria Math" panose="02040503050406030204" pitchFamily="18" charset="0"/>
                          </a:rPr>
                          <m:t>2</m:t>
                        </m:r>
                      </m:sub>
                    </m:sSub>
                    <m:r>
                      <a:rPr lang="en-IN" sz="2000">
                        <a:latin typeface="Cambria Math" panose="02040503050406030204" pitchFamily="18" charset="0"/>
                      </a:rPr>
                      <m:t>=1</m:t>
                    </m:r>
                  </m:oMath>
                </a14:m>
                <a:r>
                  <a:rPr lang="en-IN" sz="2000" b="1" dirty="0"/>
                  <a:t>)</a:t>
                </a:r>
              </a:p>
            </p:txBody>
          </p:sp>
        </mc:Choice>
        <mc:Fallback>
          <p:sp>
            <p:nvSpPr>
              <p:cNvPr id="11" name="TextBox 10">
                <a:extLst>
                  <a:ext uri="{FF2B5EF4-FFF2-40B4-BE49-F238E27FC236}">
                    <a16:creationId xmlns:a16="http://schemas.microsoft.com/office/drawing/2014/main" id="{97EA53DE-8067-0ABE-32F8-2EA2291682BA}"/>
                  </a:ext>
                </a:extLst>
              </p:cNvPr>
              <p:cNvSpPr txBox="1">
                <a:spLocks noRot="1" noChangeAspect="1" noMove="1" noResize="1" noEditPoints="1" noAdjustHandles="1" noChangeArrowheads="1" noChangeShapeType="1" noTextEdit="1"/>
              </p:cNvSpPr>
              <p:nvPr/>
            </p:nvSpPr>
            <p:spPr>
              <a:xfrm>
                <a:off x="1097280" y="5832485"/>
                <a:ext cx="6094378" cy="400110"/>
              </a:xfrm>
              <a:prstGeom prst="rect">
                <a:avLst/>
              </a:prstGeom>
              <a:blipFill>
                <a:blip r:embed="rId5"/>
                <a:stretch>
                  <a:fillRect l="-1000" t="-9231" b="-27692"/>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68CC9F5D-9B32-37D3-F465-CA70BE6BE50D}"/>
                  </a:ext>
                </a:extLst>
              </p:cNvPr>
              <p:cNvSpPr txBox="1"/>
              <p:nvPr/>
            </p:nvSpPr>
            <p:spPr>
              <a:xfrm>
                <a:off x="1211405" y="6171286"/>
                <a:ext cx="6094378" cy="400110"/>
              </a:xfrm>
              <a:prstGeom prst="rect">
                <a:avLst/>
              </a:prstGeom>
              <a:noFill/>
            </p:spPr>
            <p:txBody>
              <a:bodyPr wrap="square">
                <a:spAutoFit/>
              </a:bodyPr>
              <a:lstStyle/>
              <a:p>
                <a:r>
                  <a:rPr lang="en-IN" sz="2000" b="1" dirty="0"/>
                  <a:t>Case 2: Weak / No Feature (</a:t>
                </a:r>
                <a14:m>
                  <m:oMath xmlns:m="http://schemas.openxmlformats.org/officeDocument/2006/math">
                    <m:sSub>
                      <m:sSubPr>
                        <m:ctrlPr>
                          <a:rPr lang="en-IN" sz="2000" i="1">
                            <a:latin typeface="Cambria Math" panose="02040503050406030204" pitchFamily="18" charset="0"/>
                          </a:rPr>
                        </m:ctrlPr>
                      </m:sSubPr>
                      <m:e>
                        <m:r>
                          <a:rPr lang="en-IN" sz="2000" i="1">
                            <a:latin typeface="Cambria Math" panose="02040503050406030204" pitchFamily="18" charset="0"/>
                          </a:rPr>
                          <m:t>𝑥</m:t>
                        </m:r>
                      </m:e>
                      <m:sub>
                        <m:r>
                          <a:rPr lang="en-IN" sz="2000">
                            <a:latin typeface="Cambria Math" panose="02040503050406030204" pitchFamily="18" charset="0"/>
                          </a:rPr>
                          <m:t>1</m:t>
                        </m:r>
                      </m:sub>
                    </m:sSub>
                    <m:r>
                      <a:rPr lang="en-IN" sz="2000">
                        <a:latin typeface="Cambria Math" panose="02040503050406030204" pitchFamily="18" charset="0"/>
                      </a:rPr>
                      <m:t>=1,</m:t>
                    </m:r>
                    <m:sSub>
                      <m:sSubPr>
                        <m:ctrlPr>
                          <a:rPr lang="en-IN" sz="2000" i="1">
                            <a:latin typeface="Cambria Math" panose="02040503050406030204" pitchFamily="18" charset="0"/>
                          </a:rPr>
                        </m:ctrlPr>
                      </m:sSubPr>
                      <m:e>
                        <m:r>
                          <a:rPr lang="en-IN" sz="2000" i="1">
                            <a:latin typeface="Cambria Math" panose="02040503050406030204" pitchFamily="18" charset="0"/>
                          </a:rPr>
                          <m:t>𝑥</m:t>
                        </m:r>
                      </m:e>
                      <m:sub>
                        <m:r>
                          <a:rPr lang="en-IN" sz="2000">
                            <a:latin typeface="Cambria Math" panose="02040503050406030204" pitchFamily="18" charset="0"/>
                          </a:rPr>
                          <m:t>2</m:t>
                        </m:r>
                      </m:sub>
                    </m:sSub>
                    <m:r>
                      <a:rPr lang="en-IN" sz="2000">
                        <a:latin typeface="Cambria Math" panose="02040503050406030204" pitchFamily="18" charset="0"/>
                      </a:rPr>
                      <m:t>=3</m:t>
                    </m:r>
                  </m:oMath>
                </a14:m>
                <a:r>
                  <a:rPr lang="en-IN" sz="2000" b="1" dirty="0"/>
                  <a:t>)</a:t>
                </a:r>
              </a:p>
            </p:txBody>
          </p:sp>
        </mc:Choice>
        <mc:Fallback>
          <p:sp>
            <p:nvSpPr>
              <p:cNvPr id="14" name="TextBox 13">
                <a:extLst>
                  <a:ext uri="{FF2B5EF4-FFF2-40B4-BE49-F238E27FC236}">
                    <a16:creationId xmlns:a16="http://schemas.microsoft.com/office/drawing/2014/main" id="{68CC9F5D-9B32-37D3-F465-CA70BE6BE50D}"/>
                  </a:ext>
                </a:extLst>
              </p:cNvPr>
              <p:cNvSpPr txBox="1">
                <a:spLocks noRot="1" noChangeAspect="1" noMove="1" noResize="1" noEditPoints="1" noAdjustHandles="1" noChangeArrowheads="1" noChangeShapeType="1" noTextEdit="1"/>
              </p:cNvSpPr>
              <p:nvPr/>
            </p:nvSpPr>
            <p:spPr>
              <a:xfrm>
                <a:off x="1211405" y="6171286"/>
                <a:ext cx="6094378" cy="400110"/>
              </a:xfrm>
              <a:prstGeom prst="rect">
                <a:avLst/>
              </a:prstGeom>
              <a:blipFill>
                <a:blip r:embed="rId6"/>
                <a:stretch>
                  <a:fillRect l="-1101" t="-7576" b="-25758"/>
                </a:stretch>
              </a:blipFill>
            </p:spPr>
            <p:txBody>
              <a:bodyPr/>
              <a:lstStyle/>
              <a:p>
                <a:r>
                  <a:rPr lang="en-IN">
                    <a:noFill/>
                  </a:rPr>
                  <a:t> </a:t>
                </a:r>
              </a:p>
            </p:txBody>
          </p:sp>
        </mc:Fallback>
      </mc:AlternateContent>
    </p:spTree>
    <p:extLst>
      <p:ext uri="{BB962C8B-B14F-4D97-AF65-F5344CB8AC3E}">
        <p14:creationId xmlns:p14="http://schemas.microsoft.com/office/powerpoint/2010/main" val="193634441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956EE-1F72-100E-3F3C-7BED50F87277}"/>
              </a:ext>
            </a:extLst>
          </p:cNvPr>
          <p:cNvSpPr>
            <a:spLocks noGrp="1"/>
          </p:cNvSpPr>
          <p:nvPr>
            <p:ph type="title"/>
          </p:nvPr>
        </p:nvSpPr>
        <p:spPr/>
        <p:txBody>
          <a:bodyPr/>
          <a:lstStyle/>
          <a:p>
            <a:r>
              <a:rPr lang="en-US" dirty="0" err="1"/>
              <a:t>ReLU</a:t>
            </a:r>
            <a:r>
              <a:rPr lang="en-US" dirty="0"/>
              <a:t> Example</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FD1D3E6-1B25-0CBE-2AFF-B9BD9992B4C0}"/>
                  </a:ext>
                </a:extLst>
              </p:cNvPr>
              <p:cNvSpPr>
                <a:spLocks noGrp="1"/>
              </p:cNvSpPr>
              <p:nvPr>
                <p:ph idx="1"/>
              </p:nvPr>
            </p:nvSpPr>
            <p:spPr>
              <a:xfrm>
                <a:off x="1154085" y="1417319"/>
                <a:ext cx="10058400" cy="4964025"/>
              </a:xfrm>
            </p:spPr>
            <p:txBody>
              <a:bodyPr>
                <a:normAutofit fontScale="85000" lnSpcReduction="20000"/>
              </a:bodyPr>
              <a:lstStyle/>
              <a:p>
                <a:r>
                  <a:rPr lang="en-IN" b="1" dirty="0"/>
                  <a:t>Case 1: Strong Feature Presence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=3,</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=1</m:t>
                    </m:r>
                  </m:oMath>
                </a14:m>
                <a:r>
                  <a:rPr lang="en-IN" b="1" dirty="0"/>
                  <a:t>)</a:t>
                </a:r>
              </a:p>
              <a:p>
                <a:r>
                  <a:rPr lang="en-IN" b="1" dirty="0"/>
                  <a:t>Step 1: Compute Linear Combination (</a:t>
                </a:r>
                <a14:m>
                  <m:oMath xmlns:m="http://schemas.openxmlformats.org/officeDocument/2006/math">
                    <m:r>
                      <a:rPr lang="en-IN" i="1">
                        <a:latin typeface="Cambria Math" panose="02040503050406030204" pitchFamily="18" charset="0"/>
                      </a:rPr>
                      <m:t>𝑧</m:t>
                    </m:r>
                  </m:oMath>
                </a14:m>
                <a:r>
                  <a:rPr lang="en-IN" b="1" dirty="0"/>
                  <a:t>)</a:t>
                </a:r>
              </a:p>
              <a:p>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1</m:t>
                        </m:r>
                      </m:sub>
                    </m:sSub>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𝑤</m:t>
                        </m:r>
                      </m:e>
                      <m:sub>
                        <m:r>
                          <a:rPr lang="en-IN">
                            <a:latin typeface="Cambria Math" panose="02040503050406030204" pitchFamily="18" charset="0"/>
                          </a:rPr>
                          <m:t>2</m:t>
                        </m:r>
                      </m:sub>
                    </m:sSub>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m:t>
                    </m:r>
                    <m:r>
                      <a:rPr lang="en-IN" i="1">
                        <a:latin typeface="Cambria Math" panose="02040503050406030204" pitchFamily="18" charset="0"/>
                      </a:rPr>
                      <m:t>𝑏</m:t>
                    </m:r>
                  </m:oMath>
                </a14:m>
                <a:endParaRPr lang="en-IN" dirty="0"/>
              </a:p>
              <a:p>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2.0×3</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−1.5×1</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−1.0</m:t>
                        </m:r>
                      </m:e>
                    </m:d>
                    <m:r>
                      <a:rPr lang="en-IN">
                        <a:latin typeface="Cambria Math" panose="02040503050406030204" pitchFamily="18" charset="0"/>
                      </a:rPr>
                      <m:t>=6.0−1.5−1.0=+</m:t>
                    </m:r>
                    <m:r>
                      <a:rPr lang="en-IN" b="1">
                        <a:latin typeface="Cambria Math" panose="02040503050406030204" pitchFamily="18" charset="0"/>
                      </a:rPr>
                      <m:t>𝟑</m:t>
                    </m:r>
                    <m:r>
                      <a:rPr lang="en-IN">
                        <a:latin typeface="Cambria Math" panose="02040503050406030204" pitchFamily="18" charset="0"/>
                      </a:rPr>
                      <m:t>.</m:t>
                    </m:r>
                    <m:r>
                      <a:rPr lang="en-IN" b="1">
                        <a:latin typeface="Cambria Math" panose="02040503050406030204" pitchFamily="18" charset="0"/>
                      </a:rPr>
                      <m:t>𝟓</m:t>
                    </m:r>
                  </m:oMath>
                </a14:m>
                <a:endParaRPr lang="en-IN" dirty="0"/>
              </a:p>
              <a:p>
                <a:r>
                  <a:rPr lang="en-IN" b="1" dirty="0"/>
                  <a:t>Step 2: Apply </a:t>
                </a:r>
                <a:r>
                  <a:rPr lang="en-IN" b="1" dirty="0" err="1"/>
                  <a:t>ReLU</a:t>
                </a:r>
                <a:r>
                  <a:rPr lang="en-IN" b="1" dirty="0"/>
                  <a:t> Activation</a:t>
                </a:r>
              </a:p>
              <a:p>
                <a14:m>
                  <m:oMath xmlns:m="http://schemas.openxmlformats.org/officeDocument/2006/math">
                    <m:r>
                      <a:rPr lang="en-IN" i="1">
                        <a:latin typeface="Cambria Math" panose="02040503050406030204" pitchFamily="18" charset="0"/>
                      </a:rPr>
                      <m:t>𝑓</m:t>
                    </m:r>
                    <m:d>
                      <m:dPr>
                        <m:ctrlPr>
                          <a:rPr lang="en-IN">
                            <a:latin typeface="Cambria Math" panose="02040503050406030204" pitchFamily="18" charset="0"/>
                          </a:rPr>
                        </m:ctrlPr>
                      </m:dPr>
                      <m:e>
                        <m:r>
                          <a:rPr lang="en-IN">
                            <a:latin typeface="Cambria Math" panose="02040503050406030204" pitchFamily="18" charset="0"/>
                          </a:rPr>
                          <m:t>3.5</m:t>
                        </m:r>
                      </m:e>
                    </m:d>
                    <m:r>
                      <a:rPr lang="en-IN">
                        <a:latin typeface="Cambria Math" panose="02040503050406030204" pitchFamily="18" charset="0"/>
                      </a:rPr>
                      <m:t>=</m:t>
                    </m:r>
                    <m:func>
                      <m:funcPr>
                        <m:ctrlPr>
                          <a:rPr lang="en-IN">
                            <a:latin typeface="Cambria Math" panose="02040503050406030204" pitchFamily="18" charset="0"/>
                          </a:rPr>
                        </m:ctrlPr>
                      </m:funcPr>
                      <m:fName>
                        <m:r>
                          <m:rPr>
                            <m:sty m:val="p"/>
                          </m:rPr>
                          <a:rPr lang="en-IN">
                            <a:latin typeface="Cambria Math" panose="02040503050406030204" pitchFamily="18" charset="0"/>
                          </a:rPr>
                          <m:t>max</m:t>
                        </m:r>
                      </m:fName>
                      <m:e>
                        <m:d>
                          <m:dPr>
                            <m:ctrlPr>
                              <a:rPr lang="en-IN">
                                <a:latin typeface="Cambria Math" panose="02040503050406030204" pitchFamily="18" charset="0"/>
                              </a:rPr>
                            </m:ctrlPr>
                          </m:dPr>
                          <m:e>
                            <m:r>
                              <a:rPr lang="en-IN">
                                <a:latin typeface="Cambria Math" panose="02040503050406030204" pitchFamily="18" charset="0"/>
                              </a:rPr>
                              <m:t>0,3.5</m:t>
                            </m:r>
                          </m:e>
                        </m:d>
                      </m:e>
                    </m:func>
                    <m:r>
                      <a:rPr lang="en-IN">
                        <a:latin typeface="Cambria Math" panose="02040503050406030204" pitchFamily="18" charset="0"/>
                      </a:rPr>
                      <m:t>=+</m:t>
                    </m:r>
                    <m:r>
                      <a:rPr lang="en-IN" b="1">
                        <a:latin typeface="Cambria Math" panose="02040503050406030204" pitchFamily="18" charset="0"/>
                      </a:rPr>
                      <m:t>𝟑</m:t>
                    </m:r>
                    <m:r>
                      <a:rPr lang="en-IN">
                        <a:latin typeface="Cambria Math" panose="02040503050406030204" pitchFamily="18" charset="0"/>
                      </a:rPr>
                      <m:t>.</m:t>
                    </m:r>
                    <m:r>
                      <a:rPr lang="en-IN" b="1">
                        <a:latin typeface="Cambria Math" panose="02040503050406030204" pitchFamily="18" charset="0"/>
                      </a:rPr>
                      <m:t>𝟓</m:t>
                    </m:r>
                  </m:oMath>
                </a14:m>
                <a:endParaRPr lang="en-IN" dirty="0"/>
              </a:p>
              <a:p>
                <a:pPr lvl="0"/>
                <a:r>
                  <a:rPr lang="en-IN" b="1" dirty="0"/>
                  <a:t>Output:</a:t>
                </a:r>
                <a:r>
                  <a:rPr lang="en-IN" dirty="0"/>
                  <a:t> </a:t>
                </a:r>
                <a14:m>
                  <m:oMath xmlns:m="http://schemas.openxmlformats.org/officeDocument/2006/math">
                    <m:r>
                      <a:rPr lang="en-IN" b="1">
                        <a:latin typeface="Cambria Math" panose="02040503050406030204" pitchFamily="18" charset="0"/>
                      </a:rPr>
                      <m:t>𝟑</m:t>
                    </m:r>
                    <m:r>
                      <a:rPr lang="en-IN">
                        <a:latin typeface="Cambria Math" panose="02040503050406030204" pitchFamily="18" charset="0"/>
                      </a:rPr>
                      <m:t>.</m:t>
                    </m:r>
                    <m:r>
                      <a:rPr lang="en-IN" b="1">
                        <a:latin typeface="Cambria Math" panose="02040503050406030204" pitchFamily="18" charset="0"/>
                      </a:rPr>
                      <m:t>𝟓</m:t>
                    </m:r>
                  </m:oMath>
                </a14:m>
                <a:r>
                  <a:rPr lang="en-IN" dirty="0"/>
                  <a:t>(The feature is detected; activation passes through completely uncompressed).</a:t>
                </a:r>
              </a:p>
              <a:p>
                <a:r>
                  <a:rPr lang="en-IN" b="1" dirty="0"/>
                  <a:t>Case 2: Weak / No Feature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1</m:t>
                        </m:r>
                      </m:sub>
                    </m:sSub>
                    <m:r>
                      <a:rPr lang="en-IN">
                        <a:latin typeface="Cambria Math" panose="02040503050406030204" pitchFamily="18" charset="0"/>
                      </a:rPr>
                      <m:t>=1,</m:t>
                    </m:r>
                    <m:sSub>
                      <m:sSubPr>
                        <m:ctrlPr>
                          <a:rPr lang="en-IN" i="1">
                            <a:latin typeface="Cambria Math" panose="02040503050406030204" pitchFamily="18" charset="0"/>
                          </a:rPr>
                        </m:ctrlPr>
                      </m:sSubPr>
                      <m:e>
                        <m:r>
                          <a:rPr lang="en-IN" i="1">
                            <a:latin typeface="Cambria Math" panose="02040503050406030204" pitchFamily="18" charset="0"/>
                          </a:rPr>
                          <m:t>𝑥</m:t>
                        </m:r>
                      </m:e>
                      <m:sub>
                        <m:r>
                          <a:rPr lang="en-IN">
                            <a:latin typeface="Cambria Math" panose="02040503050406030204" pitchFamily="18" charset="0"/>
                          </a:rPr>
                          <m:t>2</m:t>
                        </m:r>
                      </m:sub>
                    </m:sSub>
                    <m:r>
                      <a:rPr lang="en-IN">
                        <a:latin typeface="Cambria Math" panose="02040503050406030204" pitchFamily="18" charset="0"/>
                      </a:rPr>
                      <m:t>=3</m:t>
                    </m:r>
                  </m:oMath>
                </a14:m>
                <a:r>
                  <a:rPr lang="en-IN" b="1" dirty="0"/>
                  <a:t>)</a:t>
                </a:r>
              </a:p>
              <a:p>
                <a:r>
                  <a:rPr lang="en-IN" b="1" dirty="0"/>
                  <a:t>Step 1: Compute Linear Combination (</a:t>
                </a:r>
                <a14:m>
                  <m:oMath xmlns:m="http://schemas.openxmlformats.org/officeDocument/2006/math">
                    <m:r>
                      <a:rPr lang="en-IN" i="1">
                        <a:latin typeface="Cambria Math" panose="02040503050406030204" pitchFamily="18" charset="0"/>
                      </a:rPr>
                      <m:t>𝑧</m:t>
                    </m:r>
                  </m:oMath>
                </a14:m>
                <a:r>
                  <a:rPr lang="en-IN" b="1" dirty="0"/>
                  <a:t>)</a:t>
                </a:r>
              </a:p>
              <a:p>
                <a14:m>
                  <m:oMath xmlns:m="http://schemas.openxmlformats.org/officeDocument/2006/math">
                    <m:r>
                      <a:rPr lang="en-IN" i="1">
                        <a:latin typeface="Cambria Math" panose="02040503050406030204" pitchFamily="18" charset="0"/>
                      </a:rPr>
                      <m:t>𝑧</m:t>
                    </m:r>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2.0×1</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−1.5×3</m:t>
                        </m:r>
                      </m:e>
                    </m:d>
                    <m:r>
                      <a:rPr lang="en-IN">
                        <a:latin typeface="Cambria Math" panose="02040503050406030204" pitchFamily="18" charset="0"/>
                      </a:rPr>
                      <m:t>+</m:t>
                    </m:r>
                    <m:d>
                      <m:dPr>
                        <m:ctrlPr>
                          <a:rPr lang="en-IN">
                            <a:latin typeface="Cambria Math" panose="02040503050406030204" pitchFamily="18" charset="0"/>
                          </a:rPr>
                        </m:ctrlPr>
                      </m:dPr>
                      <m:e>
                        <m:r>
                          <a:rPr lang="en-IN">
                            <a:latin typeface="Cambria Math" panose="02040503050406030204" pitchFamily="18" charset="0"/>
                          </a:rPr>
                          <m:t>−1.0</m:t>
                        </m:r>
                      </m:e>
                    </m:d>
                    <m:r>
                      <a:rPr lang="en-IN">
                        <a:latin typeface="Cambria Math" panose="02040503050406030204" pitchFamily="18" charset="0"/>
                      </a:rPr>
                      <m:t>=2.0−4.5−1.0=−</m:t>
                    </m:r>
                    <m:r>
                      <a:rPr lang="en-IN" b="1">
                        <a:latin typeface="Cambria Math" panose="02040503050406030204" pitchFamily="18" charset="0"/>
                      </a:rPr>
                      <m:t>𝟑</m:t>
                    </m:r>
                    <m:r>
                      <a:rPr lang="en-IN">
                        <a:latin typeface="Cambria Math" panose="02040503050406030204" pitchFamily="18" charset="0"/>
                      </a:rPr>
                      <m:t>.</m:t>
                    </m:r>
                    <m:r>
                      <a:rPr lang="en-IN" b="1">
                        <a:latin typeface="Cambria Math" panose="02040503050406030204" pitchFamily="18" charset="0"/>
                      </a:rPr>
                      <m:t>𝟓</m:t>
                    </m:r>
                  </m:oMath>
                </a14:m>
                <a:endParaRPr lang="en-IN" dirty="0"/>
              </a:p>
              <a:p>
                <a:r>
                  <a:rPr lang="en-IN" b="1" dirty="0"/>
                  <a:t>Step 2: Apply </a:t>
                </a:r>
                <a:r>
                  <a:rPr lang="en-IN" b="1" dirty="0" err="1"/>
                  <a:t>ReLU</a:t>
                </a:r>
                <a:r>
                  <a:rPr lang="en-IN" b="1" dirty="0"/>
                  <a:t> Activation</a:t>
                </a:r>
              </a:p>
              <a:p>
                <a14:m>
                  <m:oMath xmlns:m="http://schemas.openxmlformats.org/officeDocument/2006/math">
                    <m:r>
                      <a:rPr lang="en-IN" i="1">
                        <a:latin typeface="Cambria Math" panose="02040503050406030204" pitchFamily="18" charset="0"/>
                      </a:rPr>
                      <m:t>𝑓</m:t>
                    </m:r>
                    <m:d>
                      <m:dPr>
                        <m:ctrlPr>
                          <a:rPr lang="en-IN">
                            <a:latin typeface="Cambria Math" panose="02040503050406030204" pitchFamily="18" charset="0"/>
                          </a:rPr>
                        </m:ctrlPr>
                      </m:dPr>
                      <m:e>
                        <m:r>
                          <a:rPr lang="en-IN">
                            <a:latin typeface="Cambria Math" panose="02040503050406030204" pitchFamily="18" charset="0"/>
                          </a:rPr>
                          <m:t>−3.5</m:t>
                        </m:r>
                      </m:e>
                    </m:d>
                    <m:r>
                      <a:rPr lang="en-IN">
                        <a:latin typeface="Cambria Math" panose="02040503050406030204" pitchFamily="18" charset="0"/>
                      </a:rPr>
                      <m:t>=</m:t>
                    </m:r>
                    <m:func>
                      <m:funcPr>
                        <m:ctrlPr>
                          <a:rPr lang="en-IN">
                            <a:latin typeface="Cambria Math" panose="02040503050406030204" pitchFamily="18" charset="0"/>
                          </a:rPr>
                        </m:ctrlPr>
                      </m:funcPr>
                      <m:fName>
                        <m:r>
                          <m:rPr>
                            <m:sty m:val="p"/>
                          </m:rPr>
                          <a:rPr lang="en-IN">
                            <a:latin typeface="Cambria Math" panose="02040503050406030204" pitchFamily="18" charset="0"/>
                          </a:rPr>
                          <m:t>max</m:t>
                        </m:r>
                      </m:fName>
                      <m:e>
                        <m:d>
                          <m:dPr>
                            <m:ctrlPr>
                              <a:rPr lang="en-IN">
                                <a:latin typeface="Cambria Math" panose="02040503050406030204" pitchFamily="18" charset="0"/>
                              </a:rPr>
                            </m:ctrlPr>
                          </m:dPr>
                          <m:e>
                            <m:r>
                              <a:rPr lang="en-IN">
                                <a:latin typeface="Cambria Math" panose="02040503050406030204" pitchFamily="18" charset="0"/>
                              </a:rPr>
                              <m:t>0,−3.5</m:t>
                            </m:r>
                          </m:e>
                        </m:d>
                      </m:e>
                    </m:func>
                    <m:r>
                      <a:rPr lang="en-IN">
                        <a:latin typeface="Cambria Math" panose="02040503050406030204" pitchFamily="18" charset="0"/>
                      </a:rPr>
                      <m:t>=</m:t>
                    </m:r>
                    <m:r>
                      <a:rPr lang="en-IN" b="1">
                        <a:latin typeface="Cambria Math" panose="02040503050406030204" pitchFamily="18" charset="0"/>
                      </a:rPr>
                      <m:t>𝟎</m:t>
                    </m:r>
                    <m:r>
                      <a:rPr lang="en-IN">
                        <a:latin typeface="Cambria Math" panose="02040503050406030204" pitchFamily="18" charset="0"/>
                      </a:rPr>
                      <m:t>.</m:t>
                    </m:r>
                    <m:r>
                      <a:rPr lang="en-IN" b="1">
                        <a:latin typeface="Cambria Math" panose="02040503050406030204" pitchFamily="18" charset="0"/>
                      </a:rPr>
                      <m:t>𝟎</m:t>
                    </m:r>
                  </m:oMath>
                </a14:m>
                <a:endParaRPr lang="en-IN" dirty="0"/>
              </a:p>
              <a:p>
                <a:pPr lvl="0"/>
                <a:r>
                  <a:rPr lang="en-IN" b="1" dirty="0"/>
                  <a:t>Output:</a:t>
                </a:r>
                <a:r>
                  <a:rPr lang="en-IN" dirty="0"/>
                  <a:t> </a:t>
                </a:r>
                <a14:m>
                  <m:oMath xmlns:m="http://schemas.openxmlformats.org/officeDocument/2006/math">
                    <m:r>
                      <a:rPr lang="en-IN" b="1">
                        <a:latin typeface="Cambria Math" panose="02040503050406030204" pitchFamily="18" charset="0"/>
                      </a:rPr>
                      <m:t>𝟎</m:t>
                    </m:r>
                    <m:r>
                      <a:rPr lang="en-IN">
                        <a:latin typeface="Cambria Math" panose="02040503050406030204" pitchFamily="18" charset="0"/>
                      </a:rPr>
                      <m:t>.</m:t>
                    </m:r>
                    <m:r>
                      <a:rPr lang="en-IN" b="1">
                        <a:latin typeface="Cambria Math" panose="02040503050406030204" pitchFamily="18" charset="0"/>
                      </a:rPr>
                      <m:t>𝟎</m:t>
                    </m:r>
                  </m:oMath>
                </a14:m>
                <a:r>
                  <a:rPr lang="en-IN" dirty="0"/>
                  <a:t>(The feature is absent; the neuron remains completely deactivated).</a:t>
                </a:r>
              </a:p>
              <a:p>
                <a:endParaRPr lang="en-IN" dirty="0"/>
              </a:p>
            </p:txBody>
          </p:sp>
        </mc:Choice>
        <mc:Fallback xmlns="">
          <p:sp>
            <p:nvSpPr>
              <p:cNvPr id="3" name="Content Placeholder 2">
                <a:extLst>
                  <a:ext uri="{FF2B5EF4-FFF2-40B4-BE49-F238E27FC236}">
                    <a16:creationId xmlns:a16="http://schemas.microsoft.com/office/drawing/2014/main" id="{6FD1D3E6-1B25-0CBE-2AFF-B9BD9992B4C0}"/>
                  </a:ext>
                </a:extLst>
              </p:cNvPr>
              <p:cNvSpPr>
                <a:spLocks noGrp="1" noRot="1" noChangeAspect="1" noMove="1" noResize="1" noEditPoints="1" noAdjustHandles="1" noChangeArrowheads="1" noChangeShapeType="1" noTextEdit="1"/>
              </p:cNvSpPr>
              <p:nvPr>
                <p:ph idx="1"/>
              </p:nvPr>
            </p:nvSpPr>
            <p:spPr>
              <a:xfrm>
                <a:off x="1154085" y="1417319"/>
                <a:ext cx="10058400" cy="4964025"/>
              </a:xfrm>
              <a:blipFill>
                <a:blip r:embed="rId2"/>
                <a:stretch>
                  <a:fillRect l="-1273" t="-1718"/>
                </a:stretch>
              </a:blipFill>
            </p:spPr>
            <p:txBody>
              <a:bodyPr/>
              <a:lstStyle/>
              <a:p>
                <a:r>
                  <a:rPr lang="en-IN">
                    <a:noFill/>
                  </a:rPr>
                  <a:t> </a:t>
                </a:r>
              </a:p>
            </p:txBody>
          </p:sp>
        </mc:Fallback>
      </mc:AlternateContent>
      <p:sp>
        <p:nvSpPr>
          <p:cNvPr id="4" name="Date Placeholder 3">
            <a:extLst>
              <a:ext uri="{FF2B5EF4-FFF2-40B4-BE49-F238E27FC236}">
                <a16:creationId xmlns:a16="http://schemas.microsoft.com/office/drawing/2014/main" id="{BCBFE790-B631-64A3-5ECD-82D5892D3045}"/>
              </a:ext>
            </a:extLst>
          </p:cNvPr>
          <p:cNvSpPr>
            <a:spLocks noGrp="1"/>
          </p:cNvSpPr>
          <p:nvPr>
            <p:ph type="dt" sz="half" idx="10"/>
          </p:nvPr>
        </p:nvSpPr>
        <p:spPr/>
        <p:txBody>
          <a:bodyPr/>
          <a:lstStyle/>
          <a:p>
            <a:pPr defTabSz="1219170">
              <a:buClr>
                <a:srgbClr val="000000"/>
              </a:buClr>
            </a:pPr>
            <a:fld id="{ED2BA43E-C2D3-45F6-8EA4-498DC871DBD1}" type="datetime1">
              <a:rPr lang="en-US" kern="0" smtClean="0">
                <a:latin typeface="Arial"/>
                <a:cs typeface="Arial"/>
                <a:sym typeface="Arial"/>
              </a:rPr>
              <a:t>04-Aug-26</a:t>
            </a:fld>
            <a:endParaRPr lang="en-US" kern="0" dirty="0">
              <a:latin typeface="Arial"/>
              <a:cs typeface="Arial"/>
              <a:sym typeface="Arial"/>
            </a:endParaRPr>
          </a:p>
        </p:txBody>
      </p:sp>
      <p:sp>
        <p:nvSpPr>
          <p:cNvPr id="5" name="Slide Number Placeholder 4">
            <a:extLst>
              <a:ext uri="{FF2B5EF4-FFF2-40B4-BE49-F238E27FC236}">
                <a16:creationId xmlns:a16="http://schemas.microsoft.com/office/drawing/2014/main" id="{CED714AC-34F8-4F50-ED92-501445204DA6}"/>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112</a:t>
            </a:fld>
            <a:endParaRPr lang="en-US" kern="0" dirty="0">
              <a:latin typeface="Arial"/>
              <a:cs typeface="Arial"/>
              <a:sym typeface="Arial"/>
            </a:endParaRPr>
          </a:p>
        </p:txBody>
      </p:sp>
    </p:spTree>
    <p:extLst>
      <p:ext uri="{BB962C8B-B14F-4D97-AF65-F5344CB8AC3E}">
        <p14:creationId xmlns:p14="http://schemas.microsoft.com/office/powerpoint/2010/main" val="316169663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1219170">
              <a:buClr>
                <a:srgbClr val="000000"/>
              </a:buClr>
            </a:pPr>
            <a:fld id="{4DBD2DD6-DF0F-41DA-85E9-5DBDE4DFC838}" type="datetime1">
              <a:rPr lang="en-US" kern="0" smtClean="0">
                <a:latin typeface="Arial"/>
                <a:cs typeface="Arial"/>
                <a:sym typeface="Arial"/>
              </a:rPr>
              <a:t>04-Aug-26</a:t>
            </a:fld>
            <a:endParaRPr lang="en-US" kern="0" dirty="0">
              <a:latin typeface="Arial"/>
              <a:cs typeface="Arial"/>
              <a:sym typeface="Arial"/>
            </a:endParaRPr>
          </a:p>
        </p:txBody>
      </p:sp>
      <p:sp>
        <p:nvSpPr>
          <p:cNvPr id="6" name="Slide Number Placeholder 5"/>
          <p:cNvSpPr>
            <a:spLocks noGrp="1"/>
          </p:cNvSpPr>
          <p:nvPr>
            <p:ph type="sldNum" sz="quarter" idx="12"/>
          </p:nvPr>
        </p:nvSpPr>
        <p:spPr/>
        <p:txBody>
          <a:bodyPr/>
          <a:lstStyle/>
          <a:p>
            <a:pPr defTabSz="1219170">
              <a:buClr>
                <a:srgbClr val="000000"/>
              </a:buClr>
            </a:pPr>
            <a:fld id="{6113E31D-E2AB-40D1-8B51-AFA5AFEF393A}" type="slidenum">
              <a:rPr lang="en-US" kern="0">
                <a:latin typeface="Arial"/>
                <a:cs typeface="Arial"/>
                <a:sym typeface="Arial"/>
              </a:rPr>
              <a:pPr defTabSz="1219170">
                <a:buClr>
                  <a:srgbClr val="000000"/>
                </a:buClr>
              </a:pPr>
              <a:t>113</a:t>
            </a:fld>
            <a:endParaRPr lang="en-US" kern="0" dirty="0">
              <a:latin typeface="Arial"/>
              <a:cs typeface="Arial"/>
              <a:sym typeface="Arial"/>
            </a:endParaRPr>
          </a:p>
        </p:txBody>
      </p:sp>
      <p:sp>
        <p:nvSpPr>
          <p:cNvPr id="7" name="Title 1"/>
          <p:cNvSpPr>
            <a:spLocks noGrp="1"/>
          </p:cNvSpPr>
          <p:nvPr>
            <p:ph type="title"/>
          </p:nvPr>
        </p:nvSpPr>
        <p:spPr>
          <a:xfrm>
            <a:off x="1097280" y="286604"/>
            <a:ext cx="10058400" cy="794773"/>
          </a:xfrm>
        </p:spPr>
        <p:txBody>
          <a:bodyPr>
            <a:normAutofit/>
          </a:bodyPr>
          <a:lstStyle/>
          <a:p>
            <a:r>
              <a:rPr lang="en-US" dirty="0"/>
              <a:t>Leaky </a:t>
            </a:r>
            <a:r>
              <a:rPr lang="en-US" dirty="0" err="1"/>
              <a:t>ReLU</a:t>
            </a:r>
            <a:endParaRPr lang="en-US" dirty="0"/>
          </a:p>
        </p:txBody>
      </p:sp>
      <p:pic>
        <p:nvPicPr>
          <p:cNvPr id="3" name="Picture 2"/>
          <p:cNvPicPr>
            <a:picLocks noChangeAspect="1"/>
          </p:cNvPicPr>
          <p:nvPr/>
        </p:nvPicPr>
        <p:blipFill>
          <a:blip r:embed="rId2"/>
          <a:stretch>
            <a:fillRect/>
          </a:stretch>
        </p:blipFill>
        <p:spPr>
          <a:xfrm>
            <a:off x="2538577" y="1651865"/>
            <a:ext cx="2803153" cy="530327"/>
          </a:xfrm>
          <a:prstGeom prst="rect">
            <a:avLst/>
          </a:prstGeom>
        </p:spPr>
      </p:pic>
      <p:sp>
        <p:nvSpPr>
          <p:cNvPr id="8" name="Rectangle 7"/>
          <p:cNvSpPr/>
          <p:nvPr/>
        </p:nvSpPr>
        <p:spPr>
          <a:xfrm>
            <a:off x="1146767" y="1711841"/>
            <a:ext cx="1127232" cy="379656"/>
          </a:xfrm>
          <a:prstGeom prst="rect">
            <a:avLst/>
          </a:prstGeom>
        </p:spPr>
        <p:txBody>
          <a:bodyPr wrap="none">
            <a:spAutoFit/>
          </a:bodyPr>
          <a:lstStyle/>
          <a:p>
            <a:pPr defTabSz="1219170">
              <a:buClr>
                <a:srgbClr val="000000"/>
              </a:buClr>
            </a:pPr>
            <a:r>
              <a:rPr lang="en-US" sz="1867" kern="0" dirty="0">
                <a:solidFill>
                  <a:srgbClr val="000000"/>
                </a:solidFill>
                <a:latin typeface="Arial"/>
                <a:cs typeface="Arial"/>
                <a:sym typeface="Arial"/>
              </a:rPr>
              <a:t>Formula:</a:t>
            </a:r>
          </a:p>
        </p:txBody>
      </p:sp>
      <p:sp>
        <p:nvSpPr>
          <p:cNvPr id="9" name="Rectangle 8"/>
          <p:cNvSpPr/>
          <p:nvPr/>
        </p:nvSpPr>
        <p:spPr>
          <a:xfrm>
            <a:off x="998331" y="2552537"/>
            <a:ext cx="6096000" cy="379656"/>
          </a:xfrm>
          <a:prstGeom prst="rect">
            <a:avLst/>
          </a:prstGeom>
        </p:spPr>
        <p:txBody>
          <a:bodyPr>
            <a:spAutoFit/>
          </a:bodyPr>
          <a:lstStyle/>
          <a:p>
            <a:pPr defTabSz="1219170">
              <a:buClr>
                <a:srgbClr val="000000"/>
              </a:buClr>
            </a:pPr>
            <a:r>
              <a:rPr lang="en-US" sz="1867" b="1" kern="0" dirty="0">
                <a:solidFill>
                  <a:srgbClr val="000000"/>
                </a:solidFill>
                <a:latin typeface="Arial"/>
                <a:cs typeface="Arial"/>
                <a:sym typeface="Arial"/>
              </a:rPr>
              <a:t>Output Range:  </a:t>
            </a:r>
            <a:r>
              <a:rPr lang="en-US" sz="1867" kern="0" dirty="0">
                <a:solidFill>
                  <a:srgbClr val="000000"/>
                </a:solidFill>
                <a:latin typeface="Arial"/>
                <a:cs typeface="Arial"/>
                <a:sym typeface="Arial"/>
              </a:rPr>
              <a:t>(-∞ to ∞)</a:t>
            </a:r>
          </a:p>
        </p:txBody>
      </p:sp>
      <p:sp>
        <p:nvSpPr>
          <p:cNvPr id="10" name="Rectangle 9"/>
          <p:cNvSpPr/>
          <p:nvPr/>
        </p:nvSpPr>
        <p:spPr>
          <a:xfrm>
            <a:off x="1097280" y="2990881"/>
            <a:ext cx="6096000" cy="1528945"/>
          </a:xfrm>
          <a:prstGeom prst="rect">
            <a:avLst/>
          </a:prstGeom>
        </p:spPr>
        <p:txBody>
          <a:bodyPr>
            <a:spAutoFit/>
          </a:bodyPr>
          <a:lstStyle/>
          <a:p>
            <a:pPr defTabSz="1219170">
              <a:buClr>
                <a:srgbClr val="000000"/>
              </a:buClr>
            </a:pPr>
            <a:r>
              <a:rPr lang="en-US" sz="1867" b="1" kern="0" dirty="0">
                <a:solidFill>
                  <a:srgbClr val="000000"/>
                </a:solidFill>
                <a:latin typeface="Arial"/>
                <a:cs typeface="Arial"/>
                <a:sym typeface="Arial"/>
              </a:rPr>
              <a:t>Advantages:</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Solves </a:t>
            </a:r>
            <a:r>
              <a:rPr lang="en-US" sz="1867" b="1" kern="0" dirty="0">
                <a:solidFill>
                  <a:srgbClr val="000000"/>
                </a:solidFill>
                <a:latin typeface="Arial"/>
                <a:cs typeface="Arial"/>
                <a:sym typeface="Arial"/>
              </a:rPr>
              <a:t>Dead </a:t>
            </a:r>
            <a:r>
              <a:rPr lang="en-US" sz="1867" b="1" kern="0" dirty="0" err="1">
                <a:solidFill>
                  <a:srgbClr val="000000"/>
                </a:solidFill>
                <a:latin typeface="Arial"/>
                <a:cs typeface="Arial"/>
                <a:sym typeface="Arial"/>
              </a:rPr>
              <a:t>ReLU</a:t>
            </a:r>
            <a:r>
              <a:rPr lang="en-US" sz="1867" b="1" kern="0" dirty="0">
                <a:solidFill>
                  <a:srgbClr val="000000"/>
                </a:solidFill>
                <a:latin typeface="Arial"/>
                <a:cs typeface="Arial"/>
                <a:sym typeface="Arial"/>
              </a:rPr>
              <a:t> problem</a:t>
            </a:r>
            <a:r>
              <a:rPr lang="en-US" sz="1867" kern="0" dirty="0">
                <a:solidFill>
                  <a:srgbClr val="000000"/>
                </a:solidFill>
                <a:latin typeface="Arial"/>
                <a:cs typeface="Arial"/>
                <a:sym typeface="Arial"/>
              </a:rPr>
              <a:t>.</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Small gradient for negative inputs.</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Computationally efficient.</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Better learning than standard </a:t>
            </a:r>
            <a:r>
              <a:rPr lang="en-US" sz="1867" kern="0" dirty="0" err="1">
                <a:solidFill>
                  <a:srgbClr val="000000"/>
                </a:solidFill>
                <a:latin typeface="Arial"/>
                <a:cs typeface="Arial"/>
                <a:sym typeface="Arial"/>
              </a:rPr>
              <a:t>ReLU</a:t>
            </a:r>
            <a:r>
              <a:rPr lang="en-US" sz="1867" kern="0" dirty="0">
                <a:solidFill>
                  <a:srgbClr val="000000"/>
                </a:solidFill>
                <a:latin typeface="Arial"/>
                <a:cs typeface="Arial"/>
                <a:sym typeface="Arial"/>
              </a:rPr>
              <a:t>.</a:t>
            </a:r>
          </a:p>
        </p:txBody>
      </p:sp>
      <p:sp>
        <p:nvSpPr>
          <p:cNvPr id="11" name="Rectangle 10"/>
          <p:cNvSpPr/>
          <p:nvPr/>
        </p:nvSpPr>
        <p:spPr>
          <a:xfrm>
            <a:off x="998331" y="4771922"/>
            <a:ext cx="6096000" cy="1241622"/>
          </a:xfrm>
          <a:prstGeom prst="rect">
            <a:avLst/>
          </a:prstGeom>
        </p:spPr>
        <p:txBody>
          <a:bodyPr>
            <a:spAutoFit/>
          </a:bodyPr>
          <a:lstStyle/>
          <a:p>
            <a:pPr defTabSz="1219170">
              <a:buClr>
                <a:srgbClr val="000000"/>
              </a:buClr>
            </a:pPr>
            <a:r>
              <a:rPr lang="en-US" sz="1867" b="1" kern="0" dirty="0">
                <a:solidFill>
                  <a:srgbClr val="000000"/>
                </a:solidFill>
                <a:latin typeface="Arial"/>
                <a:cs typeface="Arial"/>
                <a:sym typeface="Arial"/>
              </a:rPr>
              <a:t>Disadvantages:</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Slope (0.01) is manually chosen.</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Still not fully zero-centered.</a:t>
            </a:r>
          </a:p>
          <a:p>
            <a:pPr defTabSz="1219170">
              <a:buClr>
                <a:srgbClr val="000000"/>
              </a:buClr>
              <a:buFont typeface="Arial" panose="020B0604020202020204" pitchFamily="34" charset="0"/>
              <a:buChar char="•"/>
            </a:pPr>
            <a:r>
              <a:rPr lang="en-US" sz="1867" kern="0" dirty="0">
                <a:solidFill>
                  <a:srgbClr val="000000"/>
                </a:solidFill>
                <a:latin typeface="Arial"/>
                <a:cs typeface="Arial"/>
                <a:sym typeface="Arial"/>
              </a:rPr>
              <a:t>Performance depends on chosen leakage parameter.</a:t>
            </a:r>
          </a:p>
        </p:txBody>
      </p:sp>
      <p:pic>
        <p:nvPicPr>
          <p:cNvPr id="12" name="Picture 11"/>
          <p:cNvPicPr>
            <a:picLocks noChangeAspect="1"/>
          </p:cNvPicPr>
          <p:nvPr/>
        </p:nvPicPr>
        <p:blipFill>
          <a:blip r:embed="rId3"/>
          <a:stretch>
            <a:fillRect/>
          </a:stretch>
        </p:blipFill>
        <p:spPr>
          <a:xfrm>
            <a:off x="5074204" y="1828801"/>
            <a:ext cx="6371545" cy="3403692"/>
          </a:xfrm>
          <a:prstGeom prst="rect">
            <a:avLst/>
          </a:prstGeom>
        </p:spPr>
      </p:pic>
      <p:pic>
        <p:nvPicPr>
          <p:cNvPr id="13" name="Picture 12">
            <a:extLst>
              <a:ext uri="{FF2B5EF4-FFF2-40B4-BE49-F238E27FC236}">
                <a16:creationId xmlns:a16="http://schemas.microsoft.com/office/drawing/2014/main" id="{74C07690-568D-B7CB-C4ED-6E182DC7F41D}"/>
              </a:ext>
            </a:extLst>
          </p:cNvPr>
          <p:cNvPicPr>
            <a:picLocks noChangeAspect="1"/>
          </p:cNvPicPr>
          <p:nvPr/>
        </p:nvPicPr>
        <p:blipFill>
          <a:blip r:embed="rId4"/>
          <a:stretch>
            <a:fillRect/>
          </a:stretch>
        </p:blipFill>
        <p:spPr>
          <a:xfrm>
            <a:off x="6672638" y="195984"/>
            <a:ext cx="3010161" cy="876376"/>
          </a:xfrm>
          <a:prstGeom prst="rect">
            <a:avLst/>
          </a:prstGeom>
        </p:spPr>
      </p:pic>
    </p:spTree>
    <p:extLst>
      <p:ext uri="{BB962C8B-B14F-4D97-AF65-F5344CB8AC3E}">
        <p14:creationId xmlns:p14="http://schemas.microsoft.com/office/powerpoint/2010/main" val="138836113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A1A55-100A-2ADE-9648-195BF862B7F6}"/>
              </a:ext>
            </a:extLst>
          </p:cNvPr>
          <p:cNvSpPr>
            <a:spLocks noGrp="1"/>
          </p:cNvSpPr>
          <p:nvPr>
            <p:ph type="title"/>
          </p:nvPr>
        </p:nvSpPr>
        <p:spPr/>
        <p:txBody>
          <a:bodyPr/>
          <a:lstStyle/>
          <a:p>
            <a:r>
              <a:rPr lang="en-US" dirty="0"/>
              <a:t>Example Leaky </a:t>
            </a:r>
            <a:r>
              <a:rPr lang="en-US" dirty="0" err="1"/>
              <a:t>ReLU</a:t>
            </a:r>
            <a:endParaRPr lang="en-IN" dirty="0"/>
          </a:p>
        </p:txBody>
      </p:sp>
      <p:pic>
        <p:nvPicPr>
          <p:cNvPr id="7" name="Content Placeholder 6">
            <a:extLst>
              <a:ext uri="{FF2B5EF4-FFF2-40B4-BE49-F238E27FC236}">
                <a16:creationId xmlns:a16="http://schemas.microsoft.com/office/drawing/2014/main" id="{E36D52EB-102F-B76D-F797-124DD01D1A08}"/>
              </a:ext>
            </a:extLst>
          </p:cNvPr>
          <p:cNvPicPr>
            <a:picLocks noGrp="1" noChangeAspect="1"/>
          </p:cNvPicPr>
          <p:nvPr>
            <p:ph idx="1"/>
          </p:nvPr>
        </p:nvPicPr>
        <p:blipFill>
          <a:blip r:embed="rId2"/>
          <a:stretch>
            <a:fillRect/>
          </a:stretch>
        </p:blipFill>
        <p:spPr>
          <a:xfrm>
            <a:off x="3424958" y="2037912"/>
            <a:ext cx="5342083" cy="1844200"/>
          </a:xfrm>
          <a:prstGeom prst="rect">
            <a:avLst/>
          </a:prstGeom>
        </p:spPr>
      </p:pic>
      <p:sp>
        <p:nvSpPr>
          <p:cNvPr id="4" name="Date Placeholder 3">
            <a:extLst>
              <a:ext uri="{FF2B5EF4-FFF2-40B4-BE49-F238E27FC236}">
                <a16:creationId xmlns:a16="http://schemas.microsoft.com/office/drawing/2014/main" id="{922AB7BE-8B67-4BE3-333D-03E230295C7B}"/>
              </a:ext>
            </a:extLst>
          </p:cNvPr>
          <p:cNvSpPr>
            <a:spLocks noGrp="1"/>
          </p:cNvSpPr>
          <p:nvPr>
            <p:ph type="dt" sz="half" idx="10"/>
          </p:nvPr>
        </p:nvSpPr>
        <p:spPr/>
        <p:txBody>
          <a:bodyPr/>
          <a:lstStyle/>
          <a:p>
            <a:pPr defTabSz="1219170">
              <a:buClr>
                <a:srgbClr val="000000"/>
              </a:buClr>
            </a:pPr>
            <a:fld id="{ED2BA43E-C2D3-45F6-8EA4-498DC871DBD1}" type="datetime1">
              <a:rPr lang="en-US" kern="0" smtClean="0">
                <a:latin typeface="Arial"/>
                <a:cs typeface="Arial"/>
                <a:sym typeface="Arial"/>
              </a:rPr>
              <a:t>04-Aug-26</a:t>
            </a:fld>
            <a:endParaRPr lang="en-US" kern="0" dirty="0">
              <a:latin typeface="Arial"/>
              <a:cs typeface="Arial"/>
              <a:sym typeface="Arial"/>
            </a:endParaRPr>
          </a:p>
        </p:txBody>
      </p:sp>
      <p:sp>
        <p:nvSpPr>
          <p:cNvPr id="5" name="Slide Number Placeholder 4">
            <a:extLst>
              <a:ext uri="{FF2B5EF4-FFF2-40B4-BE49-F238E27FC236}">
                <a16:creationId xmlns:a16="http://schemas.microsoft.com/office/drawing/2014/main" id="{26320B98-02E8-DEFB-0934-07DFF230B579}"/>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114</a:t>
            </a:fld>
            <a:endParaRPr lang="en-US" kern="0" dirty="0">
              <a:latin typeface="Arial"/>
              <a:cs typeface="Arial"/>
              <a:sym typeface="Arial"/>
            </a:endParaRPr>
          </a:p>
        </p:txBody>
      </p:sp>
      <p:sp>
        <p:nvSpPr>
          <p:cNvPr id="3" name="TextBox 2">
            <a:extLst>
              <a:ext uri="{FF2B5EF4-FFF2-40B4-BE49-F238E27FC236}">
                <a16:creationId xmlns:a16="http://schemas.microsoft.com/office/drawing/2014/main" id="{2BB65D35-8A3D-349E-2B07-BEBEDBD05B1C}"/>
              </a:ext>
            </a:extLst>
          </p:cNvPr>
          <p:cNvSpPr txBox="1"/>
          <p:nvPr/>
        </p:nvSpPr>
        <p:spPr>
          <a:xfrm>
            <a:off x="6126480" y="2383277"/>
            <a:ext cx="617477" cy="369332"/>
          </a:xfrm>
          <a:prstGeom prst="rect">
            <a:avLst/>
          </a:prstGeom>
          <a:noFill/>
        </p:spPr>
        <p:txBody>
          <a:bodyPr wrap="none" rtlCol="0">
            <a:spAutoFit/>
          </a:bodyPr>
          <a:lstStyle/>
          <a:p>
            <a:r>
              <a:rPr lang="en-US" dirty="0"/>
              <a:t>(1,3)</a:t>
            </a:r>
            <a:endParaRPr lang="en-IN" dirty="0"/>
          </a:p>
        </p:txBody>
      </p:sp>
    </p:spTree>
    <p:extLst>
      <p:ext uri="{BB962C8B-B14F-4D97-AF65-F5344CB8AC3E}">
        <p14:creationId xmlns:p14="http://schemas.microsoft.com/office/powerpoint/2010/main" val="1282179506"/>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9CD86-A2C8-CC74-1833-DBB5252D70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4F85CF-C7C4-1A4E-9A66-D5F2963AD84B}"/>
              </a:ext>
            </a:extLst>
          </p:cNvPr>
          <p:cNvSpPr>
            <a:spLocks noGrp="1"/>
          </p:cNvSpPr>
          <p:nvPr>
            <p:ph type="title"/>
          </p:nvPr>
        </p:nvSpPr>
        <p:spPr/>
        <p:txBody>
          <a:bodyPr/>
          <a:lstStyle/>
          <a:p>
            <a:r>
              <a:rPr lang="en-US" dirty="0"/>
              <a:t>Example Leaky </a:t>
            </a:r>
            <a:r>
              <a:rPr lang="en-US" dirty="0" err="1"/>
              <a:t>ReLU</a:t>
            </a:r>
            <a:endParaRPr lang="en-IN" dirty="0"/>
          </a:p>
        </p:txBody>
      </p:sp>
      <p:sp>
        <p:nvSpPr>
          <p:cNvPr id="4" name="Date Placeholder 3">
            <a:extLst>
              <a:ext uri="{FF2B5EF4-FFF2-40B4-BE49-F238E27FC236}">
                <a16:creationId xmlns:a16="http://schemas.microsoft.com/office/drawing/2014/main" id="{2CA3C1DB-0CE1-8A5F-061F-0B0FE749AC38}"/>
              </a:ext>
            </a:extLst>
          </p:cNvPr>
          <p:cNvSpPr>
            <a:spLocks noGrp="1"/>
          </p:cNvSpPr>
          <p:nvPr>
            <p:ph type="dt" sz="half" idx="10"/>
          </p:nvPr>
        </p:nvSpPr>
        <p:spPr/>
        <p:txBody>
          <a:bodyPr/>
          <a:lstStyle/>
          <a:p>
            <a:pPr defTabSz="1219170">
              <a:buClr>
                <a:srgbClr val="000000"/>
              </a:buClr>
            </a:pPr>
            <a:fld id="{ED2BA43E-C2D3-45F6-8EA4-498DC871DBD1}" type="datetime1">
              <a:rPr lang="en-US" kern="0" smtClean="0">
                <a:latin typeface="Arial"/>
                <a:cs typeface="Arial"/>
                <a:sym typeface="Arial"/>
              </a:rPr>
              <a:t>04-Aug-26</a:t>
            </a:fld>
            <a:endParaRPr lang="en-US" kern="0" dirty="0">
              <a:latin typeface="Arial"/>
              <a:cs typeface="Arial"/>
              <a:sym typeface="Arial"/>
            </a:endParaRPr>
          </a:p>
        </p:txBody>
      </p:sp>
      <p:sp>
        <p:nvSpPr>
          <p:cNvPr id="5" name="Slide Number Placeholder 4">
            <a:extLst>
              <a:ext uri="{FF2B5EF4-FFF2-40B4-BE49-F238E27FC236}">
                <a16:creationId xmlns:a16="http://schemas.microsoft.com/office/drawing/2014/main" id="{B502EC2F-F050-045E-91A6-88C1400C0F51}"/>
              </a:ext>
            </a:extLst>
          </p:cNvPr>
          <p:cNvSpPr>
            <a:spLocks noGrp="1"/>
          </p:cNvSpPr>
          <p:nvPr>
            <p:ph type="sldNum" sz="quarter" idx="12"/>
          </p:nvPr>
        </p:nvSpPr>
        <p:spPr/>
        <p:txBody>
          <a:bodyPr/>
          <a:lstStyle/>
          <a:p>
            <a:pPr defTabSz="1219170">
              <a:buClr>
                <a:srgbClr val="000000"/>
              </a:buClr>
            </a:pPr>
            <a:fld id="{6113E31D-E2AB-40D1-8B51-AFA5AFEF393A}" type="slidenum">
              <a:rPr lang="en-US" kern="0" smtClean="0">
                <a:latin typeface="Arial"/>
                <a:cs typeface="Arial"/>
                <a:sym typeface="Arial"/>
              </a:rPr>
              <a:pPr defTabSz="1219170">
                <a:buClr>
                  <a:srgbClr val="000000"/>
                </a:buClr>
              </a:pPr>
              <a:t>115</a:t>
            </a:fld>
            <a:endParaRPr lang="en-US" kern="0" dirty="0">
              <a:latin typeface="Arial"/>
              <a:cs typeface="Arial"/>
              <a:sym typeface="Arial"/>
            </a:endParaRPr>
          </a:p>
        </p:txBody>
      </p:sp>
      <p:pic>
        <p:nvPicPr>
          <p:cNvPr id="9" name="Picture 8">
            <a:extLst>
              <a:ext uri="{FF2B5EF4-FFF2-40B4-BE49-F238E27FC236}">
                <a16:creationId xmlns:a16="http://schemas.microsoft.com/office/drawing/2014/main" id="{1036F332-78FA-BDB4-34BF-59A7258A35FC}"/>
              </a:ext>
            </a:extLst>
          </p:cNvPr>
          <p:cNvPicPr>
            <a:picLocks noChangeAspect="1"/>
          </p:cNvPicPr>
          <p:nvPr/>
        </p:nvPicPr>
        <p:blipFill>
          <a:blip r:embed="rId2"/>
          <a:stretch>
            <a:fillRect/>
          </a:stretch>
        </p:blipFill>
        <p:spPr>
          <a:xfrm>
            <a:off x="1489252" y="1584130"/>
            <a:ext cx="6820491" cy="4176122"/>
          </a:xfrm>
          <a:prstGeom prst="rect">
            <a:avLst/>
          </a:prstGeom>
        </p:spPr>
      </p:pic>
    </p:spTree>
    <p:extLst>
      <p:ext uri="{BB962C8B-B14F-4D97-AF65-F5344CB8AC3E}">
        <p14:creationId xmlns:p14="http://schemas.microsoft.com/office/powerpoint/2010/main" val="1444307290"/>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7532</TotalTime>
  <Words>6239</Words>
  <Application>Microsoft Office PowerPoint</Application>
  <PresentationFormat>Widescreen</PresentationFormat>
  <Paragraphs>1251</Paragraphs>
  <Slides>115</Slides>
  <Notes>25</Notes>
  <HiddenSlides>2</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115</vt:i4>
      </vt:variant>
    </vt:vector>
  </HeadingPairs>
  <TitlesOfParts>
    <vt:vector size="128" baseType="lpstr">
      <vt:lpstr>Arial</vt:lpstr>
      <vt:lpstr>Calibri</vt:lpstr>
      <vt:lpstr>Calibri Light</vt:lpstr>
      <vt:lpstr>Cambria Math</vt:lpstr>
      <vt:lpstr>Google Sans</vt:lpstr>
      <vt:lpstr>Google Sans Text</vt:lpstr>
      <vt:lpstr>Libre Baskerville</vt:lpstr>
      <vt:lpstr>Libre Franklin</vt:lpstr>
      <vt:lpstr>Noto Sans Symbols</vt:lpstr>
      <vt:lpstr>Times New Roman</vt:lpstr>
      <vt:lpstr>ui-sans-serif</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History</vt:lpstr>
      <vt:lpstr>Applications of ANNs</vt:lpstr>
      <vt:lpstr>Applications of ANNs</vt:lpstr>
      <vt:lpstr>Applications of ANNs</vt:lpstr>
      <vt:lpstr>Properties</vt:lpstr>
      <vt:lpstr>When to consider neural networks</vt:lpstr>
      <vt:lpstr>McCulloch–Pitts (MCP) Neuron</vt:lpstr>
      <vt:lpstr>McCulloch–Pitts (MCP) Neuron</vt:lpstr>
      <vt:lpstr>McCulloch–Pitts (MCP) Neuron</vt:lpstr>
      <vt:lpstr>IMPLEMENTATION OF LOGIC GATES USING MCP NEURON</vt:lpstr>
      <vt:lpstr>IMPLEMENTATION OF LOGIC GATES USING MCP NEURON</vt:lpstr>
      <vt:lpstr>IMPLEMENTATION OF LOGIC GATES USING MCP NEURON</vt:lpstr>
      <vt:lpstr>Limitations of McCulloch–Pitts (MCP) Neuron</vt:lpstr>
      <vt:lpstr>Why MCP Neuron Fails for XOR Problem?</vt:lpstr>
      <vt:lpstr>Why MCP Neuron Fails for XOR Problem?</vt:lpstr>
      <vt:lpstr>Why MCP Neuron Fails for XOR Problem?</vt:lpstr>
      <vt:lpstr>What is a Perceptron?</vt:lpstr>
      <vt:lpstr>What is a Perceptron?</vt:lpstr>
      <vt:lpstr>What is a Perceptron?</vt:lpstr>
      <vt:lpstr>Perceptron Capabilities and Limitations</vt:lpstr>
      <vt:lpstr>Difference Between MCP and Perceptron</vt:lpstr>
      <vt:lpstr>Artificial Neuron — General Concept</vt:lpstr>
      <vt:lpstr>Perceptron — Specific Model</vt:lpstr>
      <vt:lpstr>Real-World Conceptual Example: Pass/Fail Decision</vt:lpstr>
      <vt:lpstr>Evaluation</vt:lpstr>
      <vt:lpstr>Question 2</vt:lpstr>
      <vt:lpstr>PowerPoint Presentation</vt:lpstr>
      <vt:lpstr>PowerPoint Presentation</vt:lpstr>
      <vt:lpstr>PowerPoint Presentation</vt:lpstr>
      <vt:lpstr>Artificial Neuron vs Perceptron</vt:lpstr>
      <vt:lpstr>Artificial Neuron vs Perceptron Vs MCP neuron</vt:lpstr>
      <vt:lpstr>Multilayer Artificial Neural Network (MLANN)</vt:lpstr>
      <vt:lpstr>Multilayer Artificial Neural Network (MLANN)</vt:lpstr>
      <vt:lpstr>Generic mathematical formula for intermediate neuron in multilayer ANN</vt:lpstr>
      <vt:lpstr>Single Artificial Neuron (ANN Model)</vt:lpstr>
      <vt:lpstr>Multilayer ANN</vt:lpstr>
      <vt:lpstr>Multilayer ANN: Forward Propagation</vt:lpstr>
      <vt:lpstr>PowerPoint Presentation</vt:lpstr>
      <vt:lpstr>PowerPoint Presentation</vt:lpstr>
      <vt:lpstr>PowerPoint Presentation</vt:lpstr>
      <vt:lpstr>PowerPoint Presentation</vt:lpstr>
      <vt:lpstr>Algorithm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Gradient Descent Learning</vt:lpstr>
      <vt:lpstr>Backpropagation</vt:lpstr>
      <vt:lpstr>Example</vt:lpstr>
      <vt:lpstr>Forward Propagation</vt:lpstr>
      <vt:lpstr>Gradient for Output Weight w3</vt:lpstr>
      <vt:lpstr>Gradient for Hidden Weight w1</vt:lpstr>
      <vt:lpstr>Gradient for Hidden Weight w2</vt:lpstr>
      <vt:lpstr>Weight and Bias Update</vt:lpstr>
      <vt:lpstr>Numerical Problem</vt:lpstr>
      <vt:lpstr>Numerical Problem</vt:lpstr>
      <vt:lpstr>Numerical Problem</vt:lpstr>
      <vt:lpstr>Numerical Problem</vt:lpstr>
      <vt:lpstr>Numerical Problem</vt:lpstr>
      <vt:lpstr>Numerical Problem</vt:lpstr>
      <vt:lpstr>Numerical Problem</vt:lpstr>
      <vt:lpstr>Numerical Problem</vt:lpstr>
      <vt:lpstr>Numerical Problem</vt:lpstr>
      <vt:lpstr>Numerical Problem</vt:lpstr>
      <vt:lpstr>Numerical Problem</vt:lpstr>
      <vt:lpstr>Numerical Problem</vt:lpstr>
      <vt:lpstr>Numerical Problem</vt:lpstr>
      <vt:lpstr>Numerical Problem</vt:lpstr>
      <vt:lpstr>Numerical Problem</vt:lpstr>
      <vt:lpstr>Numerical Problem</vt:lpstr>
      <vt:lpstr>Chain Rule of Differentiation </vt:lpstr>
      <vt:lpstr>Chain Rule of Differentiation </vt:lpstr>
      <vt:lpstr>Chain Rule of Differentiation </vt:lpstr>
      <vt:lpstr>Vanishing-gradient in Deep Neural Network</vt:lpstr>
      <vt:lpstr>Vanishing-gradient in Deep Neural Network</vt:lpstr>
      <vt:lpstr>Vanishing-gradient in Deep Neural Network</vt:lpstr>
      <vt:lpstr>Vanishing-gradient in Deep Neural Network</vt:lpstr>
      <vt:lpstr>Vanishing-gradient in Deep Neural Network</vt:lpstr>
      <vt:lpstr>Activation Functions</vt:lpstr>
      <vt:lpstr>Sigmoid Function </vt:lpstr>
      <vt:lpstr>Sigmoid Function numerical </vt:lpstr>
      <vt:lpstr>Sigmoid</vt:lpstr>
      <vt:lpstr>Sigmoid</vt:lpstr>
      <vt:lpstr>Tanh Function</vt:lpstr>
      <vt:lpstr>Tanh Function Example</vt:lpstr>
      <vt:lpstr>PowerPoint Presentation</vt:lpstr>
      <vt:lpstr>PowerPoint Presentation</vt:lpstr>
      <vt:lpstr>ReLU (Rectified Linear Unit)</vt:lpstr>
      <vt:lpstr>ReLU Example</vt:lpstr>
      <vt:lpstr>Leaky ReLU</vt:lpstr>
      <vt:lpstr>Example Leaky ReLU</vt:lpstr>
      <vt:lpstr>Example Leaky ReLU</vt:lpstr>
    </vt:vector>
  </TitlesOfParts>
  <Company>HP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Krishna</dc:creator>
  <cp:lastModifiedBy>jobanpreet singh</cp:lastModifiedBy>
  <cp:revision>19</cp:revision>
  <dcterms:created xsi:type="dcterms:W3CDTF">2026-03-19T04:35:37Z</dcterms:created>
  <dcterms:modified xsi:type="dcterms:W3CDTF">2026-08-04T08:05:02Z</dcterms:modified>
</cp:coreProperties>
</file>